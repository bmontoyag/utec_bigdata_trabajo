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ntexto" id="{d1043b4e-2fd0-b687-75ef-231b7427d289}">
          <p14:sldIdLst>
            <p14:sldId id="256"/>
            <p14:sldId id="257"/>
            <p14:sldId id="258"/>
            <p14:sldId id="259"/>
          </p14:sldIdLst>
        </p14:section>
        <p14:section name="Solución" id="{6bd8a06b-78b5-04a6-ac14-8b49f1e117cb}">
          <p14:sldIdLst>
            <p14:sldId id="260"/>
            <p14:sldId id="261"/>
            <p14:sldId id="262"/>
          </p14:sldIdLst>
        </p14:section>
        <p14:section name="Resiliencia y costos" id="{68f9d43a-6bb6-7998-a3a2-a59648a4fc5a}">
          <p14:sldIdLst>
            <p14:sldId id="263"/>
            <p14:sldId id="264"/>
            <p14:sldId id="265"/>
            <p14:sldId id="266"/>
          </p14:sldIdLst>
        </p14:section>
        <p14:section name="Gobierno y riesgos" id="{491982ea-5946-58b4-6504-113ccdfa03cc}">
          <p14:sldIdLst>
            <p14:sldId id="267"/>
            <p14:sldId id="268"/>
            <p14:sldId id="269"/>
          </p14:sldIdLst>
        </p14:section>
        <p14:section name="Demo y cierre" id="{bf2e2a70-0f03-ccf3-0554-6f26a21625fc}">
          <p14:sldIdLst>
            <p14:sldId id="270"/>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213D"/>
                </a:solidFill>
                <a:latin typeface="+mn-lt"/>
              </a:defRPr>
            </a:pPr>
            <a:r>
              <a:rPr sz="1400" b="0" i="0" u="none" strike="noStrike">
                <a:solidFill>
                  <a:srgbClr val="14213D"/>
                </a:solidFill>
                <a:latin typeface="+mn-lt"/>
              </a:rPr>
              <a:t>Transacciones por segundo</a:t>
            </a:r>
          </a:p>
        </c:rich>
      </c:tx>
      <c:layout/>
      <c:overlay val="0"/>
    </c:title>
    <c:autoTitleDeleted val="0"/>
    <c:plotArea>
      <c:layout/>
      <c:barChart>
        <c:barDir val="col"/>
        <c:grouping val="clustered"/>
        <c:varyColors val="0"/>
        <c:ser>
          <c:idx val="0"/>
          <c:order val="0"/>
          <c:tx>
            <c:strRef>
              <c:f>Sheet1!$B$1</c:f>
              <c:strCache>
                <c:ptCount val="1"/>
                <c:pt idx="0">
                  <c:v>TPS</c:v>
                </c:pt>
              </c:strCache>
            </c:strRef>
          </c:tx>
          <c:spPr>
            <a:solidFill>
              <a:srgbClr val="8AB0D6"/>
            </a:solidFill>
            <a:effectLst/>
          </c:spPr>
          <c:invertIfNegative val="0"/>
          <c:dLbls>
            <c:numFmt formatCode="#,##0" sourceLinked="0"/>
            <c:txPr>
              <a:bodyPr/>
              <a:lstStyle/>
              <a:p>
                <a:pPr>
                  <a:defRPr b="0" i="0" strike="noStrike" sz="1300" u="none">
                    <a:solidFill>
                      <a:srgbClr val="1B1F2A"/>
                    </a:solidFill>
                    <a:latin typeface="+mn-lt"/>
                  </a:defRPr>
                </a:pPr>
              </a:p>
            </c:txPr>
            <c:showLegendKey val="0"/>
            <c:showVal val="1"/>
            <c:showCatName val="0"/>
            <c:showSerName val="0"/>
            <c:showPercent val="0"/>
            <c:showBubbleSize val="0"/>
            <c:showLeaderLines val="0"/>
          </c:dLbls>
          <c:dPt>
            <c:idx val="0"/>
            <c:invertIfNegative val="0"/>
            <c:bubble3D val="0"/>
            <c:spPr>
              <a:solidFill>
                <a:srgbClr val="8AB0D6"/>
              </a:solidFill>
              <a:effectLst/>
            </c:spPr>
          </c:dPt>
          <c:dPt>
            <c:idx val="1"/>
            <c:invertIfNegative val="0"/>
            <c:bubble3D val="0"/>
            <c:spPr>
              <a:solidFill>
                <a:srgbClr val="3D5A80"/>
              </a:solidFill>
              <a:effectLst/>
            </c:spPr>
          </c:dPt>
          <c:dPt>
            <c:idx val="2"/>
            <c:invertIfNegative val="0"/>
            <c:bubble3D val="0"/>
            <c:spPr>
              <a:solidFill>
                <a:srgbClr val="F2A541"/>
              </a:solidFill>
              <a:effectLst/>
            </c:spPr>
          </c:dPt>
          <c:cat>
            <c:multiLvlStrRef>
              <c:f>Sheet1!$A$2:$A$4</c:f>
              <c:multiLvlStrCache>
                <c:ptCount val="3"/>
                <c:lvl>
                  <c:pt idx="0">
                    <c:v>Día normal</c:v>
                  </c:pt>
                  <c:pt idx="1">
                    <c:v>Día de pago</c:v>
                  </c:pt>
                  <c:pt idx="2">
                    <c:v>Diseño (evento extremo)</c:v>
                  </c:pt>
                </c:lvl>
              </c:multiLvlStrCache>
            </c:multiLvlStrRef>
          </c:cat>
          <c:val>
            <c:numRef>
              <c:f>Sheet1!$B$2:$B$4</c:f>
              <c:numCache>
                <c:formatCode>General</c:formatCode>
                <c:ptCount val="3"/>
                <c:pt idx="0">
                  <c:v>175</c:v>
                </c:pt>
                <c:pt idx="1">
                  <c:v>2000</c:v>
                </c:pt>
                <c:pt idx="2">
                  <c:v>5000</c:v>
                </c:pt>
              </c:numCache>
            </c:numRef>
          </c:val>
        </c:ser>
        <c:dLbls>
          <c:numFmt formatCode="#,##0" sourceLinked="0"/>
          <c:txPr>
            <a:bodyPr/>
            <a:lstStyle/>
            <a:p>
              <a:pPr>
                <a:defRPr b="0" i="0" strike="noStrike" sz="1300" u="none">
                  <a:solidFill>
                    <a:srgbClr val="1B1F2A"/>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B7385"/>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E8EF"/>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38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213D"/>
                </a:solidFill>
                <a:latin typeface="+mn-lt"/>
              </a:defRPr>
            </a:pPr>
            <a:r>
              <a:rPr sz="1400" b="0" i="0" u="none" strike="noStrike">
                <a:solidFill>
                  <a:srgbClr val="14213D"/>
                </a:solidFill>
                <a:latin typeface="+mn-lt"/>
              </a:rPr>
              <a:t>Consumo mensual por servicio (USD, precios US)</a:t>
            </a:r>
          </a:p>
        </c:rich>
      </c:tx>
      <c:layout/>
      <c:overlay val="0"/>
    </c:title>
    <c:autoTitleDeleted val="0"/>
    <c:plotArea>
      <c:layout/>
      <c:barChart>
        <c:barDir val="bar"/>
        <c:grouping val="clustered"/>
        <c:varyColors val="0"/>
        <c:ser>
          <c:idx val="0"/>
          <c:order val="0"/>
          <c:tx>
            <c:strRef>
              <c:f>Sheet1!$B$1</c:f>
              <c:strCache>
                <c:ptCount val="1"/>
                <c:pt idx="0">
                  <c:v>USD/mes</c:v>
                </c:pt>
              </c:strCache>
            </c:strRef>
          </c:tx>
          <c:spPr>
            <a:solidFill>
              <a:srgbClr val="3D5A80"/>
            </a:solidFill>
            <a:effectLst/>
          </c:spPr>
          <c:invertIfNegative val="0"/>
          <c:dLbls>
            <c:numFmt formatCode="#,##0" sourceLinked="0"/>
            <c:txPr>
              <a:bodyPr/>
              <a:lstStyle/>
              <a:p>
                <a:pPr>
                  <a:defRPr b="0" i="0" strike="noStrike" sz="1200" u="none">
                    <a:solidFill>
                      <a:srgbClr val="1B1F2A"/>
                    </a:solidFill>
                    <a:latin typeface="+mn-lt"/>
                  </a:defRPr>
                </a:pPr>
              </a:p>
            </c:txPr>
            <c:showLegendKey val="0"/>
            <c:showVal val="1"/>
            <c:showCatName val="0"/>
            <c:showSerName val="0"/>
            <c:showPercent val="0"/>
            <c:showBubbleSize val="0"/>
            <c:showLeaderLines val="0"/>
          </c:dLbls>
          <c:cat>
            <c:multiLvlStrRef>
              <c:f>Sheet1!$A$2:$A$12</c:f>
              <c:multiLvlStrCache>
                <c:ptCount val="11"/>
                <c:lvl>
                  <c:pt idx="0">
                    <c:v>Dataproc</c:v>
                  </c:pt>
                  <c:pt idx="1">
                    <c:v>Cloud Run</c:v>
                  </c:pt>
                  <c:pt idx="2">
                    <c:v>Seguridad (DLP, KMS)</c:v>
                  </c:pt>
                  <c:pt idx="3">
                    <c:v>Pub/Sub</c:v>
                  </c:pt>
                  <c:pt idx="4">
                    <c:v>Operación (logs, red)</c:v>
                  </c:pt>
                  <c:pt idx="5">
                    <c:v>DR y respaldos</c:v>
                  </c:pt>
                  <c:pt idx="6">
                    <c:v>Cloud Storage</c:v>
                  </c:pt>
                  <c:pt idx="7">
                    <c:v>Composer</c:v>
                  </c:pt>
                  <c:pt idx="8">
                    <c:v>BigQuery</c:v>
                  </c:pt>
                  <c:pt idx="9">
                    <c:v>Memorystore</c:v>
                  </c:pt>
                  <c:pt idx="10">
                    <c:v>Dataflow</c:v>
                  </c:pt>
                </c:lvl>
              </c:multiLvlStrCache>
            </c:multiLvlStrRef>
          </c:cat>
          <c:val>
            <c:numRef>
              <c:f>Sheet1!$B$2:$B$12</c:f>
              <c:numCache>
                <c:formatCode>General</c:formatCode>
                <c:ptCount val="11"/>
                <c:pt idx="0">
                  <c:v>60</c:v>
                </c:pt>
                <c:pt idx="1">
                  <c:v>80</c:v>
                </c:pt>
                <c:pt idx="2">
                  <c:v>170</c:v>
                </c:pt>
                <c:pt idx="3">
                  <c:v>170</c:v>
                </c:pt>
                <c:pt idx="4">
                  <c:v>230</c:v>
                </c:pt>
                <c:pt idx="5">
                  <c:v>250</c:v>
                </c:pt>
                <c:pt idx="6">
                  <c:v>250</c:v>
                </c:pt>
                <c:pt idx="7">
                  <c:v>400</c:v>
                </c:pt>
                <c:pt idx="8">
                  <c:v>585</c:v>
                </c:pt>
                <c:pt idx="9">
                  <c:v>600</c:v>
                </c:pt>
                <c:pt idx="10">
                  <c:v>1100</c:v>
                </c:pt>
              </c:numCache>
            </c:numRef>
          </c:val>
        </c:ser>
        <c:dLbls>
          <c:numFmt formatCode="#,##0" sourceLinked="0"/>
          <c:txPr>
            <a:bodyPr/>
            <a:lstStyle/>
            <a:p>
              <a:pPr>
                <a:defRPr b="0" i="0" strike="noStrike" sz="1200" u="none">
                  <a:solidFill>
                    <a:srgbClr val="1B1F2A"/>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6B7385"/>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B738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Presentamos la propuesta de back-end inteligente de datos para Lumina Bank: la alianza de 12 entidades financieras de DataLandia. Hablamos a un comité de negocio y tecnología: primero qué problema resolvemos y qué decisiones pedimos; luego cómo funciona, cuánto cuesta y cómo se protege.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Alcance: las cuatro verticales del caso sobre una sola plataforma en GCP. A la derecha, las tres decisiones que pedimos al comité. Abajo, los tres números que resumen la propuesta: velocidad, costo y resiliencia.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crecimiento digital trajo congestión en días de pago y fraude que ningún banco ve completo, porque cada entidad tiene sus propios datos. Además hay una brecha demográfica: los mayores prefieren atención humana y los jóvenes quieren todo digital.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KPI tiene una meta medible y una razón de negocio. Las metas de fraude y liquidez se validan en la demo con los datos de PaySim; las de resiliencia, en las pruebas de DR.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 corre en servicios gestionados de Google Cloud vistos en clase. El código usa tecnologías abiertas (Beam, Spark, Airflow, Redis, Iceberg, XGBoost), así que no quedamos atados al proveedor, como pide el modelo de negocio del caso.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Dos caminos que terminan en el mismo modelo de datos. Arriba, streaming: cada transacción pasa por Pub/Sub y Dataflow, que aplica reglas con estado y deja features en Memorystore para autorizar en milisegundos. Abajo, batch: histórico, cierres y fuentes externas pasan por Spark y SQL hasta el modelo estrella en BigQuery. Ambos caminos escriben con el mismo esquema, así que las métricas cuadran.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fuentes no comparten llaves. Las unimos con dimensiones conformadas: cliente, distrito, entidad y fecha. Un hash determinista asigna a cada cliente su distrito y entidad, igual en Python, Spark y SQL, así que podemos cruzar en tiempo real sin consultar tablas.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región principal es Santiago, la más cercana a los clientes. São Paulo es la región de contingencia, a más de 2,500 km. El balanceador global cambia de región automáticamente para la autorización. Los datos se replican de forma continua y las copias de largo plazo son inmutables. El laboratorio corre en US porque los datasets públicos están allí.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RPO es cuánta información podemos perder; RTO, cuánto tiempo podemos estar caídos. Para la autorización perdemos cero transacciones, porque Pub/Sub las retiene hasta procesarlas. Una réplica no es un respaldo: copia también los errores. Por eso tenemos además respaldos inmutables con la regla 3-2-1-1, y los restauramos cada mes para probar que funcionan.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Dimensionamos para 5,000 transacciones por segundo, 2.5 veces el pico de un día de pago. Cada capa escala sola: Pub/Sub absorbe la ráfaga, Dataflow agrega workers y BigQuery usa slots serverless. Para fechas conocidas, el orquestador sube la capacidad mínima dos horas antes.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Desglose mensual a precios de lista de EE. UU.: unos USD 3,900 más 15 % de contingencia, cerca de USD 4,500. En Santiago los precios son un 20 a 25 % mayores, así que el escenario recomendado es USD 5,500 al mes, USD 66,000 el primer año y USD 12 por millón de transacciones. Solo es consumo de nube: no incluye equipo ni licencias. Hay que validarlo en el Pricing Calculator.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Datos bancarios: el cifrado, la tokenización de datos personales y el acceso por fila son obligatorios desde el día uno. Cada una de las 12 entidades ve solo sus datos, y las señales de fraude se comparten de forma anónima.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Dejamos explícito lo que asumimos y lo que no cubre esta fase, para que el comité apruebe con expectativas claras. La geolocalización y la telemetría se simulan a partir de PaySim; en producción vendrán de los canales reales.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cinco riesgos con más exposición. Los de alto impacto (calidad de datos, regulación y picos) se atacan antes de producción: contrato de datos con cada entidad, validación legal y prueba de carga al doble del pico.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vivo: el simulador publica transacciones de PaySim, Dataflow las evalúa, vemos las alertas en BigQuery y Pub/Sub, las consultamos por la API y las vemos en el tablero. En paralelo mostramos el batch: Spark, el modelo estrella y el pronóstico de liquidez con BigQuery 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Cerramos con cuatro ideas: una sola plataforma para las 12 entidades, tiempo real y batch con el mismo modelo, un costo unitario bajo y conocido, y resiliencia que se prueba en lugar de solo prometerla.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roadmap académico: implementación en consola el 7 de noviembre y demo final el 21. Después, la fase 2 llevaría el modelo de ML a la autorización en línea y agregaría el asesor virtual.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737360"/>
          </a:xfrm>
          <a:prstGeom prst="rect">
            <a:avLst/>
          </a:prstGeom>
          <a:noFill/>
          <a:ln/>
        </p:spPr>
        <p:txBody>
          <a:bodyPr wrap="square" rtlCol="0"/>
          <a:lstStyle>
            <a:lvl1pPr indent="0" marL="0">
              <a:buNone/>
              <a:defRPr lang="en-US" sz="4400" b="1" dirty="0">
                <a:solidFill>
                  <a:schemeClr val="bg1"/>
                </a:solidFill>
                <a:latin typeface="Cambria" pitchFamily="34" charset="0"/>
                <a:ea typeface="Cambria" pitchFamily="34" charset="-122"/>
                <a:cs typeface="Cambria" pitchFamily="34" charset="-120"/>
              </a:defRPr>
            </a:lvl1pPr>
          </a:lstStyle>
          <a:p>
            <a:pPr indent="0" marL="0">
              <a:buNone/>
            </a:pPr>
            <a:endParaRPr lang="en-US" sz="4400" dirty="0"/>
          </a:p>
        </p:txBody>
      </p:sp>
      <p:sp>
        <p:nvSpPr>
          <p:cNvPr id="3" name="Text 0"/>
          <p:cNvSpPr/>
          <p:nvPr>
            <p:ph idx="101" type="body" hasCustomPrompt="1"/>
          </p:nvPr>
        </p:nvSpPr>
        <p:spPr>
          <a:xfrm>
            <a:off x="731520" y="3794760"/>
            <a:ext cx="10698480" cy="1463040"/>
          </a:xfrm>
          <a:prstGeom prst="rect">
            <a:avLst/>
          </a:prstGeom>
          <a:noFill/>
          <a:ln/>
        </p:spPr>
        <p:txBody>
          <a:bodyPr wrap="square" rtlCol="0"/>
          <a:lstStyle>
            <a:lvl1pPr indent="0" marL="0">
              <a:buNone/>
              <a:defRPr lang="en-US" sz="2000" dirty="0">
                <a:solidFill>
                  <a:schemeClr val="accent1"/>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IDO">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indent="0" marL="0">
              <a:buNone/>
              <a:defRPr lang="en-US" sz="3200" b="1" dirty="0">
                <a:solidFill>
                  <a:schemeClr val="tx2"/>
                </a:solidFill>
                <a:latin typeface="Cambria" pitchFamily="34" charset="0"/>
                <a:ea typeface="Cambria" pitchFamily="34" charset="-122"/>
                <a:cs typeface="Cambria" pitchFamily="34" charset="-120"/>
              </a:defRPr>
            </a:lvl1pPr>
          </a:lstStyle>
          <a:p>
            <a:pPr indent="0" marL="0">
              <a:buNone/>
            </a:pPr>
            <a:endParaRPr lang="en-US" sz="32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5"/>
                </a:solidFill>
              </a:rPr>
              <a:t>Lumina Bank · Plataforma de Datos Big Data en Google Cloud</a:t>
            </a:r>
            <a:endParaRPr lang="en-US" sz="1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OSCURO">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rtlCol="0"/>
          <a:lstStyle>
            <a:lvl1pPr indent="0" marL="0">
              <a:buNone/>
              <a:defRPr lang="en-US" sz="3600" b="1" dirty="0">
                <a:solidFill>
                  <a:schemeClr val="bg1"/>
                </a:solidFill>
                <a:latin typeface="Cambria" pitchFamily="34" charset="0"/>
                <a:ea typeface="Cambria" pitchFamily="34" charset="-122"/>
                <a:cs typeface="Cambria" pitchFamily="34" charset="-120"/>
              </a:defRPr>
            </a:lvl1pPr>
          </a:lstStyle>
          <a:p>
            <a:pPr indent="0" marL="0">
              <a:buNone/>
            </a:pPr>
            <a:endParaRPr lang="en-US" sz="3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737360"/>
          </a:xfrm>
          <a:prstGeom prst="rect">
            <a:avLst/>
          </a:prstGeom>
          <a:noFill/>
          <a:ln/>
        </p:spPr>
        <p:txBody>
          <a:bodyPr wrap="square" lIns="0" tIns="0" rIns="0" bIns="0" rtlCol="0" anchor="b"/>
          <a:lstStyle/>
          <a:p>
            <a:pPr indent="0" marL="0">
              <a:buNone/>
            </a:pPr>
            <a:r>
              <a:rPr lang="en-US" sz="4400" b="1" dirty="0">
                <a:solidFill>
                  <a:schemeClr val="bg1"/>
                </a:solidFill>
                <a:latin typeface="Cambria" pitchFamily="34" charset="0"/>
                <a:ea typeface="Cambria" pitchFamily="34" charset="-122"/>
                <a:cs typeface="Cambria" pitchFamily="34" charset="-120"/>
              </a:rPr>
              <a:t>Lumina Bank: plataforma de datos en tiempo real</a:t>
            </a:r>
            <a:endParaRPr lang="en-US" sz="4400" dirty="0"/>
          </a:p>
        </p:txBody>
      </p:sp>
      <p:sp>
        <p:nvSpPr>
          <p:cNvPr id="3" name="Text 0"/>
          <p:cNvSpPr/>
          <p:nvPr>
            <p:ph idx="101" type="body" hasCustomPrompt="1"/>
          </p:nvPr>
        </p:nvSpPr>
        <p:spPr>
          <a:xfrm>
            <a:off x="731520" y="3794760"/>
            <a:ext cx="10698480" cy="1463040"/>
          </a:xfrm>
          <a:prstGeom prst="rect">
            <a:avLst/>
          </a:prstGeom>
          <a:noFill/>
          <a:ln/>
        </p:spPr>
        <p:txBody>
          <a:bodyPr wrap="square" lIns="0" tIns="0" rIns="0" bIns="0" rtlCol="0" anchor="t"/>
          <a:lstStyle/>
          <a:p>
            <a:pPr indent="0" marL="0">
              <a:buNone/>
            </a:pPr>
            <a:r>
              <a:rPr lang="en-US" sz="2000" dirty="0">
                <a:solidFill>
                  <a:schemeClr val="accent1"/>
                </a:solidFill>
              </a:rPr>
              <a:t>Arquitectura Big Data en Google Cloud · Batch + Streaming</a:t>
            </a:r>
            <a:endParaRPr lang="en-US" sz="2000" dirty="0"/>
          </a:p>
          <a:p>
            <a:pPr indent="0" marL="0">
              <a:buNone/>
            </a:pPr>
            <a:r>
              <a:rPr lang="en-US" sz="1600" dirty="0">
                <a:solidFill>
                  <a:schemeClr val="accent6"/>
                </a:solidFill>
              </a:rPr>
              <a:t>Taller de Arquitectura Big Data · UTEC · Ciclo 2026-2 · Equipo: (completar)</a:t>
            </a:r>
            <a:endParaRPr lang="en-US" sz="2000" dirty="0"/>
          </a:p>
        </p:txBody>
      </p:sp>
      <p:sp>
        <p:nvSpPr>
          <p:cNvPr id="4" name="circulo-1"/>
          <p:cNvSpPr txBox="1"/>
          <p:nvPr/>
        </p:nvSpPr>
        <p:spPr>
          <a:xfrm>
            <a:off x="731520" y="731520"/>
            <a:ext cx="640080" cy="64008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tx2"/>
                </a:solidFill>
              </a:rPr>
              <a:t>LB</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Lo que proponemos y lo que pedimos</a:t>
            </a:r>
            <a:endParaRPr lang="en-US" sz="3200" dirty="0"/>
          </a:p>
        </p:txBody>
      </p:sp>
      <p:sp>
        <p:nvSpPr>
          <p:cNvPr id="4" name="tarjeta-2"/>
          <p:cNvSpPr/>
          <p:nvPr/>
        </p:nvSpPr>
        <p:spPr>
          <a:xfrm>
            <a:off x="548640" y="1325880"/>
            <a:ext cx="3063240" cy="1417320"/>
          </a:xfrm>
          <a:prstGeom prst="roundRect">
            <a:avLst>
              <a:gd name="adj" fmla="val 5161"/>
            </a:avLst>
          </a:prstGeom>
          <a:solidFill>
            <a:schemeClr val="bg2"/>
          </a:solidFill>
          <a:ln/>
        </p:spPr>
      </p:sp>
      <p:sp>
        <p:nvSpPr>
          <p:cNvPr id="5" name="circulo-3"/>
          <p:cNvSpPr txBox="1"/>
          <p:nvPr/>
        </p:nvSpPr>
        <p:spPr>
          <a:xfrm>
            <a:off x="731520" y="1527048"/>
            <a:ext cx="502920" cy="502920"/>
          </a:xfrm>
          <a:prstGeom prst="ellipse">
            <a:avLst/>
          </a:prstGeom>
          <a:solidFill>
            <a:schemeClr val="accent4"/>
          </a:solidFill>
          <a:ln/>
        </p:spPr>
        <p:txBody>
          <a:bodyPr wrap="square" lIns="0" tIns="0" rIns="0" bIns="0" rtlCol="0" anchor="ctr"/>
          <a:lstStyle/>
          <a:p>
            <a:pPr algn="ctr" indent="0" marL="0">
              <a:buNone/>
            </a:pPr>
            <a:r>
              <a:rPr lang="en-US" sz="1400" b="1" dirty="0">
                <a:solidFill>
                  <a:schemeClr val="bg1"/>
                </a:solidFill>
              </a:rPr>
              <a:t>I</a:t>
            </a:r>
            <a:endParaRPr lang="en-US" sz="1400" dirty="0"/>
          </a:p>
        </p:txBody>
      </p:sp>
      <p:sp>
        <p:nvSpPr>
          <p:cNvPr id="6" name="texto-4"/>
          <p:cNvSpPr txBox="1"/>
          <p:nvPr/>
        </p:nvSpPr>
        <p:spPr>
          <a:xfrm>
            <a:off x="1371600" y="1527048"/>
            <a:ext cx="2103120" cy="502920"/>
          </a:xfrm>
          <a:prstGeom prst="rect">
            <a:avLst/>
          </a:prstGeom>
          <a:noFill/>
          <a:ln/>
        </p:spPr>
        <p:txBody>
          <a:bodyPr wrap="square" lIns="0" tIns="0" rIns="0" bIns="0" rtlCol="0" anchor="ctr"/>
          <a:lstStyle/>
          <a:p>
            <a:pPr indent="0" marL="0">
              <a:buNone/>
            </a:pPr>
            <a:r>
              <a:rPr lang="en-US" sz="1600" b="1" dirty="0">
                <a:solidFill>
                  <a:schemeClr val="tx2"/>
                </a:solidFill>
              </a:rPr>
              <a:t>Fraude en tiempo real</a:t>
            </a:r>
            <a:endParaRPr lang="en-US" sz="1600" dirty="0"/>
          </a:p>
        </p:txBody>
      </p:sp>
      <p:sp>
        <p:nvSpPr>
          <p:cNvPr id="7" name="texto-5"/>
          <p:cNvSpPr txBox="1"/>
          <p:nvPr/>
        </p:nvSpPr>
        <p:spPr>
          <a:xfrm>
            <a:off x="731520" y="2130552"/>
            <a:ext cx="2697480" cy="548640"/>
          </a:xfrm>
          <a:prstGeom prst="rect">
            <a:avLst/>
          </a:prstGeom>
          <a:noFill/>
          <a:ln/>
        </p:spPr>
        <p:txBody>
          <a:bodyPr wrap="square" lIns="0" tIns="0" rIns="0" bIns="0" rtlCol="0" anchor="t"/>
          <a:lstStyle/>
          <a:p>
            <a:pPr indent="0" marL="0">
              <a:buNone/>
            </a:pPr>
            <a:r>
              <a:rPr lang="en-US" sz="1300" dirty="0">
                <a:solidFill>
                  <a:schemeClr val="tx1"/>
                </a:solidFill>
              </a:rPr>
              <a:t>Reglas + modelo deciden antes de que el dinero salga</a:t>
            </a:r>
            <a:endParaRPr lang="en-US" sz="1300" dirty="0"/>
          </a:p>
        </p:txBody>
      </p:sp>
      <p:sp>
        <p:nvSpPr>
          <p:cNvPr id="8" name="tarjeta-6"/>
          <p:cNvSpPr/>
          <p:nvPr/>
        </p:nvSpPr>
        <p:spPr>
          <a:xfrm>
            <a:off x="3794760" y="1325880"/>
            <a:ext cx="3063240" cy="1417320"/>
          </a:xfrm>
          <a:prstGeom prst="roundRect">
            <a:avLst>
              <a:gd name="adj" fmla="val 5161"/>
            </a:avLst>
          </a:prstGeom>
          <a:solidFill>
            <a:schemeClr val="bg2"/>
          </a:solidFill>
          <a:ln/>
        </p:spPr>
      </p:sp>
      <p:sp>
        <p:nvSpPr>
          <p:cNvPr id="9" name="circulo-7"/>
          <p:cNvSpPr txBox="1"/>
          <p:nvPr/>
        </p:nvSpPr>
        <p:spPr>
          <a:xfrm>
            <a:off x="3977640" y="1527048"/>
            <a:ext cx="502920" cy="50292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II</a:t>
            </a:r>
            <a:endParaRPr lang="en-US" sz="1400" dirty="0"/>
          </a:p>
        </p:txBody>
      </p:sp>
      <p:sp>
        <p:nvSpPr>
          <p:cNvPr id="10" name="texto-8"/>
          <p:cNvSpPr txBox="1"/>
          <p:nvPr/>
        </p:nvSpPr>
        <p:spPr>
          <a:xfrm>
            <a:off x="4617720" y="1527048"/>
            <a:ext cx="2103120" cy="502920"/>
          </a:xfrm>
          <a:prstGeom prst="rect">
            <a:avLst/>
          </a:prstGeom>
          <a:noFill/>
          <a:ln/>
        </p:spPr>
        <p:txBody>
          <a:bodyPr wrap="square" lIns="0" tIns="0" rIns="0" bIns="0" rtlCol="0" anchor="ctr"/>
          <a:lstStyle/>
          <a:p>
            <a:pPr indent="0" marL="0">
              <a:buNone/>
            </a:pPr>
            <a:r>
              <a:rPr lang="en-US" sz="1600" b="1" dirty="0">
                <a:solidFill>
                  <a:schemeClr val="tx2"/>
                </a:solidFill>
              </a:rPr>
              <a:t>Liquidez diaria</a:t>
            </a:r>
            <a:endParaRPr lang="en-US" sz="1600" dirty="0"/>
          </a:p>
        </p:txBody>
      </p:sp>
      <p:sp>
        <p:nvSpPr>
          <p:cNvPr id="11" name="texto-9"/>
          <p:cNvSpPr txBox="1"/>
          <p:nvPr/>
        </p:nvSpPr>
        <p:spPr>
          <a:xfrm>
            <a:off x="3977640" y="2130552"/>
            <a:ext cx="2697480" cy="548640"/>
          </a:xfrm>
          <a:prstGeom prst="rect">
            <a:avLst/>
          </a:prstGeom>
          <a:noFill/>
          <a:ln/>
        </p:spPr>
        <p:txBody>
          <a:bodyPr wrap="square" lIns="0" tIns="0" rIns="0" bIns="0" rtlCol="0" anchor="t"/>
          <a:lstStyle/>
          <a:p>
            <a:pPr indent="0" marL="0">
              <a:buNone/>
            </a:pPr>
            <a:r>
              <a:rPr lang="en-US" sz="1300" dirty="0">
                <a:solidFill>
                  <a:schemeClr val="tx1"/>
                </a:solidFill>
              </a:rPr>
              <a:t>Pronóstico de efectivo por distrito para el día siguiente</a:t>
            </a:r>
            <a:endParaRPr lang="en-US" sz="1300" dirty="0"/>
          </a:p>
        </p:txBody>
      </p:sp>
      <p:sp>
        <p:nvSpPr>
          <p:cNvPr id="12" name="tarjeta-10"/>
          <p:cNvSpPr/>
          <p:nvPr/>
        </p:nvSpPr>
        <p:spPr>
          <a:xfrm>
            <a:off x="548640" y="2926080"/>
            <a:ext cx="3063240" cy="1417320"/>
          </a:xfrm>
          <a:prstGeom prst="roundRect">
            <a:avLst>
              <a:gd name="adj" fmla="val 5161"/>
            </a:avLst>
          </a:prstGeom>
          <a:solidFill>
            <a:schemeClr val="bg2"/>
          </a:solidFill>
          <a:ln/>
        </p:spPr>
      </p:sp>
      <p:sp>
        <p:nvSpPr>
          <p:cNvPr id="13" name="circulo-11"/>
          <p:cNvSpPr txBox="1"/>
          <p:nvPr/>
        </p:nvSpPr>
        <p:spPr>
          <a:xfrm>
            <a:off x="731520" y="3127248"/>
            <a:ext cx="502920" cy="502920"/>
          </a:xfrm>
          <a:prstGeom prst="ellipse">
            <a:avLst/>
          </a:prstGeom>
          <a:solidFill>
            <a:schemeClr val="accent3"/>
          </a:solidFill>
          <a:ln/>
        </p:spPr>
        <p:txBody>
          <a:bodyPr wrap="square" lIns="0" tIns="0" rIns="0" bIns="0" rtlCol="0" anchor="ctr"/>
          <a:lstStyle/>
          <a:p>
            <a:pPr algn="ctr" indent="0" marL="0">
              <a:buNone/>
            </a:pPr>
            <a:r>
              <a:rPr lang="en-US" sz="1400" b="1" dirty="0">
                <a:solidFill>
                  <a:schemeClr val="bg1"/>
                </a:solidFill>
              </a:rPr>
              <a:t>III</a:t>
            </a:r>
            <a:endParaRPr lang="en-US" sz="1400" dirty="0"/>
          </a:p>
        </p:txBody>
      </p:sp>
      <p:sp>
        <p:nvSpPr>
          <p:cNvPr id="14" name="texto-12"/>
          <p:cNvSpPr txBox="1"/>
          <p:nvPr/>
        </p:nvSpPr>
        <p:spPr>
          <a:xfrm>
            <a:off x="1371600" y="3127248"/>
            <a:ext cx="2103120" cy="502920"/>
          </a:xfrm>
          <a:prstGeom prst="rect">
            <a:avLst/>
          </a:prstGeom>
          <a:noFill/>
          <a:ln/>
        </p:spPr>
        <p:txBody>
          <a:bodyPr wrap="square" lIns="0" tIns="0" rIns="0" bIns="0" rtlCol="0" anchor="ctr"/>
          <a:lstStyle/>
          <a:p>
            <a:pPr indent="0" marL="0">
              <a:buNone/>
            </a:pPr>
            <a:r>
              <a:rPr lang="en-US" sz="1600" b="1" dirty="0">
                <a:solidFill>
                  <a:schemeClr val="tx2"/>
                </a:solidFill>
              </a:rPr>
              <a:t>Informes bajo demanda</a:t>
            </a:r>
            <a:endParaRPr lang="en-US" sz="1600" dirty="0"/>
          </a:p>
        </p:txBody>
      </p:sp>
      <p:sp>
        <p:nvSpPr>
          <p:cNvPr id="15" name="texto-13"/>
          <p:cNvSpPr txBox="1"/>
          <p:nvPr/>
        </p:nvSpPr>
        <p:spPr>
          <a:xfrm>
            <a:off x="731520" y="3730752"/>
            <a:ext cx="2697480" cy="548640"/>
          </a:xfrm>
          <a:prstGeom prst="rect">
            <a:avLst/>
          </a:prstGeom>
          <a:noFill/>
          <a:ln/>
        </p:spPr>
        <p:txBody>
          <a:bodyPr wrap="square" lIns="0" tIns="0" rIns="0" bIns="0" rtlCol="0" anchor="t"/>
          <a:lstStyle/>
          <a:p>
            <a:pPr indent="0" marL="0">
              <a:buNone/>
            </a:pPr>
            <a:r>
              <a:rPr lang="en-US" sz="1300" dirty="0">
                <a:solidFill>
                  <a:schemeClr val="tx1"/>
                </a:solidFill>
              </a:rPr>
              <a:t>KPIs operativos y comparación con el sector cada 15 min</a:t>
            </a:r>
            <a:endParaRPr lang="en-US" sz="1300" dirty="0"/>
          </a:p>
        </p:txBody>
      </p:sp>
      <p:sp>
        <p:nvSpPr>
          <p:cNvPr id="16" name="tarjeta-14"/>
          <p:cNvSpPr/>
          <p:nvPr/>
        </p:nvSpPr>
        <p:spPr>
          <a:xfrm>
            <a:off x="3794760" y="2926080"/>
            <a:ext cx="3063240" cy="1417320"/>
          </a:xfrm>
          <a:prstGeom prst="roundRect">
            <a:avLst>
              <a:gd name="adj" fmla="val 5161"/>
            </a:avLst>
          </a:prstGeom>
          <a:solidFill>
            <a:schemeClr val="bg2"/>
          </a:solidFill>
          <a:ln/>
        </p:spPr>
      </p:sp>
      <p:sp>
        <p:nvSpPr>
          <p:cNvPr id="17" name="circulo-15"/>
          <p:cNvSpPr txBox="1"/>
          <p:nvPr/>
        </p:nvSpPr>
        <p:spPr>
          <a:xfrm>
            <a:off x="3977640" y="3127248"/>
            <a:ext cx="502920" cy="50292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IV</a:t>
            </a:r>
            <a:endParaRPr lang="en-US" sz="1400" dirty="0"/>
          </a:p>
        </p:txBody>
      </p:sp>
      <p:sp>
        <p:nvSpPr>
          <p:cNvPr id="18" name="texto-16"/>
          <p:cNvSpPr txBox="1"/>
          <p:nvPr/>
        </p:nvSpPr>
        <p:spPr>
          <a:xfrm>
            <a:off x="4617720" y="3127248"/>
            <a:ext cx="2103120" cy="502920"/>
          </a:xfrm>
          <a:prstGeom prst="rect">
            <a:avLst/>
          </a:prstGeom>
          <a:noFill/>
          <a:ln/>
        </p:spPr>
        <p:txBody>
          <a:bodyPr wrap="square" lIns="0" tIns="0" rIns="0" bIns="0" rtlCol="0" anchor="ctr"/>
          <a:lstStyle/>
          <a:p>
            <a:pPr indent="0" marL="0">
              <a:buNone/>
            </a:pPr>
            <a:r>
              <a:rPr lang="en-US" sz="1600" b="1" dirty="0">
                <a:solidFill>
                  <a:schemeClr val="tx2"/>
                </a:solidFill>
              </a:rPr>
              <a:t>Infraestructura</a:t>
            </a:r>
            <a:endParaRPr lang="en-US" sz="1600" dirty="0"/>
          </a:p>
        </p:txBody>
      </p:sp>
      <p:sp>
        <p:nvSpPr>
          <p:cNvPr id="19" name="texto-17"/>
          <p:cNvSpPr txBox="1"/>
          <p:nvPr/>
        </p:nvSpPr>
        <p:spPr>
          <a:xfrm>
            <a:off x="3977640" y="3730752"/>
            <a:ext cx="2697480" cy="548640"/>
          </a:xfrm>
          <a:prstGeom prst="rect">
            <a:avLst/>
          </a:prstGeom>
          <a:noFill/>
          <a:ln/>
        </p:spPr>
        <p:txBody>
          <a:bodyPr wrap="square" lIns="0" tIns="0" rIns="0" bIns="0" rtlCol="0" anchor="t"/>
          <a:lstStyle/>
          <a:p>
            <a:pPr indent="0" marL="0">
              <a:buNone/>
            </a:pPr>
            <a:r>
              <a:rPr lang="en-US" sz="1300" dirty="0">
                <a:solidFill>
                  <a:schemeClr val="tx1"/>
                </a:solidFill>
              </a:rPr>
              <a:t>Salud de cajeros y rutas de congestión</a:t>
            </a:r>
            <a:endParaRPr lang="en-US" sz="1300" dirty="0"/>
          </a:p>
        </p:txBody>
      </p:sp>
      <p:sp>
        <p:nvSpPr>
          <p:cNvPr id="20" name="tarjeta-18"/>
          <p:cNvSpPr/>
          <p:nvPr/>
        </p:nvSpPr>
        <p:spPr>
          <a:xfrm>
            <a:off x="7223760" y="1325880"/>
            <a:ext cx="4389120" cy="3017520"/>
          </a:xfrm>
          <a:prstGeom prst="roundRect">
            <a:avLst>
              <a:gd name="adj" fmla="val 2424"/>
            </a:avLst>
          </a:prstGeom>
          <a:solidFill>
            <a:schemeClr val="tx2"/>
          </a:solidFill>
          <a:ln/>
        </p:spPr>
      </p:sp>
      <p:sp>
        <p:nvSpPr>
          <p:cNvPr id="21" name="texto-19"/>
          <p:cNvSpPr txBox="1"/>
          <p:nvPr/>
        </p:nvSpPr>
        <p:spPr>
          <a:xfrm>
            <a:off x="7498080" y="1508760"/>
            <a:ext cx="3931920" cy="411480"/>
          </a:xfrm>
          <a:prstGeom prst="rect">
            <a:avLst/>
          </a:prstGeom>
          <a:noFill/>
          <a:ln/>
        </p:spPr>
        <p:txBody>
          <a:bodyPr wrap="square" lIns="0" tIns="0" rIns="0" bIns="0" rtlCol="0" anchor="t"/>
          <a:lstStyle/>
          <a:p>
            <a:pPr indent="0" marL="0">
              <a:buNone/>
            </a:pPr>
            <a:r>
              <a:rPr lang="en-US" sz="1800" b="1" dirty="0">
                <a:solidFill>
                  <a:schemeClr val="accent1"/>
                </a:solidFill>
              </a:rPr>
              <a:t>Decisiones que se solicitan</a:t>
            </a:r>
            <a:endParaRPr lang="en-US" sz="1800" dirty="0"/>
          </a:p>
        </p:txBody>
      </p:sp>
      <p:sp>
        <p:nvSpPr>
          <p:cNvPr id="22" name="circulo-20"/>
          <p:cNvSpPr txBox="1"/>
          <p:nvPr/>
        </p:nvSpPr>
        <p:spPr>
          <a:xfrm>
            <a:off x="7498080" y="2103120"/>
            <a:ext cx="411480" cy="411480"/>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tx2"/>
                </a:solidFill>
              </a:rPr>
              <a:t>1</a:t>
            </a:r>
            <a:endParaRPr lang="en-US" sz="1300" dirty="0"/>
          </a:p>
        </p:txBody>
      </p:sp>
      <p:sp>
        <p:nvSpPr>
          <p:cNvPr id="23" name="texto-21"/>
          <p:cNvSpPr txBox="1"/>
          <p:nvPr/>
        </p:nvSpPr>
        <p:spPr>
          <a:xfrm>
            <a:off x="8092440" y="2103120"/>
            <a:ext cx="3337560" cy="566928"/>
          </a:xfrm>
          <a:prstGeom prst="rect">
            <a:avLst/>
          </a:prstGeom>
          <a:noFill/>
          <a:ln/>
        </p:spPr>
        <p:txBody>
          <a:bodyPr wrap="square" lIns="0" tIns="0" rIns="0" bIns="0" rtlCol="0" anchor="ctr"/>
          <a:lstStyle/>
          <a:p>
            <a:pPr indent="0" marL="0">
              <a:buNone/>
            </a:pPr>
            <a:r>
              <a:rPr lang="en-US" sz="1400" dirty="0">
                <a:solidFill>
                  <a:schemeClr val="bg1"/>
                </a:solidFill>
              </a:rPr>
              <a:t>Aprobar la arquitectura y el presupuesto de nube del año 1</a:t>
            </a:r>
            <a:endParaRPr lang="en-US" sz="1400" dirty="0"/>
          </a:p>
        </p:txBody>
      </p:sp>
      <p:sp>
        <p:nvSpPr>
          <p:cNvPr id="24" name="circulo-22"/>
          <p:cNvSpPr txBox="1"/>
          <p:nvPr/>
        </p:nvSpPr>
        <p:spPr>
          <a:xfrm>
            <a:off x="7498080" y="2816352"/>
            <a:ext cx="411480" cy="411480"/>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tx2"/>
                </a:solidFill>
              </a:rPr>
              <a:t>2</a:t>
            </a:r>
            <a:endParaRPr lang="en-US" sz="1300" dirty="0"/>
          </a:p>
        </p:txBody>
      </p:sp>
      <p:sp>
        <p:nvSpPr>
          <p:cNvPr id="25" name="texto-23"/>
          <p:cNvSpPr txBox="1"/>
          <p:nvPr/>
        </p:nvSpPr>
        <p:spPr>
          <a:xfrm>
            <a:off x="8092440" y="2816352"/>
            <a:ext cx="3337560" cy="566928"/>
          </a:xfrm>
          <a:prstGeom prst="rect">
            <a:avLst/>
          </a:prstGeom>
          <a:noFill/>
          <a:ln/>
        </p:spPr>
        <p:txBody>
          <a:bodyPr wrap="square" lIns="0" tIns="0" rIns="0" bIns="0" rtlCol="0" anchor="ctr"/>
          <a:lstStyle/>
          <a:p>
            <a:pPr indent="0" marL="0">
              <a:buNone/>
            </a:pPr>
            <a:r>
              <a:rPr lang="en-US" sz="1400" dirty="0">
                <a:solidFill>
                  <a:schemeClr val="bg1"/>
                </a:solidFill>
              </a:rPr>
              <a:t>Aprobar Santiago como región principal y São Paulo como DR</a:t>
            </a:r>
            <a:endParaRPr lang="en-US" sz="1400" dirty="0"/>
          </a:p>
        </p:txBody>
      </p:sp>
      <p:sp>
        <p:nvSpPr>
          <p:cNvPr id="26" name="circulo-24"/>
          <p:cNvSpPr txBox="1"/>
          <p:nvPr/>
        </p:nvSpPr>
        <p:spPr>
          <a:xfrm>
            <a:off x="7498080" y="3529584"/>
            <a:ext cx="411480" cy="411480"/>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tx2"/>
                </a:solidFill>
              </a:rPr>
              <a:t>3</a:t>
            </a:r>
            <a:endParaRPr lang="en-US" sz="1300" dirty="0"/>
          </a:p>
        </p:txBody>
      </p:sp>
      <p:sp>
        <p:nvSpPr>
          <p:cNvPr id="27" name="texto-25"/>
          <p:cNvSpPr txBox="1"/>
          <p:nvPr/>
        </p:nvSpPr>
        <p:spPr>
          <a:xfrm>
            <a:off x="8092440" y="3529584"/>
            <a:ext cx="3337560" cy="566928"/>
          </a:xfrm>
          <a:prstGeom prst="rect">
            <a:avLst/>
          </a:prstGeom>
          <a:noFill/>
          <a:ln/>
        </p:spPr>
        <p:txBody>
          <a:bodyPr wrap="square" lIns="0" tIns="0" rIns="0" bIns="0" rtlCol="0" anchor="ctr"/>
          <a:lstStyle/>
          <a:p>
            <a:pPr indent="0" marL="0">
              <a:buNone/>
            </a:pPr>
            <a:r>
              <a:rPr lang="en-US" sz="1400" dirty="0">
                <a:solidFill>
                  <a:schemeClr val="bg1"/>
                </a:solidFill>
              </a:rPr>
              <a:t>Aprobar el plan por fases y los KPIs de éxito</a:t>
            </a:r>
            <a:endParaRPr lang="en-US" sz="1400" dirty="0"/>
          </a:p>
        </p:txBody>
      </p:sp>
      <p:sp>
        <p:nvSpPr>
          <p:cNvPr id="28" name="texto-26"/>
          <p:cNvSpPr txBox="1"/>
          <p:nvPr/>
        </p:nvSpPr>
        <p:spPr>
          <a:xfrm>
            <a:off x="548640" y="4572000"/>
            <a:ext cx="3474720" cy="685800"/>
          </a:xfrm>
          <a:prstGeom prst="rect">
            <a:avLst/>
          </a:prstGeom>
          <a:noFill/>
          <a:ln/>
        </p:spPr>
        <p:txBody>
          <a:bodyPr wrap="square" lIns="0" tIns="0" rIns="0" bIns="0" rtlCol="0" anchor="b"/>
          <a:lstStyle/>
          <a:p>
            <a:pPr indent="0" marL="0">
              <a:buNone/>
            </a:pPr>
            <a:r>
              <a:rPr lang="en-US" sz="3600" b="1" dirty="0">
                <a:solidFill>
                  <a:schemeClr val="tx2"/>
                </a:solidFill>
                <a:latin typeface="Cambria" pitchFamily="34" charset="0"/>
                <a:ea typeface="Cambria" pitchFamily="34" charset="-122"/>
                <a:cs typeface="Cambria" pitchFamily="34" charset="-120"/>
              </a:rPr>
              <a:t>&lt; 150 ms</a:t>
            </a:r>
            <a:endParaRPr lang="en-US" sz="3600" dirty="0"/>
          </a:p>
        </p:txBody>
      </p:sp>
      <p:sp>
        <p:nvSpPr>
          <p:cNvPr id="29" name="texto-27"/>
          <p:cNvSpPr txBox="1"/>
          <p:nvPr/>
        </p:nvSpPr>
        <p:spPr>
          <a:xfrm>
            <a:off x="548640" y="5303520"/>
            <a:ext cx="3474720" cy="502920"/>
          </a:xfrm>
          <a:prstGeom prst="rect">
            <a:avLst/>
          </a:prstGeom>
          <a:noFill/>
          <a:ln/>
        </p:spPr>
        <p:txBody>
          <a:bodyPr wrap="square" lIns="0" tIns="0" rIns="0" bIns="0" rtlCol="0" anchor="t"/>
          <a:lstStyle/>
          <a:p>
            <a:pPr indent="0" marL="0">
              <a:buNone/>
            </a:pPr>
            <a:r>
              <a:rPr lang="en-US" sz="1300" dirty="0">
                <a:solidFill>
                  <a:schemeClr val="accent5"/>
                </a:solidFill>
              </a:rPr>
              <a:t>decisión de fraude por transacción (p95)</a:t>
            </a:r>
            <a:endParaRPr lang="en-US" sz="1300" dirty="0"/>
          </a:p>
        </p:txBody>
      </p:sp>
      <p:sp>
        <p:nvSpPr>
          <p:cNvPr id="30" name="texto-28"/>
          <p:cNvSpPr txBox="1"/>
          <p:nvPr/>
        </p:nvSpPr>
        <p:spPr>
          <a:xfrm>
            <a:off x="4343400" y="4572000"/>
            <a:ext cx="3474720" cy="685800"/>
          </a:xfrm>
          <a:prstGeom prst="rect">
            <a:avLst/>
          </a:prstGeom>
          <a:noFill/>
          <a:ln/>
        </p:spPr>
        <p:txBody>
          <a:bodyPr wrap="square" lIns="0" tIns="0" rIns="0" bIns="0" rtlCol="0" anchor="b"/>
          <a:lstStyle/>
          <a:p>
            <a:pPr indent="0" marL="0">
              <a:buNone/>
            </a:pPr>
            <a:r>
              <a:rPr lang="en-US" sz="3600" b="1" dirty="0">
                <a:solidFill>
                  <a:schemeClr val="tx2"/>
                </a:solidFill>
                <a:latin typeface="Cambria" pitchFamily="34" charset="0"/>
                <a:ea typeface="Cambria" pitchFamily="34" charset="-122"/>
                <a:cs typeface="Cambria" pitchFamily="34" charset="-120"/>
              </a:rPr>
              <a:t>USD 66K</a:t>
            </a:r>
            <a:endParaRPr lang="en-US" sz="3600" dirty="0"/>
          </a:p>
        </p:txBody>
      </p:sp>
      <p:sp>
        <p:nvSpPr>
          <p:cNvPr id="31" name="texto-29"/>
          <p:cNvSpPr txBox="1"/>
          <p:nvPr/>
        </p:nvSpPr>
        <p:spPr>
          <a:xfrm>
            <a:off x="4343400" y="5303520"/>
            <a:ext cx="3474720" cy="502920"/>
          </a:xfrm>
          <a:prstGeom prst="rect">
            <a:avLst/>
          </a:prstGeom>
          <a:noFill/>
          <a:ln/>
        </p:spPr>
        <p:txBody>
          <a:bodyPr wrap="square" lIns="0" tIns="0" rIns="0" bIns="0" rtlCol="0" anchor="t"/>
          <a:lstStyle/>
          <a:p>
            <a:pPr indent="0" marL="0">
              <a:buNone/>
            </a:pPr>
            <a:r>
              <a:rPr lang="en-US" sz="1300" dirty="0">
                <a:solidFill>
                  <a:schemeClr val="accent5"/>
                </a:solidFill>
              </a:rPr>
              <a:t>costo de nube del año 1 (≈ USD 12 por millón de tx)</a:t>
            </a:r>
            <a:endParaRPr lang="en-US" sz="1300" dirty="0"/>
          </a:p>
        </p:txBody>
      </p:sp>
      <p:sp>
        <p:nvSpPr>
          <p:cNvPr id="32" name="texto-30"/>
          <p:cNvSpPr txBox="1"/>
          <p:nvPr/>
        </p:nvSpPr>
        <p:spPr>
          <a:xfrm>
            <a:off x="8138160" y="4572000"/>
            <a:ext cx="3474720" cy="685800"/>
          </a:xfrm>
          <a:prstGeom prst="rect">
            <a:avLst/>
          </a:prstGeom>
          <a:noFill/>
          <a:ln/>
        </p:spPr>
        <p:txBody>
          <a:bodyPr wrap="square" lIns="0" tIns="0" rIns="0" bIns="0" rtlCol="0" anchor="b"/>
          <a:lstStyle/>
          <a:p>
            <a:pPr indent="0" marL="0">
              <a:buNone/>
            </a:pPr>
            <a:r>
              <a:rPr lang="en-US" sz="3600" b="1" dirty="0">
                <a:solidFill>
                  <a:schemeClr val="tx2"/>
                </a:solidFill>
                <a:latin typeface="Cambria" pitchFamily="34" charset="0"/>
                <a:ea typeface="Cambria" pitchFamily="34" charset="-122"/>
                <a:cs typeface="Cambria" pitchFamily="34" charset="-120"/>
              </a:rPr>
              <a:t>&lt; 5 min</a:t>
            </a:r>
            <a:endParaRPr lang="en-US" sz="3600" dirty="0"/>
          </a:p>
        </p:txBody>
      </p:sp>
      <p:sp>
        <p:nvSpPr>
          <p:cNvPr id="33" name="texto-31"/>
          <p:cNvSpPr txBox="1"/>
          <p:nvPr/>
        </p:nvSpPr>
        <p:spPr>
          <a:xfrm>
            <a:off x="8138160" y="5303520"/>
            <a:ext cx="3474720" cy="502920"/>
          </a:xfrm>
          <a:prstGeom prst="rect">
            <a:avLst/>
          </a:prstGeom>
          <a:noFill/>
          <a:ln/>
        </p:spPr>
        <p:txBody>
          <a:bodyPr wrap="square" lIns="0" tIns="0" rIns="0" bIns="0" rtlCol="0" anchor="t"/>
          <a:lstStyle/>
          <a:p>
            <a:pPr indent="0" marL="0">
              <a:buNone/>
            </a:pPr>
            <a:r>
              <a:rPr lang="en-US" sz="1300" dirty="0">
                <a:solidFill>
                  <a:schemeClr val="accent5"/>
                </a:solidFill>
              </a:rPr>
              <a:t>para volver a operar si cae una región, sin perder transacciones</a:t>
            </a:r>
            <a:endParaRPr lang="en-US" sz="13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Hoy: 12 bancos, 9 M clientes, datos aislados</a:t>
            </a:r>
            <a:endParaRPr lang="en-US" sz="3200" dirty="0"/>
          </a:p>
        </p:txBody>
      </p:sp>
      <p:sp>
        <p:nvSpPr>
          <p:cNvPr id="4" name="tarjeta-32"/>
          <p:cNvSpPr/>
          <p:nvPr/>
        </p:nvSpPr>
        <p:spPr>
          <a:xfrm>
            <a:off x="548640" y="1325880"/>
            <a:ext cx="3931920" cy="4754880"/>
          </a:xfrm>
          <a:prstGeom prst="roundRect">
            <a:avLst>
              <a:gd name="adj" fmla="val 1860"/>
            </a:avLst>
          </a:prstGeom>
          <a:solidFill>
            <a:schemeClr val="tx2"/>
          </a:solidFill>
          <a:ln/>
        </p:spPr>
      </p:sp>
      <p:sp>
        <p:nvSpPr>
          <p:cNvPr id="5" name="texto-33"/>
          <p:cNvSpPr txBox="1"/>
          <p:nvPr/>
        </p:nvSpPr>
        <p:spPr>
          <a:xfrm>
            <a:off x="868680" y="1463040"/>
            <a:ext cx="3383280" cy="685800"/>
          </a:xfrm>
          <a:prstGeom prst="rect">
            <a:avLst/>
          </a:prstGeom>
          <a:noFill/>
          <a:ln/>
        </p:spPr>
        <p:txBody>
          <a:bodyPr wrap="square" lIns="0" tIns="0" rIns="0" bIns="0" rtlCol="0" anchor="b"/>
          <a:lstStyle/>
          <a:p>
            <a:pPr indent="0" marL="0">
              <a:buNone/>
            </a:pPr>
            <a:r>
              <a:rPr lang="en-US" sz="3600" b="1" dirty="0">
                <a:solidFill>
                  <a:schemeClr val="accent1"/>
                </a:solidFill>
                <a:latin typeface="Cambria" pitchFamily="34" charset="0"/>
                <a:ea typeface="Cambria" pitchFamily="34" charset="-122"/>
                <a:cs typeface="Cambria" pitchFamily="34" charset="-120"/>
              </a:rPr>
              <a:t>9 M</a:t>
            </a:r>
            <a:endParaRPr lang="en-US" sz="3600" dirty="0"/>
          </a:p>
        </p:txBody>
      </p:sp>
      <p:sp>
        <p:nvSpPr>
          <p:cNvPr id="6" name="texto-34"/>
          <p:cNvSpPr txBox="1"/>
          <p:nvPr/>
        </p:nvSpPr>
        <p:spPr>
          <a:xfrm>
            <a:off x="868680" y="2194560"/>
            <a:ext cx="3383280" cy="502920"/>
          </a:xfrm>
          <a:prstGeom prst="rect">
            <a:avLst/>
          </a:prstGeom>
          <a:noFill/>
          <a:ln/>
        </p:spPr>
        <p:txBody>
          <a:bodyPr wrap="square" lIns="0" tIns="0" rIns="0" bIns="0" rtlCol="0" anchor="t"/>
          <a:lstStyle/>
          <a:p>
            <a:pPr indent="0" marL="0">
              <a:buNone/>
            </a:pPr>
            <a:r>
              <a:rPr lang="en-US" sz="1300" dirty="0">
                <a:solidFill>
                  <a:schemeClr val="bg1"/>
                </a:solidFill>
              </a:rPr>
              <a:t>clientes en 8 distritos</a:t>
            </a:r>
            <a:endParaRPr lang="en-US" sz="1300" dirty="0"/>
          </a:p>
        </p:txBody>
      </p:sp>
      <p:sp>
        <p:nvSpPr>
          <p:cNvPr id="7" name="texto-35"/>
          <p:cNvSpPr txBox="1"/>
          <p:nvPr/>
        </p:nvSpPr>
        <p:spPr>
          <a:xfrm>
            <a:off x="868680" y="2971800"/>
            <a:ext cx="3383280" cy="685800"/>
          </a:xfrm>
          <a:prstGeom prst="rect">
            <a:avLst/>
          </a:prstGeom>
          <a:noFill/>
          <a:ln/>
        </p:spPr>
        <p:txBody>
          <a:bodyPr wrap="square" lIns="0" tIns="0" rIns="0" bIns="0" rtlCol="0" anchor="b"/>
          <a:lstStyle/>
          <a:p>
            <a:pPr indent="0" marL="0">
              <a:buNone/>
            </a:pPr>
            <a:r>
              <a:rPr lang="en-US" sz="3600" b="1" dirty="0">
                <a:solidFill>
                  <a:schemeClr val="accent1"/>
                </a:solidFill>
                <a:latin typeface="Cambria" pitchFamily="34" charset="0"/>
                <a:ea typeface="Cambria" pitchFamily="34" charset="-122"/>
                <a:cs typeface="Cambria" pitchFamily="34" charset="-120"/>
              </a:rPr>
              <a:t>12</a:t>
            </a:r>
            <a:endParaRPr lang="en-US" sz="3600" dirty="0"/>
          </a:p>
        </p:txBody>
      </p:sp>
      <p:sp>
        <p:nvSpPr>
          <p:cNvPr id="8" name="texto-36"/>
          <p:cNvSpPr txBox="1"/>
          <p:nvPr/>
        </p:nvSpPr>
        <p:spPr>
          <a:xfrm>
            <a:off x="868680" y="3703320"/>
            <a:ext cx="3383280" cy="502920"/>
          </a:xfrm>
          <a:prstGeom prst="rect">
            <a:avLst/>
          </a:prstGeom>
          <a:noFill/>
          <a:ln/>
        </p:spPr>
        <p:txBody>
          <a:bodyPr wrap="square" lIns="0" tIns="0" rIns="0" bIns="0" rtlCol="0" anchor="t"/>
          <a:lstStyle/>
          <a:p>
            <a:pPr indent="0" marL="0">
              <a:buNone/>
            </a:pPr>
            <a:r>
              <a:rPr lang="en-US" sz="1300" dirty="0">
                <a:solidFill>
                  <a:schemeClr val="bg1"/>
                </a:solidFill>
              </a:rPr>
              <a:t>entidades que no comparten información</a:t>
            </a:r>
            <a:endParaRPr lang="en-US" sz="1300" dirty="0"/>
          </a:p>
        </p:txBody>
      </p:sp>
      <p:sp>
        <p:nvSpPr>
          <p:cNvPr id="9" name="texto-37"/>
          <p:cNvSpPr txBox="1"/>
          <p:nvPr/>
        </p:nvSpPr>
        <p:spPr>
          <a:xfrm>
            <a:off x="868680" y="4480560"/>
            <a:ext cx="3383280" cy="685800"/>
          </a:xfrm>
          <a:prstGeom prst="rect">
            <a:avLst/>
          </a:prstGeom>
          <a:noFill/>
          <a:ln/>
        </p:spPr>
        <p:txBody>
          <a:bodyPr wrap="square" lIns="0" tIns="0" rIns="0" bIns="0" rtlCol="0" anchor="b"/>
          <a:lstStyle/>
          <a:p>
            <a:pPr indent="0" marL="0">
              <a:buNone/>
            </a:pPr>
            <a:r>
              <a:rPr lang="en-US" sz="3600" b="1" dirty="0">
                <a:solidFill>
                  <a:schemeClr val="accent1"/>
                </a:solidFill>
                <a:latin typeface="Cambria" pitchFamily="34" charset="0"/>
                <a:ea typeface="Cambria" pitchFamily="34" charset="-122"/>
                <a:cs typeface="Cambria" pitchFamily="34" charset="-120"/>
              </a:rPr>
              <a:t>89 %</a:t>
            </a:r>
            <a:endParaRPr lang="en-US" sz="3600" dirty="0"/>
          </a:p>
        </p:txBody>
      </p:sp>
      <p:sp>
        <p:nvSpPr>
          <p:cNvPr id="10" name="texto-38"/>
          <p:cNvSpPr txBox="1"/>
          <p:nvPr/>
        </p:nvSpPr>
        <p:spPr>
          <a:xfrm>
            <a:off x="868680" y="5212080"/>
            <a:ext cx="3383280" cy="502920"/>
          </a:xfrm>
          <a:prstGeom prst="rect">
            <a:avLst/>
          </a:prstGeom>
          <a:noFill/>
          <a:ln/>
        </p:spPr>
        <p:txBody>
          <a:bodyPr wrap="square" lIns="0" tIns="0" rIns="0" bIns="0" rtlCol="0" anchor="t"/>
          <a:lstStyle/>
          <a:p>
            <a:pPr indent="0" marL="0">
              <a:buNone/>
            </a:pPr>
            <a:r>
              <a:rPr lang="en-US" sz="1300" dirty="0">
                <a:solidFill>
                  <a:schemeClr val="bg1"/>
                </a:solidFill>
              </a:rPr>
              <a:t>vive o trabaja a menos de 8 km de un punto de atención</a:t>
            </a:r>
            <a:endParaRPr lang="en-US" sz="1300" dirty="0"/>
          </a:p>
        </p:txBody>
      </p:sp>
      <p:sp>
        <p:nvSpPr>
          <p:cNvPr id="11" name="circulo-39"/>
          <p:cNvSpPr txBox="1"/>
          <p:nvPr/>
        </p:nvSpPr>
        <p:spPr>
          <a:xfrm>
            <a:off x="4846320" y="1463040"/>
            <a:ext cx="502920" cy="502920"/>
          </a:xfrm>
          <a:prstGeom prst="ellipse">
            <a:avLst/>
          </a:prstGeom>
          <a:solidFill>
            <a:schemeClr val="accent4"/>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2" name="texto-40"/>
          <p:cNvSpPr txBox="1"/>
          <p:nvPr/>
        </p:nvSpPr>
        <p:spPr>
          <a:xfrm>
            <a:off x="5577840" y="1371600"/>
            <a:ext cx="6035040" cy="365760"/>
          </a:xfrm>
          <a:prstGeom prst="rect">
            <a:avLst/>
          </a:prstGeom>
          <a:noFill/>
          <a:ln/>
        </p:spPr>
        <p:txBody>
          <a:bodyPr wrap="square" lIns="0" tIns="0" rIns="0" bIns="0" rtlCol="0" anchor="t"/>
          <a:lstStyle/>
          <a:p>
            <a:pPr indent="0" marL="0">
              <a:buNone/>
            </a:pPr>
            <a:r>
              <a:rPr lang="en-US" sz="1800" b="1" dirty="0">
                <a:solidFill>
                  <a:schemeClr val="tx2"/>
                </a:solidFill>
              </a:rPr>
              <a:t>Congestión en días de pago</a:t>
            </a:r>
            <a:endParaRPr lang="en-US" sz="1800" dirty="0"/>
          </a:p>
        </p:txBody>
      </p:sp>
      <p:sp>
        <p:nvSpPr>
          <p:cNvPr id="13" name="texto-41"/>
          <p:cNvSpPr txBox="1"/>
          <p:nvPr/>
        </p:nvSpPr>
        <p:spPr>
          <a:xfrm>
            <a:off x="5577840" y="1783080"/>
            <a:ext cx="6035040" cy="548640"/>
          </a:xfrm>
          <a:prstGeom prst="rect">
            <a:avLst/>
          </a:prstGeom>
          <a:noFill/>
          <a:ln/>
        </p:spPr>
        <p:txBody>
          <a:bodyPr wrap="square" lIns="0" tIns="0" rIns="0" bIns="0" rtlCol="0" anchor="t"/>
          <a:lstStyle/>
          <a:p>
            <a:pPr indent="0" marL="0">
              <a:buNone/>
            </a:pPr>
            <a:r>
              <a:rPr lang="en-US" sz="1400" dirty="0">
                <a:solidFill>
                  <a:schemeClr val="tx1"/>
                </a:solidFill>
              </a:rPr>
              <a:t>La validación de transacciones se demora en cierres de mes y quincenas</a:t>
            </a:r>
            <a:endParaRPr lang="en-US" sz="1400" dirty="0"/>
          </a:p>
        </p:txBody>
      </p:sp>
      <p:sp>
        <p:nvSpPr>
          <p:cNvPr id="14" name="circulo-42"/>
          <p:cNvSpPr txBox="1"/>
          <p:nvPr/>
        </p:nvSpPr>
        <p:spPr>
          <a:xfrm>
            <a:off x="4846320" y="2651760"/>
            <a:ext cx="502920" cy="502920"/>
          </a:xfrm>
          <a:prstGeom prst="ellipse">
            <a:avLst/>
          </a:prstGeom>
          <a:solidFill>
            <a:schemeClr val="accent4"/>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5" name="texto-43"/>
          <p:cNvSpPr txBox="1"/>
          <p:nvPr/>
        </p:nvSpPr>
        <p:spPr>
          <a:xfrm>
            <a:off x="5577840" y="2560320"/>
            <a:ext cx="6035040" cy="365760"/>
          </a:xfrm>
          <a:prstGeom prst="rect">
            <a:avLst/>
          </a:prstGeom>
          <a:noFill/>
          <a:ln/>
        </p:spPr>
        <p:txBody>
          <a:bodyPr wrap="square" lIns="0" tIns="0" rIns="0" bIns="0" rtlCol="0" anchor="t"/>
          <a:lstStyle/>
          <a:p>
            <a:pPr indent="0" marL="0">
              <a:buNone/>
            </a:pPr>
            <a:r>
              <a:rPr lang="en-US" sz="1800" b="1" dirty="0">
                <a:solidFill>
                  <a:schemeClr val="tx2"/>
                </a:solidFill>
              </a:rPr>
              <a:t>Fraude sin señal compartida</a:t>
            </a:r>
            <a:endParaRPr lang="en-US" sz="1800" dirty="0"/>
          </a:p>
        </p:txBody>
      </p:sp>
      <p:sp>
        <p:nvSpPr>
          <p:cNvPr id="16" name="texto-44"/>
          <p:cNvSpPr txBox="1"/>
          <p:nvPr/>
        </p:nvSpPr>
        <p:spPr>
          <a:xfrm>
            <a:off x="5577840" y="2971800"/>
            <a:ext cx="6035040" cy="548640"/>
          </a:xfrm>
          <a:prstGeom prst="rect">
            <a:avLst/>
          </a:prstGeom>
          <a:noFill/>
          <a:ln/>
        </p:spPr>
        <p:txBody>
          <a:bodyPr wrap="square" lIns="0" tIns="0" rIns="0" bIns="0" rtlCol="0" anchor="t"/>
          <a:lstStyle/>
          <a:p>
            <a:pPr indent="0" marL="0">
              <a:buNone/>
            </a:pPr>
            <a:r>
              <a:rPr lang="en-US" sz="1400" dirty="0">
                <a:solidFill>
                  <a:schemeClr val="tx1"/>
                </a:solidFill>
              </a:rPr>
              <a:t>Una cuenta mula que opera en varios bancos no se detecta</a:t>
            </a:r>
            <a:endParaRPr lang="en-US" sz="1400" dirty="0"/>
          </a:p>
        </p:txBody>
      </p:sp>
      <p:sp>
        <p:nvSpPr>
          <p:cNvPr id="17" name="circulo-45"/>
          <p:cNvSpPr txBox="1"/>
          <p:nvPr/>
        </p:nvSpPr>
        <p:spPr>
          <a:xfrm>
            <a:off x="4846320" y="3840480"/>
            <a:ext cx="502920" cy="502920"/>
          </a:xfrm>
          <a:prstGeom prst="ellipse">
            <a:avLst/>
          </a:prstGeom>
          <a:solidFill>
            <a:schemeClr val="accent4"/>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8" name="texto-46"/>
          <p:cNvSpPr txBox="1"/>
          <p:nvPr/>
        </p:nvSpPr>
        <p:spPr>
          <a:xfrm>
            <a:off x="5577840" y="3749040"/>
            <a:ext cx="6035040" cy="365760"/>
          </a:xfrm>
          <a:prstGeom prst="rect">
            <a:avLst/>
          </a:prstGeom>
          <a:noFill/>
          <a:ln/>
        </p:spPr>
        <p:txBody>
          <a:bodyPr wrap="square" lIns="0" tIns="0" rIns="0" bIns="0" rtlCol="0" anchor="t"/>
          <a:lstStyle/>
          <a:p>
            <a:pPr indent="0" marL="0">
              <a:buNone/>
            </a:pPr>
            <a:r>
              <a:rPr lang="en-US" sz="1800" b="1" dirty="0">
                <a:solidFill>
                  <a:schemeClr val="tx2"/>
                </a:solidFill>
              </a:rPr>
              <a:t>Brecha demográfica</a:t>
            </a:r>
            <a:endParaRPr lang="en-US" sz="1800" dirty="0"/>
          </a:p>
        </p:txBody>
      </p:sp>
      <p:sp>
        <p:nvSpPr>
          <p:cNvPr id="19" name="texto-47"/>
          <p:cNvSpPr txBox="1"/>
          <p:nvPr/>
        </p:nvSpPr>
        <p:spPr>
          <a:xfrm>
            <a:off x="5577840" y="4160520"/>
            <a:ext cx="6035040" cy="548640"/>
          </a:xfrm>
          <a:prstGeom prst="rect">
            <a:avLst/>
          </a:prstGeom>
          <a:noFill/>
          <a:ln/>
        </p:spPr>
        <p:txBody>
          <a:bodyPr wrap="square" lIns="0" tIns="0" rIns="0" bIns="0" rtlCol="0" anchor="t"/>
          <a:lstStyle/>
          <a:p>
            <a:pPr indent="0" marL="0">
              <a:buNone/>
            </a:pPr>
            <a:r>
              <a:rPr lang="en-US" sz="1400" dirty="0">
                <a:solidFill>
                  <a:schemeClr val="tx1"/>
                </a:solidFill>
              </a:rPr>
              <a:t>Adultos mayores prefieren agencias; jóvenes exigen servicios 100 % digitales</a:t>
            </a:r>
            <a:endParaRPr lang="en-US" sz="1400" dirty="0"/>
          </a:p>
        </p:txBody>
      </p:sp>
      <p:sp>
        <p:nvSpPr>
          <p:cNvPr id="20" name="circulo-48"/>
          <p:cNvSpPr txBox="1"/>
          <p:nvPr/>
        </p:nvSpPr>
        <p:spPr>
          <a:xfrm>
            <a:off x="4846320" y="5029200"/>
            <a:ext cx="502920" cy="502920"/>
          </a:xfrm>
          <a:prstGeom prst="ellipse">
            <a:avLst/>
          </a:prstGeom>
          <a:solidFill>
            <a:schemeClr val="accent4"/>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1" name="texto-49"/>
          <p:cNvSpPr txBox="1"/>
          <p:nvPr/>
        </p:nvSpPr>
        <p:spPr>
          <a:xfrm>
            <a:off x="5577840" y="4937760"/>
            <a:ext cx="6035040" cy="365760"/>
          </a:xfrm>
          <a:prstGeom prst="rect">
            <a:avLst/>
          </a:prstGeom>
          <a:noFill/>
          <a:ln/>
        </p:spPr>
        <p:txBody>
          <a:bodyPr wrap="square" lIns="0" tIns="0" rIns="0" bIns="0" rtlCol="0" anchor="t"/>
          <a:lstStyle/>
          <a:p>
            <a:pPr indent="0" marL="0">
              <a:buNone/>
            </a:pPr>
            <a:r>
              <a:rPr lang="en-US" sz="1800" b="1" dirty="0">
                <a:solidFill>
                  <a:schemeClr val="tx2"/>
                </a:solidFill>
              </a:rPr>
              <a:t>Red física subutilizada</a:t>
            </a:r>
            <a:endParaRPr lang="en-US" sz="1800" dirty="0"/>
          </a:p>
        </p:txBody>
      </p:sp>
      <p:sp>
        <p:nvSpPr>
          <p:cNvPr id="22" name="texto-50"/>
          <p:cNvSpPr txBox="1"/>
          <p:nvPr/>
        </p:nvSpPr>
        <p:spPr>
          <a:xfrm>
            <a:off x="5577840" y="5349240"/>
            <a:ext cx="6035040" cy="548640"/>
          </a:xfrm>
          <a:prstGeom prst="rect">
            <a:avLst/>
          </a:prstGeom>
          <a:noFill/>
          <a:ln/>
        </p:spPr>
        <p:txBody>
          <a:bodyPr wrap="square" lIns="0" tIns="0" rIns="0" bIns="0" rtlCol="0" anchor="t"/>
          <a:lstStyle/>
          <a:p>
            <a:pPr indent="0" marL="0">
              <a:buNone/>
            </a:pPr>
            <a:r>
              <a:rPr lang="en-US" sz="1400" dirty="0">
                <a:solidFill>
                  <a:schemeClr val="tx1"/>
                </a:solidFill>
              </a:rPr>
              <a:t>No hay datos para saber dónde falta efectivo o dónde abrir un nodo</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Cómo mediremos el éxito</a:t>
            </a:r>
            <a:endParaRPr lang="en-US" sz="3200" dirty="0"/>
          </a:p>
        </p:txBody>
      </p:sp>
      <p:sp>
        <p:nvSpPr>
          <p:cNvPr id="4" name="tarjeta-51"/>
          <p:cNvSpPr/>
          <p:nvPr/>
        </p:nvSpPr>
        <p:spPr>
          <a:xfrm>
            <a:off x="548640" y="1325880"/>
            <a:ext cx="2624328" cy="2240280"/>
          </a:xfrm>
          <a:prstGeom prst="roundRect">
            <a:avLst>
              <a:gd name="adj" fmla="val 3265"/>
            </a:avLst>
          </a:prstGeom>
          <a:solidFill>
            <a:schemeClr val="bg2"/>
          </a:solidFill>
          <a:ln/>
        </p:spPr>
      </p:sp>
      <p:sp>
        <p:nvSpPr>
          <p:cNvPr id="5" name="texto-52"/>
          <p:cNvSpPr txBox="1"/>
          <p:nvPr/>
        </p:nvSpPr>
        <p:spPr>
          <a:xfrm>
            <a:off x="777240" y="1554480"/>
            <a:ext cx="2194560" cy="685800"/>
          </a:xfrm>
          <a:prstGeom prst="rect">
            <a:avLst/>
          </a:prstGeom>
          <a:noFill/>
          <a:ln/>
        </p:spPr>
        <p:txBody>
          <a:bodyPr wrap="square" lIns="0" tIns="0" rIns="0" bIns="0" rtlCol="0" anchor="b"/>
          <a:lstStyle/>
          <a:p>
            <a:pPr indent="0" marL="0">
              <a:buNone/>
            </a:pPr>
            <a:r>
              <a:rPr lang="en-US" sz="3200" b="1" dirty="0">
                <a:solidFill>
                  <a:schemeClr val="accent3"/>
                </a:solidFill>
                <a:latin typeface="Cambria" pitchFamily="34" charset="0"/>
                <a:ea typeface="Cambria" pitchFamily="34" charset="-122"/>
                <a:cs typeface="Cambria" pitchFamily="34" charset="-120"/>
              </a:rPr>
              <a:t>&lt; 150 ms</a:t>
            </a:r>
            <a:endParaRPr lang="en-US" sz="3200" dirty="0"/>
          </a:p>
        </p:txBody>
      </p:sp>
      <p:sp>
        <p:nvSpPr>
          <p:cNvPr id="6" name="texto-53"/>
          <p:cNvSpPr txBox="1"/>
          <p:nvPr/>
        </p:nvSpPr>
        <p:spPr>
          <a:xfrm>
            <a:off x="777240" y="2331720"/>
            <a:ext cx="2194560" cy="548640"/>
          </a:xfrm>
          <a:prstGeom prst="rect">
            <a:avLst/>
          </a:prstGeom>
          <a:noFill/>
          <a:ln/>
        </p:spPr>
        <p:txBody>
          <a:bodyPr wrap="square" lIns="0" tIns="0" rIns="0" bIns="0" rtlCol="0" anchor="t"/>
          <a:lstStyle/>
          <a:p>
            <a:pPr indent="0" marL="0">
              <a:buNone/>
            </a:pPr>
            <a:r>
              <a:rPr lang="en-US" sz="1500" b="1" dirty="0">
                <a:solidFill>
                  <a:schemeClr val="tx2"/>
                </a:solidFill>
              </a:rPr>
              <a:t>Decisión de fraude (p95)</a:t>
            </a:r>
            <a:endParaRPr lang="en-US" sz="1500" dirty="0"/>
          </a:p>
        </p:txBody>
      </p:sp>
      <p:sp>
        <p:nvSpPr>
          <p:cNvPr id="7" name="texto-54"/>
          <p:cNvSpPr txBox="1"/>
          <p:nvPr/>
        </p:nvSpPr>
        <p:spPr>
          <a:xfrm>
            <a:off x="777240" y="2926080"/>
            <a:ext cx="2194560" cy="457200"/>
          </a:xfrm>
          <a:prstGeom prst="rect">
            <a:avLst/>
          </a:prstGeom>
          <a:noFill/>
          <a:ln/>
        </p:spPr>
        <p:txBody>
          <a:bodyPr wrap="square" lIns="0" tIns="0" rIns="0" bIns="0" rtlCol="0" anchor="t"/>
          <a:lstStyle/>
          <a:p>
            <a:pPr indent="0" marL="0">
              <a:buNone/>
            </a:pPr>
            <a:r>
              <a:rPr lang="en-US" sz="1300" dirty="0">
                <a:solidFill>
                  <a:schemeClr val="accent5"/>
                </a:solidFill>
              </a:rPr>
              <a:t>El cliente no percibe demora</a:t>
            </a:r>
            <a:endParaRPr lang="en-US" sz="1300" dirty="0"/>
          </a:p>
        </p:txBody>
      </p:sp>
      <p:sp>
        <p:nvSpPr>
          <p:cNvPr id="8" name="tarjeta-55"/>
          <p:cNvSpPr/>
          <p:nvPr/>
        </p:nvSpPr>
        <p:spPr>
          <a:xfrm>
            <a:off x="3355848" y="1325880"/>
            <a:ext cx="2624328" cy="2240280"/>
          </a:xfrm>
          <a:prstGeom prst="roundRect">
            <a:avLst>
              <a:gd name="adj" fmla="val 3265"/>
            </a:avLst>
          </a:prstGeom>
          <a:solidFill>
            <a:schemeClr val="bg2"/>
          </a:solidFill>
          <a:ln/>
        </p:spPr>
      </p:sp>
      <p:sp>
        <p:nvSpPr>
          <p:cNvPr id="9" name="texto-56"/>
          <p:cNvSpPr txBox="1"/>
          <p:nvPr/>
        </p:nvSpPr>
        <p:spPr>
          <a:xfrm>
            <a:off x="3584448" y="1554480"/>
            <a:ext cx="2194560" cy="685800"/>
          </a:xfrm>
          <a:prstGeom prst="rect">
            <a:avLst/>
          </a:prstGeom>
          <a:noFill/>
          <a:ln/>
        </p:spPr>
        <p:txBody>
          <a:bodyPr wrap="square" lIns="0" tIns="0" rIns="0" bIns="0" rtlCol="0" anchor="b"/>
          <a:lstStyle/>
          <a:p>
            <a:pPr indent="0" marL="0">
              <a:buNone/>
            </a:pPr>
            <a:r>
              <a:rPr lang="en-US" sz="3200" b="1" dirty="0">
                <a:solidFill>
                  <a:schemeClr val="accent3"/>
                </a:solidFill>
                <a:latin typeface="Cambria" pitchFamily="34" charset="0"/>
                <a:ea typeface="Cambria" pitchFamily="34" charset="-122"/>
                <a:cs typeface="Cambria" pitchFamily="34" charset="-120"/>
              </a:rPr>
              <a:t>≥ 85 %</a:t>
            </a:r>
            <a:endParaRPr lang="en-US" sz="3200" dirty="0"/>
          </a:p>
        </p:txBody>
      </p:sp>
      <p:sp>
        <p:nvSpPr>
          <p:cNvPr id="10" name="texto-57"/>
          <p:cNvSpPr txBox="1"/>
          <p:nvPr/>
        </p:nvSpPr>
        <p:spPr>
          <a:xfrm>
            <a:off x="3584448" y="2331720"/>
            <a:ext cx="2194560" cy="548640"/>
          </a:xfrm>
          <a:prstGeom prst="rect">
            <a:avLst/>
          </a:prstGeom>
          <a:noFill/>
          <a:ln/>
        </p:spPr>
        <p:txBody>
          <a:bodyPr wrap="square" lIns="0" tIns="0" rIns="0" bIns="0" rtlCol="0" anchor="t"/>
          <a:lstStyle/>
          <a:p>
            <a:pPr indent="0" marL="0">
              <a:buNone/>
            </a:pPr>
            <a:r>
              <a:rPr lang="en-US" sz="1500" b="1" dirty="0">
                <a:solidFill>
                  <a:schemeClr val="tx2"/>
                </a:solidFill>
              </a:rPr>
              <a:t>Fraude detectado (recall)</a:t>
            </a:r>
            <a:endParaRPr lang="en-US" sz="1500" dirty="0"/>
          </a:p>
        </p:txBody>
      </p:sp>
      <p:sp>
        <p:nvSpPr>
          <p:cNvPr id="11" name="texto-58"/>
          <p:cNvSpPr txBox="1"/>
          <p:nvPr/>
        </p:nvSpPr>
        <p:spPr>
          <a:xfrm>
            <a:off x="3584448" y="2926080"/>
            <a:ext cx="2194560" cy="457200"/>
          </a:xfrm>
          <a:prstGeom prst="rect">
            <a:avLst/>
          </a:prstGeom>
          <a:noFill/>
          <a:ln/>
        </p:spPr>
        <p:txBody>
          <a:bodyPr wrap="square" lIns="0" tIns="0" rIns="0" bIns="0" rtlCol="0" anchor="t"/>
          <a:lstStyle/>
          <a:p>
            <a:pPr indent="0" marL="0">
              <a:buNone/>
            </a:pPr>
            <a:r>
              <a:rPr lang="en-US" sz="1300" dirty="0">
                <a:solidFill>
                  <a:schemeClr val="accent5"/>
                </a:solidFill>
              </a:rPr>
              <a:t>Menos pérdidas por fraude</a:t>
            </a:r>
            <a:endParaRPr lang="en-US" sz="1300" dirty="0"/>
          </a:p>
        </p:txBody>
      </p:sp>
      <p:sp>
        <p:nvSpPr>
          <p:cNvPr id="12" name="tarjeta-59"/>
          <p:cNvSpPr/>
          <p:nvPr/>
        </p:nvSpPr>
        <p:spPr>
          <a:xfrm>
            <a:off x="6163056" y="1325880"/>
            <a:ext cx="2624328" cy="2240280"/>
          </a:xfrm>
          <a:prstGeom prst="roundRect">
            <a:avLst>
              <a:gd name="adj" fmla="val 3265"/>
            </a:avLst>
          </a:prstGeom>
          <a:solidFill>
            <a:schemeClr val="bg2"/>
          </a:solidFill>
          <a:ln/>
        </p:spPr>
      </p:sp>
      <p:sp>
        <p:nvSpPr>
          <p:cNvPr id="13" name="texto-60"/>
          <p:cNvSpPr txBox="1"/>
          <p:nvPr/>
        </p:nvSpPr>
        <p:spPr>
          <a:xfrm>
            <a:off x="6391656" y="1554480"/>
            <a:ext cx="2194560" cy="685800"/>
          </a:xfrm>
          <a:prstGeom prst="rect">
            <a:avLst/>
          </a:prstGeom>
          <a:noFill/>
          <a:ln/>
        </p:spPr>
        <p:txBody>
          <a:bodyPr wrap="square" lIns="0" tIns="0" rIns="0" bIns="0" rtlCol="0" anchor="b"/>
          <a:lstStyle/>
          <a:p>
            <a:pPr indent="0" marL="0">
              <a:buNone/>
            </a:pPr>
            <a:r>
              <a:rPr lang="en-US" sz="3200" b="1" dirty="0">
                <a:solidFill>
                  <a:schemeClr val="accent3"/>
                </a:solidFill>
                <a:latin typeface="Cambria" pitchFamily="34" charset="0"/>
                <a:ea typeface="Cambria" pitchFamily="34" charset="-122"/>
                <a:cs typeface="Cambria" pitchFamily="34" charset="-120"/>
              </a:rPr>
              <a:t>&lt; 15 %</a:t>
            </a:r>
            <a:endParaRPr lang="en-US" sz="3200" dirty="0"/>
          </a:p>
        </p:txBody>
      </p:sp>
      <p:sp>
        <p:nvSpPr>
          <p:cNvPr id="14" name="texto-61"/>
          <p:cNvSpPr txBox="1"/>
          <p:nvPr/>
        </p:nvSpPr>
        <p:spPr>
          <a:xfrm>
            <a:off x="6391656" y="2331720"/>
            <a:ext cx="2194560" cy="548640"/>
          </a:xfrm>
          <a:prstGeom prst="rect">
            <a:avLst/>
          </a:prstGeom>
          <a:noFill/>
          <a:ln/>
        </p:spPr>
        <p:txBody>
          <a:bodyPr wrap="square" lIns="0" tIns="0" rIns="0" bIns="0" rtlCol="0" anchor="t"/>
          <a:lstStyle/>
          <a:p>
            <a:pPr indent="0" marL="0">
              <a:buNone/>
            </a:pPr>
            <a:r>
              <a:rPr lang="en-US" sz="1500" b="1" dirty="0">
                <a:solidFill>
                  <a:schemeClr val="tx2"/>
                </a:solidFill>
              </a:rPr>
              <a:t>Error del pronóstico de liquidez</a:t>
            </a:r>
            <a:endParaRPr lang="en-US" sz="1500" dirty="0"/>
          </a:p>
        </p:txBody>
      </p:sp>
      <p:sp>
        <p:nvSpPr>
          <p:cNvPr id="15" name="texto-62"/>
          <p:cNvSpPr txBox="1"/>
          <p:nvPr/>
        </p:nvSpPr>
        <p:spPr>
          <a:xfrm>
            <a:off x="6391656" y="2926080"/>
            <a:ext cx="2194560" cy="457200"/>
          </a:xfrm>
          <a:prstGeom prst="rect">
            <a:avLst/>
          </a:prstGeom>
          <a:noFill/>
          <a:ln/>
        </p:spPr>
        <p:txBody>
          <a:bodyPr wrap="square" lIns="0" tIns="0" rIns="0" bIns="0" rtlCol="0" anchor="t"/>
          <a:lstStyle/>
          <a:p>
            <a:pPr indent="0" marL="0">
              <a:buNone/>
            </a:pPr>
            <a:r>
              <a:rPr lang="en-US" sz="1300" dirty="0">
                <a:solidFill>
                  <a:schemeClr val="accent5"/>
                </a:solidFill>
              </a:rPr>
              <a:t>Menos cajeros sin efectivo</a:t>
            </a:r>
            <a:endParaRPr lang="en-US" sz="1300" dirty="0"/>
          </a:p>
        </p:txBody>
      </p:sp>
      <p:sp>
        <p:nvSpPr>
          <p:cNvPr id="16" name="tarjeta-63"/>
          <p:cNvSpPr/>
          <p:nvPr/>
        </p:nvSpPr>
        <p:spPr>
          <a:xfrm>
            <a:off x="8970264" y="1325880"/>
            <a:ext cx="2624328" cy="2240280"/>
          </a:xfrm>
          <a:prstGeom prst="roundRect">
            <a:avLst>
              <a:gd name="adj" fmla="val 3265"/>
            </a:avLst>
          </a:prstGeom>
          <a:solidFill>
            <a:schemeClr val="bg2"/>
          </a:solidFill>
          <a:ln/>
        </p:spPr>
      </p:sp>
      <p:sp>
        <p:nvSpPr>
          <p:cNvPr id="17" name="texto-64"/>
          <p:cNvSpPr txBox="1"/>
          <p:nvPr/>
        </p:nvSpPr>
        <p:spPr>
          <a:xfrm>
            <a:off x="9198864" y="1554480"/>
            <a:ext cx="2194560" cy="685800"/>
          </a:xfrm>
          <a:prstGeom prst="rect">
            <a:avLst/>
          </a:prstGeom>
          <a:noFill/>
          <a:ln/>
        </p:spPr>
        <p:txBody>
          <a:bodyPr wrap="square" lIns="0" tIns="0" rIns="0" bIns="0" rtlCol="0" anchor="b"/>
          <a:lstStyle/>
          <a:p>
            <a:pPr indent="0" marL="0">
              <a:buNone/>
            </a:pPr>
            <a:r>
              <a:rPr lang="en-US" sz="3200" b="1" dirty="0">
                <a:solidFill>
                  <a:schemeClr val="accent3"/>
                </a:solidFill>
                <a:latin typeface="Cambria" pitchFamily="34" charset="0"/>
                <a:ea typeface="Cambria" pitchFamily="34" charset="-122"/>
                <a:cs typeface="Cambria" pitchFamily="34" charset="-120"/>
              </a:rPr>
              <a:t>&lt; 15 min</a:t>
            </a:r>
            <a:endParaRPr lang="en-US" sz="3200" dirty="0"/>
          </a:p>
        </p:txBody>
      </p:sp>
      <p:sp>
        <p:nvSpPr>
          <p:cNvPr id="18" name="texto-65"/>
          <p:cNvSpPr txBox="1"/>
          <p:nvPr/>
        </p:nvSpPr>
        <p:spPr>
          <a:xfrm>
            <a:off x="9198864" y="2331720"/>
            <a:ext cx="2194560" cy="548640"/>
          </a:xfrm>
          <a:prstGeom prst="rect">
            <a:avLst/>
          </a:prstGeom>
          <a:noFill/>
          <a:ln/>
        </p:spPr>
        <p:txBody>
          <a:bodyPr wrap="square" lIns="0" tIns="0" rIns="0" bIns="0" rtlCol="0" anchor="t"/>
          <a:lstStyle/>
          <a:p>
            <a:pPr indent="0" marL="0">
              <a:buNone/>
            </a:pPr>
            <a:r>
              <a:rPr lang="en-US" sz="1500" b="1" dirty="0">
                <a:solidFill>
                  <a:schemeClr val="tx2"/>
                </a:solidFill>
              </a:rPr>
              <a:t>Frescura de los tableros</a:t>
            </a:r>
            <a:endParaRPr lang="en-US" sz="1500" dirty="0"/>
          </a:p>
        </p:txBody>
      </p:sp>
      <p:sp>
        <p:nvSpPr>
          <p:cNvPr id="19" name="texto-66"/>
          <p:cNvSpPr txBox="1"/>
          <p:nvPr/>
        </p:nvSpPr>
        <p:spPr>
          <a:xfrm>
            <a:off x="9198864" y="2926080"/>
            <a:ext cx="2194560" cy="457200"/>
          </a:xfrm>
          <a:prstGeom prst="rect">
            <a:avLst/>
          </a:prstGeom>
          <a:noFill/>
          <a:ln/>
        </p:spPr>
        <p:txBody>
          <a:bodyPr wrap="square" lIns="0" tIns="0" rIns="0" bIns="0" rtlCol="0" anchor="t"/>
          <a:lstStyle/>
          <a:p>
            <a:pPr indent="0" marL="0">
              <a:buNone/>
            </a:pPr>
            <a:r>
              <a:rPr lang="en-US" sz="1300" dirty="0">
                <a:solidFill>
                  <a:schemeClr val="accent5"/>
                </a:solidFill>
              </a:rPr>
              <a:t>Decisiones con datos del día</a:t>
            </a:r>
            <a:endParaRPr lang="en-US" sz="1300" dirty="0"/>
          </a:p>
        </p:txBody>
      </p:sp>
      <p:sp>
        <p:nvSpPr>
          <p:cNvPr id="20" name="tarjeta-67"/>
          <p:cNvSpPr/>
          <p:nvPr/>
        </p:nvSpPr>
        <p:spPr>
          <a:xfrm>
            <a:off x="548640" y="3794760"/>
            <a:ext cx="2624328" cy="2240280"/>
          </a:xfrm>
          <a:prstGeom prst="roundRect">
            <a:avLst>
              <a:gd name="adj" fmla="val 3265"/>
            </a:avLst>
          </a:prstGeom>
          <a:solidFill>
            <a:schemeClr val="bg2"/>
          </a:solidFill>
          <a:ln/>
        </p:spPr>
      </p:sp>
      <p:sp>
        <p:nvSpPr>
          <p:cNvPr id="21" name="texto-68"/>
          <p:cNvSpPr txBox="1"/>
          <p:nvPr/>
        </p:nvSpPr>
        <p:spPr>
          <a:xfrm>
            <a:off x="777240" y="4023360"/>
            <a:ext cx="2194560" cy="685800"/>
          </a:xfrm>
          <a:prstGeom prst="rect">
            <a:avLst/>
          </a:prstGeom>
          <a:noFill/>
          <a:ln/>
        </p:spPr>
        <p:txBody>
          <a:bodyPr wrap="square" lIns="0" tIns="0" rIns="0" bIns="0" rtlCol="0" anchor="b"/>
          <a:lstStyle/>
          <a:p>
            <a:pPr indent="0" marL="0">
              <a:buNone/>
            </a:pPr>
            <a:r>
              <a:rPr lang="en-US" sz="3200" b="1" dirty="0">
                <a:solidFill>
                  <a:schemeClr val="accent3"/>
                </a:solidFill>
                <a:latin typeface="Cambria" pitchFamily="34" charset="0"/>
                <a:ea typeface="Cambria" pitchFamily="34" charset="-122"/>
                <a:cs typeface="Cambria" pitchFamily="34" charset="-120"/>
              </a:rPr>
              <a:t>99.95 %</a:t>
            </a:r>
            <a:endParaRPr lang="en-US" sz="3200" dirty="0"/>
          </a:p>
        </p:txBody>
      </p:sp>
      <p:sp>
        <p:nvSpPr>
          <p:cNvPr id="22" name="texto-69"/>
          <p:cNvSpPr txBox="1"/>
          <p:nvPr/>
        </p:nvSpPr>
        <p:spPr>
          <a:xfrm>
            <a:off x="777240" y="4800600"/>
            <a:ext cx="2194560" cy="548640"/>
          </a:xfrm>
          <a:prstGeom prst="rect">
            <a:avLst/>
          </a:prstGeom>
          <a:noFill/>
          <a:ln/>
        </p:spPr>
        <p:txBody>
          <a:bodyPr wrap="square" lIns="0" tIns="0" rIns="0" bIns="0" rtlCol="0" anchor="t"/>
          <a:lstStyle/>
          <a:p>
            <a:pPr indent="0" marL="0">
              <a:buNone/>
            </a:pPr>
            <a:r>
              <a:rPr lang="en-US" sz="1500" b="1" dirty="0">
                <a:solidFill>
                  <a:schemeClr val="tx2"/>
                </a:solidFill>
              </a:rPr>
              <a:t>Disponibilidad de autorización</a:t>
            </a:r>
            <a:endParaRPr lang="en-US" sz="1500" dirty="0"/>
          </a:p>
        </p:txBody>
      </p:sp>
      <p:sp>
        <p:nvSpPr>
          <p:cNvPr id="23" name="texto-70"/>
          <p:cNvSpPr txBox="1"/>
          <p:nvPr/>
        </p:nvSpPr>
        <p:spPr>
          <a:xfrm>
            <a:off x="777240" y="5394960"/>
            <a:ext cx="2194560" cy="457200"/>
          </a:xfrm>
          <a:prstGeom prst="rect">
            <a:avLst/>
          </a:prstGeom>
          <a:noFill/>
          <a:ln/>
        </p:spPr>
        <p:txBody>
          <a:bodyPr wrap="square" lIns="0" tIns="0" rIns="0" bIns="0" rtlCol="0" anchor="t"/>
          <a:lstStyle/>
          <a:p>
            <a:pPr indent="0" marL="0">
              <a:buNone/>
            </a:pPr>
            <a:r>
              <a:rPr lang="en-US" sz="1300" dirty="0">
                <a:solidFill>
                  <a:schemeClr val="accent5"/>
                </a:solidFill>
              </a:rPr>
              <a:t>Menos de 22 min caída al mes</a:t>
            </a:r>
            <a:endParaRPr lang="en-US" sz="1300" dirty="0"/>
          </a:p>
        </p:txBody>
      </p:sp>
      <p:sp>
        <p:nvSpPr>
          <p:cNvPr id="24" name="tarjeta-71"/>
          <p:cNvSpPr/>
          <p:nvPr/>
        </p:nvSpPr>
        <p:spPr>
          <a:xfrm>
            <a:off x="3355848" y="3794760"/>
            <a:ext cx="2624328" cy="2240280"/>
          </a:xfrm>
          <a:prstGeom prst="roundRect">
            <a:avLst>
              <a:gd name="adj" fmla="val 3265"/>
            </a:avLst>
          </a:prstGeom>
          <a:solidFill>
            <a:schemeClr val="bg2"/>
          </a:solidFill>
          <a:ln/>
        </p:spPr>
      </p:sp>
      <p:sp>
        <p:nvSpPr>
          <p:cNvPr id="25" name="texto-72"/>
          <p:cNvSpPr txBox="1"/>
          <p:nvPr/>
        </p:nvSpPr>
        <p:spPr>
          <a:xfrm>
            <a:off x="3584448" y="4023360"/>
            <a:ext cx="2194560" cy="685800"/>
          </a:xfrm>
          <a:prstGeom prst="rect">
            <a:avLst/>
          </a:prstGeom>
          <a:noFill/>
          <a:ln/>
        </p:spPr>
        <p:txBody>
          <a:bodyPr wrap="square" lIns="0" tIns="0" rIns="0" bIns="0" rtlCol="0" anchor="b"/>
          <a:lstStyle/>
          <a:p>
            <a:pPr indent="0" marL="0">
              <a:buNone/>
            </a:pPr>
            <a:r>
              <a:rPr lang="en-US" sz="3200" b="1" dirty="0">
                <a:solidFill>
                  <a:schemeClr val="accent3"/>
                </a:solidFill>
                <a:latin typeface="Cambria" pitchFamily="34" charset="0"/>
                <a:ea typeface="Cambria" pitchFamily="34" charset="-122"/>
                <a:cs typeface="Cambria" pitchFamily="34" charset="-120"/>
              </a:rPr>
              <a:t>5,000 TPS</a:t>
            </a:r>
            <a:endParaRPr lang="en-US" sz="3200" dirty="0"/>
          </a:p>
        </p:txBody>
      </p:sp>
      <p:sp>
        <p:nvSpPr>
          <p:cNvPr id="26" name="texto-73"/>
          <p:cNvSpPr txBox="1"/>
          <p:nvPr/>
        </p:nvSpPr>
        <p:spPr>
          <a:xfrm>
            <a:off x="3584448" y="4800600"/>
            <a:ext cx="2194560" cy="548640"/>
          </a:xfrm>
          <a:prstGeom prst="rect">
            <a:avLst/>
          </a:prstGeom>
          <a:noFill/>
          <a:ln/>
        </p:spPr>
        <p:txBody>
          <a:bodyPr wrap="square" lIns="0" tIns="0" rIns="0" bIns="0" rtlCol="0" anchor="t"/>
          <a:lstStyle/>
          <a:p>
            <a:pPr indent="0" marL="0">
              <a:buNone/>
            </a:pPr>
            <a:r>
              <a:rPr lang="en-US" sz="1500" b="1" dirty="0">
                <a:solidFill>
                  <a:schemeClr val="tx2"/>
                </a:solidFill>
              </a:rPr>
              <a:t>Pico soportado</a:t>
            </a:r>
            <a:endParaRPr lang="en-US" sz="1500" dirty="0"/>
          </a:p>
        </p:txBody>
      </p:sp>
      <p:sp>
        <p:nvSpPr>
          <p:cNvPr id="27" name="texto-74"/>
          <p:cNvSpPr txBox="1"/>
          <p:nvPr/>
        </p:nvSpPr>
        <p:spPr>
          <a:xfrm>
            <a:off x="3584448" y="5394960"/>
            <a:ext cx="2194560" cy="457200"/>
          </a:xfrm>
          <a:prstGeom prst="rect">
            <a:avLst/>
          </a:prstGeom>
          <a:noFill/>
          <a:ln/>
        </p:spPr>
        <p:txBody>
          <a:bodyPr wrap="square" lIns="0" tIns="0" rIns="0" bIns="0" rtlCol="0" anchor="t"/>
          <a:lstStyle/>
          <a:p>
            <a:pPr indent="0" marL="0">
              <a:buNone/>
            </a:pPr>
            <a:r>
              <a:rPr lang="en-US" sz="1300" dirty="0">
                <a:solidFill>
                  <a:schemeClr val="accent5"/>
                </a:solidFill>
              </a:rPr>
              <a:t>Cyber Days y días de pago</a:t>
            </a:r>
            <a:endParaRPr lang="en-US" sz="1300" dirty="0"/>
          </a:p>
        </p:txBody>
      </p:sp>
      <p:sp>
        <p:nvSpPr>
          <p:cNvPr id="28" name="tarjeta-75"/>
          <p:cNvSpPr/>
          <p:nvPr/>
        </p:nvSpPr>
        <p:spPr>
          <a:xfrm>
            <a:off x="6163056" y="3794760"/>
            <a:ext cx="2624328" cy="2240280"/>
          </a:xfrm>
          <a:prstGeom prst="roundRect">
            <a:avLst>
              <a:gd name="adj" fmla="val 3265"/>
            </a:avLst>
          </a:prstGeom>
          <a:solidFill>
            <a:schemeClr val="bg2"/>
          </a:solidFill>
          <a:ln/>
        </p:spPr>
      </p:sp>
      <p:sp>
        <p:nvSpPr>
          <p:cNvPr id="29" name="texto-76"/>
          <p:cNvSpPr txBox="1"/>
          <p:nvPr/>
        </p:nvSpPr>
        <p:spPr>
          <a:xfrm>
            <a:off x="6391656" y="4023360"/>
            <a:ext cx="2194560" cy="685800"/>
          </a:xfrm>
          <a:prstGeom prst="rect">
            <a:avLst/>
          </a:prstGeom>
          <a:noFill/>
          <a:ln/>
        </p:spPr>
        <p:txBody>
          <a:bodyPr wrap="square" lIns="0" tIns="0" rIns="0" bIns="0" rtlCol="0" anchor="b"/>
          <a:lstStyle/>
          <a:p>
            <a:pPr indent="0" marL="0">
              <a:buNone/>
            </a:pPr>
            <a:r>
              <a:rPr lang="en-US" sz="3200" b="1" dirty="0">
                <a:solidFill>
                  <a:schemeClr val="accent3"/>
                </a:solidFill>
                <a:latin typeface="Cambria" pitchFamily="34" charset="0"/>
                <a:ea typeface="Cambria" pitchFamily="34" charset="-122"/>
                <a:cs typeface="Cambria" pitchFamily="34" charset="-120"/>
              </a:rPr>
              <a:t>≤ USD 12</a:t>
            </a:r>
            <a:endParaRPr lang="en-US" sz="3200" dirty="0"/>
          </a:p>
        </p:txBody>
      </p:sp>
      <p:sp>
        <p:nvSpPr>
          <p:cNvPr id="30" name="texto-77"/>
          <p:cNvSpPr txBox="1"/>
          <p:nvPr/>
        </p:nvSpPr>
        <p:spPr>
          <a:xfrm>
            <a:off x="6391656" y="4800600"/>
            <a:ext cx="2194560" cy="548640"/>
          </a:xfrm>
          <a:prstGeom prst="rect">
            <a:avLst/>
          </a:prstGeom>
          <a:noFill/>
          <a:ln/>
        </p:spPr>
        <p:txBody>
          <a:bodyPr wrap="square" lIns="0" tIns="0" rIns="0" bIns="0" rtlCol="0" anchor="t"/>
          <a:lstStyle/>
          <a:p>
            <a:pPr indent="0" marL="0">
              <a:buNone/>
            </a:pPr>
            <a:r>
              <a:rPr lang="en-US" sz="1500" b="1" dirty="0">
                <a:solidFill>
                  <a:schemeClr val="tx2"/>
                </a:solidFill>
              </a:rPr>
              <a:t>Costo por millón de tx</a:t>
            </a:r>
            <a:endParaRPr lang="en-US" sz="1500" dirty="0"/>
          </a:p>
        </p:txBody>
      </p:sp>
      <p:sp>
        <p:nvSpPr>
          <p:cNvPr id="31" name="texto-78"/>
          <p:cNvSpPr txBox="1"/>
          <p:nvPr/>
        </p:nvSpPr>
        <p:spPr>
          <a:xfrm>
            <a:off x="6391656" y="5394960"/>
            <a:ext cx="2194560" cy="457200"/>
          </a:xfrm>
          <a:prstGeom prst="rect">
            <a:avLst/>
          </a:prstGeom>
          <a:noFill/>
          <a:ln/>
        </p:spPr>
        <p:txBody>
          <a:bodyPr wrap="square" lIns="0" tIns="0" rIns="0" bIns="0" rtlCol="0" anchor="t"/>
          <a:lstStyle/>
          <a:p>
            <a:pPr indent="0" marL="0">
              <a:buNone/>
            </a:pPr>
            <a:r>
              <a:rPr lang="en-US" sz="1300" dirty="0">
                <a:solidFill>
                  <a:schemeClr val="accent5"/>
                </a:solidFill>
              </a:rPr>
              <a:t>Costo unitario conocido</a:t>
            </a:r>
            <a:endParaRPr lang="en-US" sz="1300" dirty="0"/>
          </a:p>
        </p:txBody>
      </p:sp>
      <p:sp>
        <p:nvSpPr>
          <p:cNvPr id="32" name="tarjeta-79"/>
          <p:cNvSpPr/>
          <p:nvPr/>
        </p:nvSpPr>
        <p:spPr>
          <a:xfrm>
            <a:off x="8970264" y="3794760"/>
            <a:ext cx="2624328" cy="2240280"/>
          </a:xfrm>
          <a:prstGeom prst="roundRect">
            <a:avLst>
              <a:gd name="adj" fmla="val 3265"/>
            </a:avLst>
          </a:prstGeom>
          <a:solidFill>
            <a:schemeClr val="bg2"/>
          </a:solidFill>
          <a:ln/>
        </p:spPr>
      </p:sp>
      <p:sp>
        <p:nvSpPr>
          <p:cNvPr id="33" name="texto-80"/>
          <p:cNvSpPr txBox="1"/>
          <p:nvPr/>
        </p:nvSpPr>
        <p:spPr>
          <a:xfrm>
            <a:off x="9198864" y="4023360"/>
            <a:ext cx="2194560" cy="685800"/>
          </a:xfrm>
          <a:prstGeom prst="rect">
            <a:avLst/>
          </a:prstGeom>
          <a:noFill/>
          <a:ln/>
        </p:spPr>
        <p:txBody>
          <a:bodyPr wrap="square" lIns="0" tIns="0" rIns="0" bIns="0" rtlCol="0" anchor="b"/>
          <a:lstStyle/>
          <a:p>
            <a:pPr indent="0" marL="0">
              <a:buNone/>
            </a:pPr>
            <a:r>
              <a:rPr lang="en-US" sz="3200" b="1" dirty="0">
                <a:solidFill>
                  <a:schemeClr val="accent3"/>
                </a:solidFill>
                <a:latin typeface="Cambria" pitchFamily="34" charset="0"/>
                <a:ea typeface="Cambria" pitchFamily="34" charset="-122"/>
                <a:cs typeface="Cambria" pitchFamily="34" charset="-120"/>
              </a:rPr>
              <a:t>&lt; 5 min</a:t>
            </a:r>
            <a:endParaRPr lang="en-US" sz="3200" dirty="0"/>
          </a:p>
        </p:txBody>
      </p:sp>
      <p:sp>
        <p:nvSpPr>
          <p:cNvPr id="34" name="texto-81"/>
          <p:cNvSpPr txBox="1"/>
          <p:nvPr/>
        </p:nvSpPr>
        <p:spPr>
          <a:xfrm>
            <a:off x="9198864" y="4800600"/>
            <a:ext cx="2194560" cy="548640"/>
          </a:xfrm>
          <a:prstGeom prst="rect">
            <a:avLst/>
          </a:prstGeom>
          <a:noFill/>
          <a:ln/>
        </p:spPr>
        <p:txBody>
          <a:bodyPr wrap="square" lIns="0" tIns="0" rIns="0" bIns="0" rtlCol="0" anchor="t"/>
          <a:lstStyle/>
          <a:p>
            <a:pPr indent="0" marL="0">
              <a:buNone/>
            </a:pPr>
            <a:r>
              <a:rPr lang="en-US" sz="1500" b="1" dirty="0">
                <a:solidFill>
                  <a:schemeClr val="tx2"/>
                </a:solidFill>
              </a:rPr>
              <a:t>RTO del Tier 0 (RPO ≈ 0)</a:t>
            </a:r>
            <a:endParaRPr lang="en-US" sz="1500" dirty="0"/>
          </a:p>
        </p:txBody>
      </p:sp>
      <p:sp>
        <p:nvSpPr>
          <p:cNvPr id="35" name="texto-82"/>
          <p:cNvSpPr txBox="1"/>
          <p:nvPr/>
        </p:nvSpPr>
        <p:spPr>
          <a:xfrm>
            <a:off x="9198864" y="5394960"/>
            <a:ext cx="2194560" cy="457200"/>
          </a:xfrm>
          <a:prstGeom prst="rect">
            <a:avLst/>
          </a:prstGeom>
          <a:noFill/>
          <a:ln/>
        </p:spPr>
        <p:txBody>
          <a:bodyPr wrap="square" lIns="0" tIns="0" rIns="0" bIns="0" rtlCol="0" anchor="t"/>
          <a:lstStyle/>
          <a:p>
            <a:pPr indent="0" marL="0">
              <a:buNone/>
            </a:pPr>
            <a:r>
              <a:rPr lang="en-US" sz="1300" dirty="0">
                <a:solidFill>
                  <a:schemeClr val="accent5"/>
                </a:solidFill>
              </a:rPr>
              <a:t>Continuidad probada</a:t>
            </a:r>
            <a:endParaRPr lang="en-US" sz="13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Stack Google Cloud con núcleo open source</a:t>
            </a:r>
            <a:endParaRPr lang="en-US" sz="3200" dirty="0"/>
          </a:p>
        </p:txBody>
      </p:sp>
      <p:sp>
        <p:nvSpPr>
          <p:cNvPr id="4" name="capa-83"/>
          <p:cNvSpPr txBox="1"/>
          <p:nvPr/>
        </p:nvSpPr>
        <p:spPr>
          <a:xfrm>
            <a:off x="548640" y="1325880"/>
            <a:ext cx="1737360" cy="685800"/>
          </a:xfrm>
          <a:prstGeom prst="roundRect">
            <a:avLst>
              <a:gd name="adj" fmla="val 10667"/>
            </a:avLst>
          </a:prstGeom>
          <a:solidFill>
            <a:schemeClr val="accent2"/>
          </a:solidFill>
          <a:ln/>
        </p:spPr>
        <p:txBody>
          <a:bodyPr wrap="square" lIns="635" tIns="635" rIns="635" bIns="635" rtlCol="0" anchor="ctr"/>
          <a:lstStyle/>
          <a:p>
            <a:pPr algn="ctr" indent="0" marL="0">
              <a:buNone/>
            </a:pPr>
            <a:r>
              <a:rPr lang="en-US" sz="1500" b="1" dirty="0">
                <a:solidFill>
                  <a:schemeClr val="bg1"/>
                </a:solidFill>
              </a:rPr>
              <a:t>Ingesta</a:t>
            </a:r>
            <a:endParaRPr lang="en-US" sz="1500" dirty="0"/>
          </a:p>
        </p:txBody>
      </p:sp>
      <p:sp>
        <p:nvSpPr>
          <p:cNvPr id="5" name="tarjeta-84"/>
          <p:cNvSpPr/>
          <p:nvPr/>
        </p:nvSpPr>
        <p:spPr>
          <a:xfrm>
            <a:off x="548640" y="2148840"/>
            <a:ext cx="1737360" cy="3931920"/>
          </a:xfrm>
          <a:prstGeom prst="roundRect">
            <a:avLst>
              <a:gd name="adj" fmla="val 4211"/>
            </a:avLst>
          </a:prstGeom>
          <a:solidFill>
            <a:schemeClr val="bg2"/>
          </a:solidFill>
          <a:ln/>
        </p:spPr>
      </p:sp>
      <p:sp>
        <p:nvSpPr>
          <p:cNvPr id="6" name="texto-85"/>
          <p:cNvSpPr txBox="1"/>
          <p:nvPr/>
        </p:nvSpPr>
        <p:spPr>
          <a:xfrm>
            <a:off x="640080" y="2331720"/>
            <a:ext cx="1554480" cy="356616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chemeClr val="tx1"/>
                </a:solidFill>
              </a:rPr>
              <a:t>Pub/Sub</a:t>
            </a:r>
            <a:endParaRPr lang="en-US" sz="1400" dirty="0"/>
          </a:p>
          <a:p>
            <a:pPr marL="342900" indent="-342900">
              <a:spcAft>
                <a:spcPts val="1000"/>
              </a:spcAft>
              <a:buSzPct val="100000"/>
              <a:buChar char="•"/>
            </a:pPr>
            <a:r>
              <a:rPr lang="en-US" sz="1400" dirty="0">
                <a:solidFill>
                  <a:schemeClr val="tx1"/>
                </a:solidFill>
              </a:rPr>
              <a:t>Datastream (CDC)</a:t>
            </a:r>
            <a:endParaRPr lang="en-US" sz="1400" dirty="0"/>
          </a:p>
          <a:p>
            <a:pPr marL="342900" indent="-342900">
              <a:spcAft>
                <a:spcPts val="1000"/>
              </a:spcAft>
              <a:buSzPct val="100000"/>
              <a:buChar char="•"/>
            </a:pPr>
            <a:r>
              <a:rPr lang="en-US" sz="1400" dirty="0">
                <a:solidFill>
                  <a:schemeClr val="tx1"/>
                </a:solidFill>
              </a:rPr>
              <a:t>Analytics Hub</a:t>
            </a:r>
            <a:endParaRPr lang="en-US" sz="1400" dirty="0"/>
          </a:p>
          <a:p>
            <a:pPr marL="342900" indent="-342900">
              <a:spcAft>
                <a:spcPts val="1000"/>
              </a:spcAft>
              <a:buSzPct val="100000"/>
              <a:buChar char="•"/>
            </a:pPr>
            <a:r>
              <a:rPr lang="en-US" sz="1400" dirty="0">
                <a:solidFill>
                  <a:schemeClr val="tx1"/>
                </a:solidFill>
              </a:rPr>
              <a:t>Storage Transfer</a:t>
            </a:r>
            <a:endParaRPr lang="en-US" sz="1400" dirty="0"/>
          </a:p>
        </p:txBody>
      </p:sp>
      <p:sp>
        <p:nvSpPr>
          <p:cNvPr id="7" name="capa-86"/>
          <p:cNvSpPr txBox="1"/>
          <p:nvPr/>
        </p:nvSpPr>
        <p:spPr>
          <a:xfrm>
            <a:off x="2423160" y="1325880"/>
            <a:ext cx="1737360" cy="685800"/>
          </a:xfrm>
          <a:prstGeom prst="roundRect">
            <a:avLst>
              <a:gd name="adj" fmla="val 10667"/>
            </a:avLst>
          </a:prstGeom>
          <a:solidFill>
            <a:schemeClr val="accent3"/>
          </a:solidFill>
          <a:ln/>
        </p:spPr>
        <p:txBody>
          <a:bodyPr wrap="square" lIns="635" tIns="635" rIns="635" bIns="635" rtlCol="0" anchor="ctr"/>
          <a:lstStyle/>
          <a:p>
            <a:pPr algn="ctr" indent="0" marL="0">
              <a:buNone/>
            </a:pPr>
            <a:r>
              <a:rPr lang="en-US" sz="1500" b="1" dirty="0">
                <a:solidFill>
                  <a:schemeClr val="bg1"/>
                </a:solidFill>
              </a:rPr>
              <a:t>Procesamiento</a:t>
            </a:r>
            <a:endParaRPr lang="en-US" sz="1500" dirty="0"/>
          </a:p>
        </p:txBody>
      </p:sp>
      <p:sp>
        <p:nvSpPr>
          <p:cNvPr id="8" name="tarjeta-87"/>
          <p:cNvSpPr/>
          <p:nvPr/>
        </p:nvSpPr>
        <p:spPr>
          <a:xfrm>
            <a:off x="2423160" y="2148840"/>
            <a:ext cx="1737360" cy="3931920"/>
          </a:xfrm>
          <a:prstGeom prst="roundRect">
            <a:avLst>
              <a:gd name="adj" fmla="val 4211"/>
            </a:avLst>
          </a:prstGeom>
          <a:solidFill>
            <a:schemeClr val="bg2"/>
          </a:solidFill>
          <a:ln/>
        </p:spPr>
      </p:sp>
      <p:sp>
        <p:nvSpPr>
          <p:cNvPr id="9" name="texto-88"/>
          <p:cNvSpPr txBox="1"/>
          <p:nvPr/>
        </p:nvSpPr>
        <p:spPr>
          <a:xfrm>
            <a:off x="2514600" y="2331720"/>
            <a:ext cx="1554480" cy="356616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chemeClr val="tx1"/>
                </a:solidFill>
              </a:rPr>
              <a:t>Dataflow · Apache Beam</a:t>
            </a:r>
            <a:endParaRPr lang="en-US" sz="1400" dirty="0"/>
          </a:p>
          <a:p>
            <a:pPr marL="342900" indent="-342900">
              <a:spcAft>
                <a:spcPts val="1000"/>
              </a:spcAft>
              <a:buSzPct val="100000"/>
              <a:buChar char="•"/>
            </a:pPr>
            <a:r>
              <a:rPr lang="en-US" sz="1400" dirty="0">
                <a:solidFill>
                  <a:schemeClr val="tx1"/>
                </a:solidFill>
              </a:rPr>
              <a:t>Dataproc Serverless · Spark</a:t>
            </a:r>
            <a:endParaRPr lang="en-US" sz="1400" dirty="0"/>
          </a:p>
          <a:p>
            <a:pPr marL="342900" indent="-342900">
              <a:spcAft>
                <a:spcPts val="1000"/>
              </a:spcAft>
              <a:buSzPct val="100000"/>
              <a:buChar char="•"/>
            </a:pPr>
            <a:r>
              <a:rPr lang="en-US" sz="1400" dirty="0">
                <a:solidFill>
                  <a:schemeClr val="tx1"/>
                </a:solidFill>
              </a:rPr>
              <a:t>BigQuery SQL</a:t>
            </a:r>
            <a:endParaRPr lang="en-US" sz="1400" dirty="0"/>
          </a:p>
        </p:txBody>
      </p:sp>
      <p:sp>
        <p:nvSpPr>
          <p:cNvPr id="10" name="capa-89"/>
          <p:cNvSpPr txBox="1"/>
          <p:nvPr/>
        </p:nvSpPr>
        <p:spPr>
          <a:xfrm>
            <a:off x="4297680" y="1325880"/>
            <a:ext cx="1737360" cy="685800"/>
          </a:xfrm>
          <a:prstGeom prst="roundRect">
            <a:avLst>
              <a:gd name="adj" fmla="val 10667"/>
            </a:avLst>
          </a:prstGeom>
          <a:solidFill>
            <a:schemeClr val="tx2"/>
          </a:solidFill>
          <a:ln/>
        </p:spPr>
        <p:txBody>
          <a:bodyPr wrap="square" lIns="635" tIns="635" rIns="635" bIns="635" rtlCol="0" anchor="ctr"/>
          <a:lstStyle/>
          <a:p>
            <a:pPr algn="ctr" indent="0" marL="0">
              <a:buNone/>
            </a:pPr>
            <a:r>
              <a:rPr lang="en-US" sz="1500" b="1" dirty="0">
                <a:solidFill>
                  <a:schemeClr val="bg1"/>
                </a:solidFill>
              </a:rPr>
              <a:t>Almacenamiento</a:t>
            </a:r>
            <a:endParaRPr lang="en-US" sz="1500" dirty="0"/>
          </a:p>
        </p:txBody>
      </p:sp>
      <p:sp>
        <p:nvSpPr>
          <p:cNvPr id="11" name="tarjeta-90"/>
          <p:cNvSpPr/>
          <p:nvPr/>
        </p:nvSpPr>
        <p:spPr>
          <a:xfrm>
            <a:off x="4297680" y="2148840"/>
            <a:ext cx="1737360" cy="3931920"/>
          </a:xfrm>
          <a:prstGeom prst="roundRect">
            <a:avLst>
              <a:gd name="adj" fmla="val 4211"/>
            </a:avLst>
          </a:prstGeom>
          <a:solidFill>
            <a:schemeClr val="bg2"/>
          </a:solidFill>
          <a:ln/>
        </p:spPr>
      </p:sp>
      <p:sp>
        <p:nvSpPr>
          <p:cNvPr id="12" name="texto-91"/>
          <p:cNvSpPr txBox="1"/>
          <p:nvPr/>
        </p:nvSpPr>
        <p:spPr>
          <a:xfrm>
            <a:off x="4389120" y="2331720"/>
            <a:ext cx="1554480" cy="356616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chemeClr val="tx1"/>
                </a:solidFill>
              </a:rPr>
              <a:t>Cloud Storage · Parquet/Iceberg</a:t>
            </a:r>
            <a:endParaRPr lang="en-US" sz="1400" dirty="0"/>
          </a:p>
          <a:p>
            <a:pPr marL="342900" indent="-342900">
              <a:spcAft>
                <a:spcPts val="1000"/>
              </a:spcAft>
              <a:buSzPct val="100000"/>
              <a:buChar char="•"/>
            </a:pPr>
            <a:r>
              <a:rPr lang="en-US" sz="1400" dirty="0">
                <a:solidFill>
                  <a:schemeClr val="tx1"/>
                </a:solidFill>
              </a:rPr>
              <a:t>BigQuery Lakehouse</a:t>
            </a:r>
            <a:endParaRPr lang="en-US" sz="1400" dirty="0"/>
          </a:p>
          <a:p>
            <a:pPr marL="342900" indent="-342900">
              <a:spcAft>
                <a:spcPts val="1000"/>
              </a:spcAft>
              <a:buSzPct val="100000"/>
              <a:buChar char="•"/>
            </a:pPr>
            <a:r>
              <a:rPr lang="en-US" sz="1400" dirty="0">
                <a:solidFill>
                  <a:schemeClr val="tx1"/>
                </a:solidFill>
              </a:rPr>
              <a:t>Memorystore · Redis/Valkey</a:t>
            </a:r>
            <a:endParaRPr lang="en-US" sz="1400" dirty="0"/>
          </a:p>
        </p:txBody>
      </p:sp>
      <p:sp>
        <p:nvSpPr>
          <p:cNvPr id="13" name="capa-92"/>
          <p:cNvSpPr txBox="1"/>
          <p:nvPr/>
        </p:nvSpPr>
        <p:spPr>
          <a:xfrm>
            <a:off x="6172200" y="1325880"/>
            <a:ext cx="1737360" cy="685800"/>
          </a:xfrm>
          <a:prstGeom prst="roundRect">
            <a:avLst>
              <a:gd name="adj" fmla="val 10667"/>
            </a:avLst>
          </a:prstGeom>
          <a:solidFill>
            <a:schemeClr val="accent4"/>
          </a:solidFill>
          <a:ln/>
        </p:spPr>
        <p:txBody>
          <a:bodyPr wrap="square" lIns="635" tIns="635" rIns="635" bIns="635" rtlCol="0" anchor="ctr"/>
          <a:lstStyle/>
          <a:p>
            <a:pPr algn="ctr" indent="0" marL="0">
              <a:buNone/>
            </a:pPr>
            <a:r>
              <a:rPr lang="en-US" sz="1500" b="1" dirty="0">
                <a:solidFill>
                  <a:schemeClr val="bg1"/>
                </a:solidFill>
              </a:rPr>
              <a:t>Inteligencia</a:t>
            </a:r>
            <a:endParaRPr lang="en-US" sz="1500" dirty="0"/>
          </a:p>
        </p:txBody>
      </p:sp>
      <p:sp>
        <p:nvSpPr>
          <p:cNvPr id="14" name="tarjeta-93"/>
          <p:cNvSpPr/>
          <p:nvPr/>
        </p:nvSpPr>
        <p:spPr>
          <a:xfrm>
            <a:off x="6172200" y="2148840"/>
            <a:ext cx="1737360" cy="3931920"/>
          </a:xfrm>
          <a:prstGeom prst="roundRect">
            <a:avLst>
              <a:gd name="adj" fmla="val 4211"/>
            </a:avLst>
          </a:prstGeom>
          <a:solidFill>
            <a:schemeClr val="bg2"/>
          </a:solidFill>
          <a:ln/>
        </p:spPr>
      </p:sp>
      <p:sp>
        <p:nvSpPr>
          <p:cNvPr id="15" name="texto-94"/>
          <p:cNvSpPr txBox="1"/>
          <p:nvPr/>
        </p:nvSpPr>
        <p:spPr>
          <a:xfrm>
            <a:off x="6263640" y="2331720"/>
            <a:ext cx="1554480" cy="356616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chemeClr val="tx1"/>
                </a:solidFill>
              </a:rPr>
              <a:t>BigQuery ML · XGBoost</a:t>
            </a:r>
            <a:endParaRPr lang="en-US" sz="1400" dirty="0"/>
          </a:p>
          <a:p>
            <a:pPr marL="342900" indent="-342900">
              <a:spcAft>
                <a:spcPts val="1000"/>
              </a:spcAft>
              <a:buSzPct val="100000"/>
              <a:buChar char="•"/>
            </a:pPr>
            <a:r>
              <a:rPr lang="en-US" sz="1400" dirty="0">
                <a:solidFill>
                  <a:schemeClr val="tx1"/>
                </a:solidFill>
              </a:rPr>
              <a:t>BigQuery ML · ARIMA_PLUS</a:t>
            </a:r>
            <a:endParaRPr lang="en-US" sz="1400" dirty="0"/>
          </a:p>
          <a:p>
            <a:pPr marL="342900" indent="-342900">
              <a:spcAft>
                <a:spcPts val="1000"/>
              </a:spcAft>
              <a:buSzPct val="100000"/>
              <a:buChar char="•"/>
            </a:pPr>
            <a:r>
              <a:rPr lang="en-US" sz="1400" dirty="0">
                <a:solidFill>
                  <a:schemeClr val="tx1"/>
                </a:solidFill>
              </a:rPr>
              <a:t>Vertex AI (fase 2)</a:t>
            </a:r>
            <a:endParaRPr lang="en-US" sz="1400" dirty="0"/>
          </a:p>
        </p:txBody>
      </p:sp>
      <p:sp>
        <p:nvSpPr>
          <p:cNvPr id="16" name="capa-95"/>
          <p:cNvSpPr txBox="1"/>
          <p:nvPr/>
        </p:nvSpPr>
        <p:spPr>
          <a:xfrm>
            <a:off x="8046720" y="1325880"/>
            <a:ext cx="1737360" cy="685800"/>
          </a:xfrm>
          <a:prstGeom prst="roundRect">
            <a:avLst>
              <a:gd name="adj" fmla="val 10667"/>
            </a:avLst>
          </a:prstGeom>
          <a:solidFill>
            <a:schemeClr val="accent1"/>
          </a:solidFill>
          <a:ln/>
        </p:spPr>
        <p:txBody>
          <a:bodyPr wrap="square" lIns="635" tIns="635" rIns="635" bIns="635" rtlCol="0" anchor="ctr"/>
          <a:lstStyle/>
          <a:p>
            <a:pPr algn="ctr" indent="0" marL="0">
              <a:buNone/>
            </a:pPr>
            <a:r>
              <a:rPr lang="en-US" sz="1500" b="1" dirty="0">
                <a:solidFill>
                  <a:schemeClr val="tx2"/>
                </a:solidFill>
              </a:rPr>
              <a:t>Exposición</a:t>
            </a:r>
            <a:endParaRPr lang="en-US" sz="1500" dirty="0"/>
          </a:p>
        </p:txBody>
      </p:sp>
      <p:sp>
        <p:nvSpPr>
          <p:cNvPr id="17" name="tarjeta-96"/>
          <p:cNvSpPr/>
          <p:nvPr/>
        </p:nvSpPr>
        <p:spPr>
          <a:xfrm>
            <a:off x="8046720" y="2148840"/>
            <a:ext cx="1737360" cy="3931920"/>
          </a:xfrm>
          <a:prstGeom prst="roundRect">
            <a:avLst>
              <a:gd name="adj" fmla="val 4211"/>
            </a:avLst>
          </a:prstGeom>
          <a:solidFill>
            <a:schemeClr val="bg2"/>
          </a:solidFill>
          <a:ln/>
        </p:spPr>
      </p:sp>
      <p:sp>
        <p:nvSpPr>
          <p:cNvPr id="18" name="texto-97"/>
          <p:cNvSpPr txBox="1"/>
          <p:nvPr/>
        </p:nvSpPr>
        <p:spPr>
          <a:xfrm>
            <a:off x="8138160" y="2331720"/>
            <a:ext cx="1554480" cy="356616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chemeClr val="tx1"/>
                </a:solidFill>
              </a:rPr>
              <a:t>Cloud Run · FastAPI</a:t>
            </a:r>
            <a:endParaRPr lang="en-US" sz="1400" dirty="0"/>
          </a:p>
          <a:p>
            <a:pPr marL="342900" indent="-342900">
              <a:spcAft>
                <a:spcPts val="1000"/>
              </a:spcAft>
              <a:buSzPct val="100000"/>
              <a:buChar char="•"/>
            </a:pPr>
            <a:r>
              <a:rPr lang="en-US" sz="1400" dirty="0">
                <a:solidFill>
                  <a:schemeClr val="tx1"/>
                </a:solidFill>
              </a:rPr>
              <a:t>Looker Studio</a:t>
            </a:r>
            <a:endParaRPr lang="en-US" sz="1400" dirty="0"/>
          </a:p>
          <a:p>
            <a:pPr marL="342900" indent="-342900">
              <a:spcAft>
                <a:spcPts val="1000"/>
              </a:spcAft>
              <a:buSzPct val="100000"/>
              <a:buChar char="•"/>
            </a:pPr>
            <a:r>
              <a:rPr lang="en-US" sz="1400" dirty="0">
                <a:solidFill>
                  <a:schemeClr val="tx1"/>
                </a:solidFill>
              </a:rPr>
              <a:t>Pub/Sub de alertas</a:t>
            </a:r>
            <a:endParaRPr lang="en-US" sz="1400" dirty="0"/>
          </a:p>
        </p:txBody>
      </p:sp>
      <p:sp>
        <p:nvSpPr>
          <p:cNvPr id="19" name="capa-98"/>
          <p:cNvSpPr txBox="1"/>
          <p:nvPr/>
        </p:nvSpPr>
        <p:spPr>
          <a:xfrm>
            <a:off x="9921240" y="1325880"/>
            <a:ext cx="1737360" cy="685800"/>
          </a:xfrm>
          <a:prstGeom prst="roundRect">
            <a:avLst>
              <a:gd name="adj" fmla="val 10667"/>
            </a:avLst>
          </a:prstGeom>
          <a:solidFill>
            <a:schemeClr val="accent5"/>
          </a:solidFill>
          <a:ln/>
        </p:spPr>
        <p:txBody>
          <a:bodyPr wrap="square" lIns="635" tIns="635" rIns="635" bIns="635" rtlCol="0" anchor="ctr"/>
          <a:lstStyle/>
          <a:p>
            <a:pPr algn="ctr" indent="0" marL="0">
              <a:buNone/>
            </a:pPr>
            <a:r>
              <a:rPr lang="en-US" sz="1500" b="1" dirty="0">
                <a:solidFill>
                  <a:schemeClr val="bg1"/>
                </a:solidFill>
              </a:rPr>
              <a:t>Gobierno y operación</a:t>
            </a:r>
            <a:endParaRPr lang="en-US" sz="1500" dirty="0"/>
          </a:p>
        </p:txBody>
      </p:sp>
      <p:sp>
        <p:nvSpPr>
          <p:cNvPr id="20" name="tarjeta-99"/>
          <p:cNvSpPr/>
          <p:nvPr/>
        </p:nvSpPr>
        <p:spPr>
          <a:xfrm>
            <a:off x="9921240" y="2148840"/>
            <a:ext cx="1737360" cy="3931920"/>
          </a:xfrm>
          <a:prstGeom prst="roundRect">
            <a:avLst>
              <a:gd name="adj" fmla="val 4211"/>
            </a:avLst>
          </a:prstGeom>
          <a:solidFill>
            <a:schemeClr val="bg2"/>
          </a:solidFill>
          <a:ln/>
        </p:spPr>
      </p:sp>
      <p:sp>
        <p:nvSpPr>
          <p:cNvPr id="21" name="texto-100"/>
          <p:cNvSpPr txBox="1"/>
          <p:nvPr/>
        </p:nvSpPr>
        <p:spPr>
          <a:xfrm>
            <a:off x="10012680" y="2331720"/>
            <a:ext cx="1554480" cy="356616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chemeClr val="tx1"/>
                </a:solidFill>
              </a:rPr>
              <a:t>Composer · Airflow</a:t>
            </a:r>
            <a:endParaRPr lang="en-US" sz="1400" dirty="0"/>
          </a:p>
          <a:p>
            <a:pPr marL="342900" indent="-342900">
              <a:spcAft>
                <a:spcPts val="1000"/>
              </a:spcAft>
              <a:buSzPct val="100000"/>
              <a:buChar char="•"/>
            </a:pPr>
            <a:r>
              <a:rPr lang="en-US" sz="1400" dirty="0">
                <a:solidFill>
                  <a:schemeClr val="tx1"/>
                </a:solidFill>
              </a:rPr>
              <a:t>IAM · KMS · DLP</a:t>
            </a:r>
            <a:endParaRPr lang="en-US" sz="1400" dirty="0"/>
          </a:p>
          <a:p>
            <a:pPr marL="342900" indent="-342900">
              <a:spcAft>
                <a:spcPts val="1000"/>
              </a:spcAft>
              <a:buSzPct val="100000"/>
              <a:buChar char="•"/>
            </a:pPr>
            <a:r>
              <a:rPr lang="en-US" sz="1400" dirty="0">
                <a:solidFill>
                  <a:schemeClr val="tx1"/>
                </a:solidFill>
              </a:rPr>
              <a:t>Dataplex · VPC-SC</a:t>
            </a:r>
            <a:endParaRPr lang="en-US" sz="1400" dirty="0"/>
          </a:p>
          <a:p>
            <a:pPr marL="342900" indent="-342900">
              <a:spcAft>
                <a:spcPts val="1000"/>
              </a:spcAft>
              <a:buSzPct val="100000"/>
              <a:buChar char="•"/>
            </a:pPr>
            <a:r>
              <a:rPr lang="en-US" sz="1400" dirty="0">
                <a:solidFill>
                  <a:schemeClr val="tx1"/>
                </a:solidFill>
              </a:rPr>
              <a:t>Terraform · Monitoring</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Arquitectura end-to-end: batch y streaming</a:t>
            </a:r>
            <a:endParaRPr lang="en-US" sz="3200" dirty="0"/>
          </a:p>
        </p:txBody>
      </p:sp>
      <p:sp>
        <p:nvSpPr>
          <p:cNvPr id="4" name="texto-101"/>
          <p:cNvSpPr txBox="1"/>
          <p:nvPr/>
        </p:nvSpPr>
        <p:spPr>
          <a:xfrm>
            <a:off x="548640" y="1234440"/>
            <a:ext cx="1920240" cy="320040"/>
          </a:xfrm>
          <a:prstGeom prst="rect">
            <a:avLst/>
          </a:prstGeom>
          <a:noFill/>
          <a:ln/>
        </p:spPr>
        <p:txBody>
          <a:bodyPr wrap="square" lIns="0" tIns="0" rIns="0" bIns="0" rtlCol="0" anchor="t"/>
          <a:lstStyle/>
          <a:p>
            <a:pPr algn="ctr" indent="0" marL="0">
              <a:buNone/>
            </a:pPr>
            <a:r>
              <a:rPr lang="en-US" sz="1400" b="1" dirty="0">
                <a:solidFill>
                  <a:schemeClr val="accent5"/>
                </a:solidFill>
              </a:rPr>
              <a:t>Fuentes</a:t>
            </a:r>
            <a:endParaRPr lang="en-US" sz="1400" dirty="0"/>
          </a:p>
        </p:txBody>
      </p:sp>
      <p:sp>
        <p:nvSpPr>
          <p:cNvPr id="5" name="texto-102"/>
          <p:cNvSpPr txBox="1"/>
          <p:nvPr/>
        </p:nvSpPr>
        <p:spPr>
          <a:xfrm>
            <a:off x="2834640" y="1234440"/>
            <a:ext cx="1920240" cy="320040"/>
          </a:xfrm>
          <a:prstGeom prst="rect">
            <a:avLst/>
          </a:prstGeom>
          <a:noFill/>
          <a:ln/>
        </p:spPr>
        <p:txBody>
          <a:bodyPr wrap="square" lIns="0" tIns="0" rIns="0" bIns="0" rtlCol="0" anchor="t"/>
          <a:lstStyle/>
          <a:p>
            <a:pPr algn="ctr" indent="0" marL="0">
              <a:buNone/>
            </a:pPr>
            <a:r>
              <a:rPr lang="en-US" sz="1400" b="1" dirty="0">
                <a:solidFill>
                  <a:schemeClr val="accent5"/>
                </a:solidFill>
              </a:rPr>
              <a:t>Ingesta</a:t>
            </a:r>
            <a:endParaRPr lang="en-US" sz="1400" dirty="0"/>
          </a:p>
        </p:txBody>
      </p:sp>
      <p:sp>
        <p:nvSpPr>
          <p:cNvPr id="6" name="texto-103"/>
          <p:cNvSpPr txBox="1"/>
          <p:nvPr/>
        </p:nvSpPr>
        <p:spPr>
          <a:xfrm>
            <a:off x="5120640" y="1234440"/>
            <a:ext cx="1920240" cy="320040"/>
          </a:xfrm>
          <a:prstGeom prst="rect">
            <a:avLst/>
          </a:prstGeom>
          <a:noFill/>
          <a:ln/>
        </p:spPr>
        <p:txBody>
          <a:bodyPr wrap="square" lIns="0" tIns="0" rIns="0" bIns="0" rtlCol="0" anchor="t"/>
          <a:lstStyle/>
          <a:p>
            <a:pPr algn="ctr" indent="0" marL="0">
              <a:buNone/>
            </a:pPr>
            <a:r>
              <a:rPr lang="en-US" sz="1400" b="1" dirty="0">
                <a:solidFill>
                  <a:schemeClr val="accent5"/>
                </a:solidFill>
              </a:rPr>
              <a:t>Cómputo</a:t>
            </a:r>
            <a:endParaRPr lang="en-US" sz="1400" dirty="0"/>
          </a:p>
        </p:txBody>
      </p:sp>
      <p:sp>
        <p:nvSpPr>
          <p:cNvPr id="7" name="texto-104"/>
          <p:cNvSpPr txBox="1"/>
          <p:nvPr/>
        </p:nvSpPr>
        <p:spPr>
          <a:xfrm>
            <a:off x="7406640" y="1234440"/>
            <a:ext cx="1920240" cy="320040"/>
          </a:xfrm>
          <a:prstGeom prst="rect">
            <a:avLst/>
          </a:prstGeom>
          <a:noFill/>
          <a:ln/>
        </p:spPr>
        <p:txBody>
          <a:bodyPr wrap="square" lIns="0" tIns="0" rIns="0" bIns="0" rtlCol="0" anchor="t"/>
          <a:lstStyle/>
          <a:p>
            <a:pPr algn="ctr" indent="0" marL="0">
              <a:buNone/>
            </a:pPr>
            <a:r>
              <a:rPr lang="en-US" sz="1400" b="1" dirty="0">
                <a:solidFill>
                  <a:schemeClr val="accent5"/>
                </a:solidFill>
              </a:rPr>
              <a:t>Almacenamiento</a:t>
            </a:r>
            <a:endParaRPr lang="en-US" sz="1400" dirty="0"/>
          </a:p>
        </p:txBody>
      </p:sp>
      <p:sp>
        <p:nvSpPr>
          <p:cNvPr id="8" name="texto-105"/>
          <p:cNvSpPr txBox="1"/>
          <p:nvPr/>
        </p:nvSpPr>
        <p:spPr>
          <a:xfrm>
            <a:off x="9692640" y="1234440"/>
            <a:ext cx="1920240" cy="320040"/>
          </a:xfrm>
          <a:prstGeom prst="rect">
            <a:avLst/>
          </a:prstGeom>
          <a:noFill/>
          <a:ln/>
        </p:spPr>
        <p:txBody>
          <a:bodyPr wrap="square" lIns="0" tIns="0" rIns="0" bIns="0" rtlCol="0" anchor="t"/>
          <a:lstStyle/>
          <a:p>
            <a:pPr algn="ctr" indent="0" marL="0">
              <a:buNone/>
            </a:pPr>
            <a:r>
              <a:rPr lang="en-US" sz="1400" b="1" dirty="0">
                <a:solidFill>
                  <a:schemeClr val="accent5"/>
                </a:solidFill>
              </a:rPr>
              <a:t>Exposición</a:t>
            </a:r>
            <a:endParaRPr lang="en-US" sz="1400" dirty="0"/>
          </a:p>
        </p:txBody>
      </p:sp>
      <p:sp>
        <p:nvSpPr>
          <p:cNvPr id="9" name="texto-106"/>
          <p:cNvSpPr txBox="1"/>
          <p:nvPr/>
        </p:nvSpPr>
        <p:spPr>
          <a:xfrm>
            <a:off x="548640" y="1600200"/>
            <a:ext cx="3657600" cy="274320"/>
          </a:xfrm>
          <a:prstGeom prst="rect">
            <a:avLst/>
          </a:prstGeom>
          <a:noFill/>
          <a:ln/>
        </p:spPr>
        <p:txBody>
          <a:bodyPr wrap="square" lIns="0" tIns="0" rIns="0" bIns="0" rtlCol="0" anchor="t"/>
          <a:lstStyle/>
          <a:p>
            <a:pPr indent="0" marL="0">
              <a:buNone/>
            </a:pPr>
            <a:r>
              <a:rPr lang="en-US" sz="1200" b="1" dirty="0">
                <a:solidFill>
                  <a:schemeClr val="accent2"/>
                </a:solidFill>
              </a:rPr>
              <a:t>STREAMING · segundos</a:t>
            </a:r>
            <a:endParaRPr lang="en-US" sz="1200" dirty="0"/>
          </a:p>
        </p:txBody>
      </p:sp>
      <p:sp>
        <p:nvSpPr>
          <p:cNvPr id="10" name="caja-107"/>
          <p:cNvSpPr txBox="1"/>
          <p:nvPr/>
        </p:nvSpPr>
        <p:spPr>
          <a:xfrm>
            <a:off x="548640" y="1965960"/>
            <a:ext cx="1920240" cy="1188720"/>
          </a:xfrm>
          <a:prstGeom prst="roundRect">
            <a:avLst>
              <a:gd name="adj" fmla="val 6154"/>
            </a:avLst>
          </a:prstGeom>
          <a:solidFill>
            <a:schemeClr val="bg2"/>
          </a:solidFill>
          <a:ln w="12700">
            <a:solidFill>
              <a:srgbClr val="2A9D8F"/>
            </a:solidFill>
          </a:ln>
        </p:spPr>
        <p:txBody>
          <a:bodyPr wrap="square" lIns="1016" tIns="1016" rIns="1016" bIns="1016" rtlCol="0" anchor="ctr"/>
          <a:lstStyle/>
          <a:p>
            <a:pPr algn="ctr" indent="0" marL="0">
              <a:buNone/>
            </a:pPr>
            <a:r>
              <a:rPr lang="en-US" sz="1300" dirty="0">
                <a:solidFill>
                  <a:schemeClr val="tx2"/>
                </a:solidFill>
              </a:rPr>
              <a:t>App · Cajeros · POS</a:t>
            </a:r>
            <a:endParaRPr lang="en-US" sz="1300" dirty="0"/>
          </a:p>
          <a:p>
            <a:pPr algn="ctr" indent="0" marL="0">
              <a:buNone/>
            </a:pPr>
            <a:r>
              <a:rPr lang="en-US" sz="1300" dirty="0">
                <a:solidFill>
                  <a:schemeClr val="tx2"/>
                </a:solidFill>
              </a:rPr>
              <a:t>Telemetría IoT</a:t>
            </a:r>
            <a:endParaRPr lang="en-US" sz="1300" dirty="0"/>
          </a:p>
        </p:txBody>
      </p:sp>
      <p:sp>
        <p:nvSpPr>
          <p:cNvPr id="11" name="flecha-108"/>
          <p:cNvSpPr/>
          <p:nvPr/>
        </p:nvSpPr>
        <p:spPr>
          <a:xfrm>
            <a:off x="2496312" y="2560320"/>
            <a:ext cx="310896" cy="0"/>
          </a:xfrm>
          <a:prstGeom prst="line">
            <a:avLst/>
          </a:prstGeom>
          <a:noFill/>
          <a:ln w="22225">
            <a:solidFill>
              <a:srgbClr val="2A9D8F"/>
            </a:solidFill>
            <a:prstDash val="solid"/>
            <a:tailEnd type="triangle"/>
          </a:ln>
        </p:spPr>
      </p:sp>
      <p:sp>
        <p:nvSpPr>
          <p:cNvPr id="12" name="caja-109"/>
          <p:cNvSpPr txBox="1"/>
          <p:nvPr/>
        </p:nvSpPr>
        <p:spPr>
          <a:xfrm>
            <a:off x="2834640" y="1965960"/>
            <a:ext cx="1920240" cy="1188720"/>
          </a:xfrm>
          <a:prstGeom prst="roundRect">
            <a:avLst>
              <a:gd name="adj" fmla="val 6154"/>
            </a:avLst>
          </a:prstGeom>
          <a:solidFill>
            <a:schemeClr val="accent2"/>
          </a:solidFill>
          <a:ln w="12700">
            <a:solidFill>
              <a:srgbClr val="2A9D8F"/>
            </a:solidFill>
          </a:ln>
        </p:spPr>
        <p:txBody>
          <a:bodyPr wrap="square" lIns="1016" tIns="1016" rIns="1016" bIns="1016" rtlCol="0" anchor="ctr"/>
          <a:lstStyle/>
          <a:p>
            <a:pPr algn="ctr" indent="0" marL="0">
              <a:buNone/>
            </a:pPr>
            <a:r>
              <a:rPr lang="en-US" sz="1300" b="1" dirty="0">
                <a:solidFill>
                  <a:schemeClr val="bg1"/>
                </a:solidFill>
              </a:rPr>
              <a:t>Pub/Sub</a:t>
            </a:r>
            <a:endParaRPr lang="en-US" sz="1300" dirty="0"/>
          </a:p>
          <a:p>
            <a:pPr algn="ctr" indent="0" marL="0">
              <a:buNone/>
            </a:pPr>
            <a:r>
              <a:rPr lang="en-US" sz="1300" b="1" dirty="0">
                <a:solidFill>
                  <a:schemeClr val="bg1"/>
                </a:solidFill>
              </a:rPr>
              <a:t>(tx-eventos, telemetría)</a:t>
            </a:r>
            <a:endParaRPr lang="en-US" sz="1300" dirty="0"/>
          </a:p>
        </p:txBody>
      </p:sp>
      <p:sp>
        <p:nvSpPr>
          <p:cNvPr id="13" name="flecha-110"/>
          <p:cNvSpPr/>
          <p:nvPr/>
        </p:nvSpPr>
        <p:spPr>
          <a:xfrm>
            <a:off x="4782312" y="2560320"/>
            <a:ext cx="310896" cy="0"/>
          </a:xfrm>
          <a:prstGeom prst="line">
            <a:avLst/>
          </a:prstGeom>
          <a:noFill/>
          <a:ln w="22225">
            <a:solidFill>
              <a:srgbClr val="2A9D8F"/>
            </a:solidFill>
            <a:prstDash val="solid"/>
            <a:tailEnd type="triangle"/>
          </a:ln>
        </p:spPr>
      </p:sp>
      <p:sp>
        <p:nvSpPr>
          <p:cNvPr id="14" name="caja-111"/>
          <p:cNvSpPr txBox="1"/>
          <p:nvPr/>
        </p:nvSpPr>
        <p:spPr>
          <a:xfrm>
            <a:off x="5120640" y="1965960"/>
            <a:ext cx="1920240" cy="1188720"/>
          </a:xfrm>
          <a:prstGeom prst="roundRect">
            <a:avLst>
              <a:gd name="adj" fmla="val 6154"/>
            </a:avLst>
          </a:prstGeom>
          <a:solidFill>
            <a:schemeClr val="accent2"/>
          </a:solidFill>
          <a:ln w="12700">
            <a:solidFill>
              <a:srgbClr val="2A9D8F"/>
            </a:solidFill>
          </a:ln>
        </p:spPr>
        <p:txBody>
          <a:bodyPr wrap="square" lIns="1016" tIns="1016" rIns="1016" bIns="1016" rtlCol="0" anchor="ctr"/>
          <a:lstStyle/>
          <a:p>
            <a:pPr algn="ctr" indent="0" marL="0">
              <a:buNone/>
            </a:pPr>
            <a:r>
              <a:rPr lang="en-US" sz="1300" b="1" dirty="0">
                <a:solidFill>
                  <a:schemeClr val="bg1"/>
                </a:solidFill>
              </a:rPr>
              <a:t>Dataflow (Beam)</a:t>
            </a:r>
            <a:endParaRPr lang="en-US" sz="1300" dirty="0"/>
          </a:p>
          <a:p>
            <a:pPr algn="ctr" indent="0" marL="0">
              <a:buNone/>
            </a:pPr>
            <a:r>
              <a:rPr lang="en-US" sz="1300" b="1" dirty="0">
                <a:solidFill>
                  <a:schemeClr val="bg1"/>
                </a:solidFill>
              </a:rPr>
              <a:t>reglas + estado</a:t>
            </a:r>
            <a:endParaRPr lang="en-US" sz="1300" dirty="0"/>
          </a:p>
        </p:txBody>
      </p:sp>
      <p:sp>
        <p:nvSpPr>
          <p:cNvPr id="15" name="flecha-112"/>
          <p:cNvSpPr/>
          <p:nvPr/>
        </p:nvSpPr>
        <p:spPr>
          <a:xfrm>
            <a:off x="7068312" y="2560320"/>
            <a:ext cx="310896" cy="0"/>
          </a:xfrm>
          <a:prstGeom prst="line">
            <a:avLst/>
          </a:prstGeom>
          <a:noFill/>
          <a:ln w="22225">
            <a:solidFill>
              <a:srgbClr val="2A9D8F"/>
            </a:solidFill>
            <a:prstDash val="solid"/>
            <a:tailEnd type="triangle"/>
          </a:ln>
        </p:spPr>
      </p:sp>
      <p:sp>
        <p:nvSpPr>
          <p:cNvPr id="16" name="caja-113"/>
          <p:cNvSpPr txBox="1"/>
          <p:nvPr/>
        </p:nvSpPr>
        <p:spPr>
          <a:xfrm>
            <a:off x="7406640" y="1965960"/>
            <a:ext cx="1920240" cy="1188720"/>
          </a:xfrm>
          <a:prstGeom prst="roundRect">
            <a:avLst>
              <a:gd name="adj" fmla="val 6154"/>
            </a:avLst>
          </a:prstGeom>
          <a:solidFill>
            <a:schemeClr val="accent2"/>
          </a:solidFill>
          <a:ln w="12700">
            <a:solidFill>
              <a:srgbClr val="2A9D8F"/>
            </a:solidFill>
          </a:ln>
        </p:spPr>
        <p:txBody>
          <a:bodyPr wrap="square" lIns="1016" tIns="1016" rIns="1016" bIns="1016" rtlCol="0" anchor="ctr"/>
          <a:lstStyle/>
          <a:p>
            <a:pPr algn="ctr" indent="0" marL="0">
              <a:buNone/>
            </a:pPr>
            <a:r>
              <a:rPr lang="en-US" sz="1300" b="1" dirty="0">
                <a:solidFill>
                  <a:schemeClr val="bg1"/>
                </a:solidFill>
              </a:rPr>
              <a:t>Memorystore</a:t>
            </a:r>
            <a:endParaRPr lang="en-US" sz="1300" dirty="0"/>
          </a:p>
          <a:p>
            <a:pPr algn="ctr" indent="0" marL="0">
              <a:buNone/>
            </a:pPr>
            <a:r>
              <a:rPr lang="en-US" sz="1300" b="1" dirty="0">
                <a:solidFill>
                  <a:schemeClr val="bg1"/>
                </a:solidFill>
              </a:rPr>
              <a:t>BigQuery Silver</a:t>
            </a:r>
            <a:endParaRPr lang="en-US" sz="1300" dirty="0"/>
          </a:p>
        </p:txBody>
      </p:sp>
      <p:sp>
        <p:nvSpPr>
          <p:cNvPr id="17" name="flecha-114"/>
          <p:cNvSpPr/>
          <p:nvPr/>
        </p:nvSpPr>
        <p:spPr>
          <a:xfrm>
            <a:off x="9354312" y="2560320"/>
            <a:ext cx="310896" cy="0"/>
          </a:xfrm>
          <a:prstGeom prst="line">
            <a:avLst/>
          </a:prstGeom>
          <a:noFill/>
          <a:ln w="22225">
            <a:solidFill>
              <a:srgbClr val="2A9D8F"/>
            </a:solidFill>
            <a:prstDash val="solid"/>
            <a:tailEnd type="triangle"/>
          </a:ln>
        </p:spPr>
      </p:sp>
      <p:sp>
        <p:nvSpPr>
          <p:cNvPr id="18" name="caja-115"/>
          <p:cNvSpPr txBox="1"/>
          <p:nvPr/>
        </p:nvSpPr>
        <p:spPr>
          <a:xfrm>
            <a:off x="9692640" y="1965960"/>
            <a:ext cx="1920240" cy="1188720"/>
          </a:xfrm>
          <a:prstGeom prst="roundRect">
            <a:avLst>
              <a:gd name="adj" fmla="val 6154"/>
            </a:avLst>
          </a:prstGeom>
          <a:solidFill>
            <a:schemeClr val="accent2"/>
          </a:solidFill>
          <a:ln w="12700">
            <a:solidFill>
              <a:srgbClr val="2A9D8F"/>
            </a:solidFill>
          </a:ln>
        </p:spPr>
        <p:txBody>
          <a:bodyPr wrap="square" lIns="1016" tIns="1016" rIns="1016" bIns="1016" rtlCol="0" anchor="ctr"/>
          <a:lstStyle/>
          <a:p>
            <a:pPr algn="ctr" indent="0" marL="0">
              <a:buNone/>
            </a:pPr>
            <a:r>
              <a:rPr lang="en-US" sz="1300" b="1" dirty="0">
                <a:solidFill>
                  <a:schemeClr val="bg1"/>
                </a:solidFill>
              </a:rPr>
              <a:t>Autorización &lt; 150 ms</a:t>
            </a:r>
            <a:endParaRPr lang="en-US" sz="1300" dirty="0"/>
          </a:p>
          <a:p>
            <a:pPr algn="ctr" indent="0" marL="0">
              <a:buNone/>
            </a:pPr>
            <a:r>
              <a:rPr lang="en-US" sz="1300" b="1" dirty="0">
                <a:solidFill>
                  <a:schemeClr val="bg1"/>
                </a:solidFill>
              </a:rPr>
              <a:t>Alertas de fraude</a:t>
            </a:r>
            <a:endParaRPr lang="en-US" sz="1300" dirty="0"/>
          </a:p>
        </p:txBody>
      </p:sp>
      <p:sp>
        <p:nvSpPr>
          <p:cNvPr id="19" name="texto-116"/>
          <p:cNvSpPr txBox="1"/>
          <p:nvPr/>
        </p:nvSpPr>
        <p:spPr>
          <a:xfrm>
            <a:off x="548640" y="3703320"/>
            <a:ext cx="3657600" cy="274320"/>
          </a:xfrm>
          <a:prstGeom prst="rect">
            <a:avLst/>
          </a:prstGeom>
          <a:noFill/>
          <a:ln/>
        </p:spPr>
        <p:txBody>
          <a:bodyPr wrap="square" lIns="0" tIns="0" rIns="0" bIns="0" rtlCol="0" anchor="t"/>
          <a:lstStyle/>
          <a:p>
            <a:pPr indent="0" marL="0">
              <a:buNone/>
            </a:pPr>
            <a:r>
              <a:rPr lang="en-US" sz="1200" b="1" dirty="0">
                <a:solidFill>
                  <a:schemeClr val="accent3"/>
                </a:solidFill>
              </a:rPr>
              <a:t>BATCH · diario</a:t>
            </a:r>
            <a:endParaRPr lang="en-US" sz="1200" dirty="0"/>
          </a:p>
        </p:txBody>
      </p:sp>
      <p:sp>
        <p:nvSpPr>
          <p:cNvPr id="20" name="caja-117"/>
          <p:cNvSpPr txBox="1"/>
          <p:nvPr/>
        </p:nvSpPr>
        <p:spPr>
          <a:xfrm>
            <a:off x="548640" y="4069080"/>
            <a:ext cx="1920240" cy="1188720"/>
          </a:xfrm>
          <a:prstGeom prst="roundRect">
            <a:avLst>
              <a:gd name="adj" fmla="val 6154"/>
            </a:avLst>
          </a:prstGeom>
          <a:solidFill>
            <a:schemeClr val="bg2"/>
          </a:solidFill>
          <a:ln w="12700">
            <a:solidFill>
              <a:srgbClr val="3D5A80"/>
            </a:solidFill>
          </a:ln>
        </p:spPr>
        <p:txBody>
          <a:bodyPr wrap="square" lIns="1016" tIns="1016" rIns="1016" bIns="1016" rtlCol="0" anchor="ctr"/>
          <a:lstStyle/>
          <a:p>
            <a:pPr algn="ctr" indent="0" marL="0">
              <a:buNone/>
            </a:pPr>
            <a:r>
              <a:rPr lang="en-US" sz="1300" dirty="0">
                <a:solidFill>
                  <a:schemeClr val="tx2"/>
                </a:solidFill>
              </a:rPr>
              <a:t>PaySim · Cierres</a:t>
            </a:r>
            <a:endParaRPr lang="en-US" sz="1300" dirty="0"/>
          </a:p>
          <a:p>
            <a:pPr algn="ctr" indent="0" marL="0">
              <a:buNone/>
            </a:pPr>
            <a:r>
              <a:rPr lang="en-US" sz="1300" dirty="0">
                <a:solidFill>
                  <a:schemeClr val="tx2"/>
                </a:solidFill>
              </a:rPr>
              <a:t>SEC · EDI · Trends</a:t>
            </a:r>
            <a:endParaRPr lang="en-US" sz="1300" dirty="0"/>
          </a:p>
        </p:txBody>
      </p:sp>
      <p:sp>
        <p:nvSpPr>
          <p:cNvPr id="21" name="flecha-118"/>
          <p:cNvSpPr/>
          <p:nvPr/>
        </p:nvSpPr>
        <p:spPr>
          <a:xfrm>
            <a:off x="2496312" y="4663440"/>
            <a:ext cx="310896" cy="0"/>
          </a:xfrm>
          <a:prstGeom prst="line">
            <a:avLst/>
          </a:prstGeom>
          <a:noFill/>
          <a:ln w="22225">
            <a:solidFill>
              <a:srgbClr val="3D5A80"/>
            </a:solidFill>
            <a:prstDash val="solid"/>
            <a:tailEnd type="triangle"/>
          </a:ln>
        </p:spPr>
      </p:sp>
      <p:sp>
        <p:nvSpPr>
          <p:cNvPr id="22" name="caja-119"/>
          <p:cNvSpPr txBox="1"/>
          <p:nvPr/>
        </p:nvSpPr>
        <p:spPr>
          <a:xfrm>
            <a:off x="2834640" y="4069080"/>
            <a:ext cx="1920240" cy="1188720"/>
          </a:xfrm>
          <a:prstGeom prst="roundRect">
            <a:avLst>
              <a:gd name="adj" fmla="val 6154"/>
            </a:avLst>
          </a:prstGeom>
          <a:solidFill>
            <a:schemeClr val="accent3"/>
          </a:solidFill>
          <a:ln w="12700">
            <a:solidFill>
              <a:srgbClr val="3D5A80"/>
            </a:solidFill>
          </a:ln>
        </p:spPr>
        <p:txBody>
          <a:bodyPr wrap="square" lIns="1016" tIns="1016" rIns="1016" bIns="1016" rtlCol="0" anchor="ctr"/>
          <a:lstStyle/>
          <a:p>
            <a:pPr algn="ctr" indent="0" marL="0">
              <a:buNone/>
            </a:pPr>
            <a:r>
              <a:rPr lang="en-US" sz="1300" b="1" dirty="0">
                <a:solidFill>
                  <a:schemeClr val="bg1"/>
                </a:solidFill>
              </a:rPr>
              <a:t>Cloud Storage</a:t>
            </a:r>
            <a:endParaRPr lang="en-US" sz="1300" dirty="0"/>
          </a:p>
          <a:p>
            <a:pPr algn="ctr" indent="0" marL="0">
              <a:buNone/>
            </a:pPr>
            <a:r>
              <a:rPr lang="en-US" sz="1300" b="1" dirty="0">
                <a:solidFill>
                  <a:schemeClr val="bg1"/>
                </a:solidFill>
              </a:rPr>
              <a:t>Analytics Hub</a:t>
            </a:r>
            <a:endParaRPr lang="en-US" sz="1300" dirty="0"/>
          </a:p>
        </p:txBody>
      </p:sp>
      <p:sp>
        <p:nvSpPr>
          <p:cNvPr id="23" name="flecha-120"/>
          <p:cNvSpPr/>
          <p:nvPr/>
        </p:nvSpPr>
        <p:spPr>
          <a:xfrm>
            <a:off x="4782312" y="4663440"/>
            <a:ext cx="310896" cy="0"/>
          </a:xfrm>
          <a:prstGeom prst="line">
            <a:avLst/>
          </a:prstGeom>
          <a:noFill/>
          <a:ln w="22225">
            <a:solidFill>
              <a:srgbClr val="3D5A80"/>
            </a:solidFill>
            <a:prstDash val="solid"/>
            <a:tailEnd type="triangle"/>
          </a:ln>
        </p:spPr>
      </p:sp>
      <p:sp>
        <p:nvSpPr>
          <p:cNvPr id="24" name="caja-121"/>
          <p:cNvSpPr txBox="1"/>
          <p:nvPr/>
        </p:nvSpPr>
        <p:spPr>
          <a:xfrm>
            <a:off x="5120640" y="4069080"/>
            <a:ext cx="1920240" cy="1188720"/>
          </a:xfrm>
          <a:prstGeom prst="roundRect">
            <a:avLst>
              <a:gd name="adj" fmla="val 6154"/>
            </a:avLst>
          </a:prstGeom>
          <a:solidFill>
            <a:schemeClr val="accent3"/>
          </a:solidFill>
          <a:ln w="12700">
            <a:solidFill>
              <a:srgbClr val="3D5A80"/>
            </a:solidFill>
          </a:ln>
        </p:spPr>
        <p:txBody>
          <a:bodyPr wrap="square" lIns="1016" tIns="1016" rIns="1016" bIns="1016" rtlCol="0" anchor="ctr"/>
          <a:lstStyle/>
          <a:p>
            <a:pPr algn="ctr" indent="0" marL="0">
              <a:buNone/>
            </a:pPr>
            <a:r>
              <a:rPr lang="en-US" sz="1300" b="1" dirty="0">
                <a:solidFill>
                  <a:schemeClr val="bg1"/>
                </a:solidFill>
              </a:rPr>
              <a:t>Dataproc (Spark)</a:t>
            </a:r>
            <a:endParaRPr lang="en-US" sz="1300" dirty="0"/>
          </a:p>
          <a:p>
            <a:pPr algn="ctr" indent="0" marL="0">
              <a:buNone/>
            </a:pPr>
            <a:r>
              <a:rPr lang="en-US" sz="1300" b="1" dirty="0">
                <a:solidFill>
                  <a:schemeClr val="bg1"/>
                </a:solidFill>
              </a:rPr>
              <a:t>BigQuery SQL · BQML</a:t>
            </a:r>
            <a:endParaRPr lang="en-US" sz="1300" dirty="0"/>
          </a:p>
        </p:txBody>
      </p:sp>
      <p:sp>
        <p:nvSpPr>
          <p:cNvPr id="25" name="flecha-122"/>
          <p:cNvSpPr/>
          <p:nvPr/>
        </p:nvSpPr>
        <p:spPr>
          <a:xfrm>
            <a:off x="7068312" y="4663440"/>
            <a:ext cx="310896" cy="0"/>
          </a:xfrm>
          <a:prstGeom prst="line">
            <a:avLst/>
          </a:prstGeom>
          <a:noFill/>
          <a:ln w="22225">
            <a:solidFill>
              <a:srgbClr val="3D5A80"/>
            </a:solidFill>
            <a:prstDash val="solid"/>
            <a:tailEnd type="triangle"/>
          </a:ln>
        </p:spPr>
      </p:sp>
      <p:sp>
        <p:nvSpPr>
          <p:cNvPr id="26" name="caja-123"/>
          <p:cNvSpPr txBox="1"/>
          <p:nvPr/>
        </p:nvSpPr>
        <p:spPr>
          <a:xfrm>
            <a:off x="7406640" y="4069080"/>
            <a:ext cx="1920240" cy="1188720"/>
          </a:xfrm>
          <a:prstGeom prst="roundRect">
            <a:avLst>
              <a:gd name="adj" fmla="val 6154"/>
            </a:avLst>
          </a:prstGeom>
          <a:solidFill>
            <a:schemeClr val="accent3"/>
          </a:solidFill>
          <a:ln w="12700">
            <a:solidFill>
              <a:srgbClr val="3D5A80"/>
            </a:solidFill>
          </a:ln>
        </p:spPr>
        <p:txBody>
          <a:bodyPr wrap="square" lIns="1016" tIns="1016" rIns="1016" bIns="1016" rtlCol="0" anchor="ctr"/>
          <a:lstStyle/>
          <a:p>
            <a:pPr algn="ctr" indent="0" marL="0">
              <a:buNone/>
            </a:pPr>
            <a:r>
              <a:rPr lang="en-US" sz="1300" b="1" dirty="0">
                <a:solidFill>
                  <a:schemeClr val="bg1"/>
                </a:solidFill>
              </a:rPr>
              <a:t>Data Lake +</a:t>
            </a:r>
            <a:endParaRPr lang="en-US" sz="1300" dirty="0"/>
          </a:p>
          <a:p>
            <a:pPr algn="ctr" indent="0" marL="0">
              <a:buNone/>
            </a:pPr>
            <a:r>
              <a:rPr lang="en-US" sz="1300" b="1" dirty="0">
                <a:solidFill>
                  <a:schemeClr val="bg1"/>
                </a:solidFill>
              </a:rPr>
              <a:t>BigQuery Gold (estrella)</a:t>
            </a:r>
            <a:endParaRPr lang="en-US" sz="1300" dirty="0"/>
          </a:p>
        </p:txBody>
      </p:sp>
      <p:sp>
        <p:nvSpPr>
          <p:cNvPr id="27" name="flecha-124"/>
          <p:cNvSpPr/>
          <p:nvPr/>
        </p:nvSpPr>
        <p:spPr>
          <a:xfrm>
            <a:off x="9354312" y="4663440"/>
            <a:ext cx="310896" cy="0"/>
          </a:xfrm>
          <a:prstGeom prst="line">
            <a:avLst/>
          </a:prstGeom>
          <a:noFill/>
          <a:ln w="22225">
            <a:solidFill>
              <a:srgbClr val="3D5A80"/>
            </a:solidFill>
            <a:prstDash val="solid"/>
            <a:tailEnd type="triangle"/>
          </a:ln>
        </p:spPr>
      </p:sp>
      <p:sp>
        <p:nvSpPr>
          <p:cNvPr id="28" name="caja-125"/>
          <p:cNvSpPr txBox="1"/>
          <p:nvPr/>
        </p:nvSpPr>
        <p:spPr>
          <a:xfrm>
            <a:off x="9692640" y="4069080"/>
            <a:ext cx="1920240" cy="1188720"/>
          </a:xfrm>
          <a:prstGeom prst="roundRect">
            <a:avLst>
              <a:gd name="adj" fmla="val 6154"/>
            </a:avLst>
          </a:prstGeom>
          <a:solidFill>
            <a:schemeClr val="accent3"/>
          </a:solidFill>
          <a:ln w="12700">
            <a:solidFill>
              <a:srgbClr val="3D5A80"/>
            </a:solidFill>
          </a:ln>
        </p:spPr>
        <p:txBody>
          <a:bodyPr wrap="square" lIns="1016" tIns="1016" rIns="1016" bIns="1016" rtlCol="0" anchor="ctr"/>
          <a:lstStyle/>
          <a:p>
            <a:pPr algn="ctr" indent="0" marL="0">
              <a:buNone/>
            </a:pPr>
            <a:r>
              <a:rPr lang="en-US" sz="1300" b="1" dirty="0">
                <a:solidFill>
                  <a:schemeClr val="bg1"/>
                </a:solidFill>
              </a:rPr>
              <a:t>API Cloud Run</a:t>
            </a:r>
            <a:endParaRPr lang="en-US" sz="1300" dirty="0"/>
          </a:p>
          <a:p>
            <a:pPr algn="ctr" indent="0" marL="0">
              <a:buNone/>
            </a:pPr>
            <a:r>
              <a:rPr lang="en-US" sz="1300" b="1" dirty="0">
                <a:solidFill>
                  <a:schemeClr val="bg1"/>
                </a:solidFill>
              </a:rPr>
              <a:t>Looker Studio</a:t>
            </a:r>
            <a:endParaRPr lang="en-US" sz="1300" dirty="0"/>
          </a:p>
        </p:txBody>
      </p:sp>
      <p:sp>
        <p:nvSpPr>
          <p:cNvPr id="29" name="flecha-126"/>
          <p:cNvSpPr/>
          <p:nvPr/>
        </p:nvSpPr>
        <p:spPr>
          <a:xfrm>
            <a:off x="8366760" y="3172968"/>
            <a:ext cx="0" cy="877824"/>
          </a:xfrm>
          <a:prstGeom prst="line">
            <a:avLst/>
          </a:prstGeom>
          <a:noFill/>
          <a:ln w="22225">
            <a:solidFill>
              <a:srgbClr val="6B7385"/>
            </a:solidFill>
            <a:prstDash val="solid"/>
            <a:tailEnd type="triangle"/>
          </a:ln>
        </p:spPr>
      </p:sp>
      <p:sp>
        <p:nvSpPr>
          <p:cNvPr id="30" name="tarjeta-127"/>
          <p:cNvSpPr/>
          <p:nvPr/>
        </p:nvSpPr>
        <p:spPr>
          <a:xfrm>
            <a:off x="548640" y="5532120"/>
            <a:ext cx="11064240" cy="594360"/>
          </a:xfrm>
          <a:prstGeom prst="roundRect">
            <a:avLst>
              <a:gd name="adj" fmla="val 12308"/>
            </a:avLst>
          </a:prstGeom>
          <a:solidFill>
            <a:schemeClr val="bg2"/>
          </a:solidFill>
          <a:ln/>
        </p:spPr>
      </p:sp>
      <p:sp>
        <p:nvSpPr>
          <p:cNvPr id="31" name="texto-128"/>
          <p:cNvSpPr txBox="1"/>
          <p:nvPr/>
        </p:nvSpPr>
        <p:spPr>
          <a:xfrm>
            <a:off x="777240" y="5532120"/>
            <a:ext cx="10607040" cy="594360"/>
          </a:xfrm>
          <a:prstGeom prst="rect">
            <a:avLst/>
          </a:prstGeom>
          <a:noFill/>
          <a:ln/>
        </p:spPr>
        <p:txBody>
          <a:bodyPr wrap="square" lIns="0" tIns="0" rIns="0" bIns="0" rtlCol="0" anchor="ctr"/>
          <a:lstStyle/>
          <a:p>
            <a:pPr indent="0" marL="0">
              <a:buNone/>
            </a:pPr>
            <a:r>
              <a:rPr lang="en-US" sz="1400" dirty="0">
                <a:solidFill>
                  <a:schemeClr val="tx2"/>
                </a:solidFill>
              </a:rPr>
              <a:t>Transversal: Composer (Airflow) orquesta · IAM, KMS y DLP protegen · Dataplex gobierna calidad y linaje · Cloud Monitoring vigila</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Un modelo común cruza fuentes distintas</a:t>
            </a:r>
            <a:endParaRPr lang="en-US" sz="3200" dirty="0"/>
          </a:p>
        </p:txBody>
      </p:sp>
      <p:sp>
        <p:nvSpPr>
          <p:cNvPr id="4" name="flecha-129"/>
          <p:cNvSpPr/>
          <p:nvPr/>
        </p:nvSpPr>
        <p:spPr>
          <a:xfrm>
            <a:off x="3657600" y="1874520"/>
            <a:ext cx="1069848" cy="1783080"/>
          </a:xfrm>
          <a:prstGeom prst="line">
            <a:avLst/>
          </a:prstGeom>
          <a:noFill/>
          <a:ln w="22225">
            <a:solidFill>
              <a:srgbClr val="8AB0D6"/>
            </a:solidFill>
            <a:prstDash val="solid"/>
            <a:tailEnd type="triangle"/>
          </a:ln>
        </p:spPr>
      </p:sp>
      <p:sp>
        <p:nvSpPr>
          <p:cNvPr id="5" name="flecha-130"/>
          <p:cNvSpPr/>
          <p:nvPr/>
        </p:nvSpPr>
        <p:spPr>
          <a:xfrm>
            <a:off x="3657600" y="3566160"/>
            <a:ext cx="1069848" cy="91440"/>
          </a:xfrm>
          <a:prstGeom prst="line">
            <a:avLst/>
          </a:prstGeom>
          <a:noFill/>
          <a:ln w="22225">
            <a:solidFill>
              <a:srgbClr val="8AB0D6"/>
            </a:solidFill>
            <a:prstDash val="solid"/>
            <a:tailEnd type="triangle"/>
          </a:ln>
        </p:spPr>
      </p:sp>
      <p:sp>
        <p:nvSpPr>
          <p:cNvPr id="6" name="flecha-131"/>
          <p:cNvSpPr/>
          <p:nvPr/>
        </p:nvSpPr>
        <p:spPr>
          <a:xfrm flipV="1">
            <a:off x="3657600" y="3657600"/>
            <a:ext cx="1069848" cy="1600200"/>
          </a:xfrm>
          <a:prstGeom prst="line">
            <a:avLst/>
          </a:prstGeom>
          <a:noFill/>
          <a:ln w="22225">
            <a:solidFill>
              <a:srgbClr val="8AB0D6"/>
            </a:solidFill>
            <a:prstDash val="solid"/>
            <a:tailEnd type="triangle"/>
          </a:ln>
        </p:spPr>
      </p:sp>
      <p:sp>
        <p:nvSpPr>
          <p:cNvPr id="7" name="flecha-132"/>
          <p:cNvSpPr/>
          <p:nvPr/>
        </p:nvSpPr>
        <p:spPr>
          <a:xfrm flipH="1">
            <a:off x="7470648" y="1874520"/>
            <a:ext cx="1078992" cy="1783080"/>
          </a:xfrm>
          <a:prstGeom prst="line">
            <a:avLst/>
          </a:prstGeom>
          <a:noFill/>
          <a:ln w="22225">
            <a:solidFill>
              <a:srgbClr val="8AB0D6"/>
            </a:solidFill>
            <a:prstDash val="solid"/>
            <a:tailEnd type="triangle"/>
          </a:ln>
        </p:spPr>
      </p:sp>
      <p:sp>
        <p:nvSpPr>
          <p:cNvPr id="8" name="flecha-133"/>
          <p:cNvSpPr/>
          <p:nvPr/>
        </p:nvSpPr>
        <p:spPr>
          <a:xfrm flipH="1">
            <a:off x="7470648" y="3566160"/>
            <a:ext cx="1078992" cy="91440"/>
          </a:xfrm>
          <a:prstGeom prst="line">
            <a:avLst/>
          </a:prstGeom>
          <a:noFill/>
          <a:ln w="22225">
            <a:solidFill>
              <a:srgbClr val="8AB0D6"/>
            </a:solidFill>
            <a:prstDash val="solid"/>
            <a:tailEnd type="triangle"/>
          </a:ln>
        </p:spPr>
      </p:sp>
      <p:sp>
        <p:nvSpPr>
          <p:cNvPr id="9" name="flecha-134"/>
          <p:cNvSpPr/>
          <p:nvPr/>
        </p:nvSpPr>
        <p:spPr>
          <a:xfrm flipH="1" flipV="1">
            <a:off x="7470648" y="3657600"/>
            <a:ext cx="1078992" cy="1600200"/>
          </a:xfrm>
          <a:prstGeom prst="line">
            <a:avLst/>
          </a:prstGeom>
          <a:noFill/>
          <a:ln w="22225">
            <a:solidFill>
              <a:srgbClr val="8AB0D6"/>
            </a:solidFill>
            <a:prstDash val="solid"/>
            <a:tailEnd type="triangle"/>
          </a:ln>
        </p:spPr>
      </p:sp>
      <p:sp>
        <p:nvSpPr>
          <p:cNvPr id="10" name="tarjeta-135"/>
          <p:cNvSpPr/>
          <p:nvPr/>
        </p:nvSpPr>
        <p:spPr>
          <a:xfrm>
            <a:off x="914400" y="1417320"/>
            <a:ext cx="2743200" cy="914400"/>
          </a:xfrm>
          <a:prstGeom prst="roundRect">
            <a:avLst>
              <a:gd name="adj" fmla="val 8000"/>
            </a:avLst>
          </a:prstGeom>
          <a:solidFill>
            <a:schemeClr val="bg2"/>
          </a:solidFill>
          <a:ln/>
        </p:spPr>
      </p:sp>
      <p:sp>
        <p:nvSpPr>
          <p:cNvPr id="11" name="texto-136"/>
          <p:cNvSpPr txBox="1"/>
          <p:nvPr/>
        </p:nvSpPr>
        <p:spPr>
          <a:xfrm>
            <a:off x="1097280" y="1508760"/>
            <a:ext cx="2377440" cy="365760"/>
          </a:xfrm>
          <a:prstGeom prst="rect">
            <a:avLst/>
          </a:prstGeom>
          <a:noFill/>
          <a:ln/>
        </p:spPr>
        <p:txBody>
          <a:bodyPr wrap="square" lIns="0" tIns="0" rIns="0" bIns="0" rtlCol="0" anchor="t"/>
          <a:lstStyle/>
          <a:p>
            <a:pPr indent="0" marL="0">
              <a:buNone/>
            </a:pPr>
            <a:r>
              <a:rPr lang="en-US" sz="1600" b="1" dirty="0">
                <a:solidFill>
                  <a:schemeClr val="tx2"/>
                </a:solidFill>
              </a:rPr>
              <a:t>PaySim</a:t>
            </a:r>
            <a:endParaRPr lang="en-US" sz="1600" dirty="0"/>
          </a:p>
        </p:txBody>
      </p:sp>
      <p:sp>
        <p:nvSpPr>
          <p:cNvPr id="12" name="texto-137"/>
          <p:cNvSpPr txBox="1"/>
          <p:nvPr/>
        </p:nvSpPr>
        <p:spPr>
          <a:xfrm>
            <a:off x="1097280" y="1892808"/>
            <a:ext cx="2377440" cy="365760"/>
          </a:xfrm>
          <a:prstGeom prst="rect">
            <a:avLst/>
          </a:prstGeom>
          <a:noFill/>
          <a:ln/>
        </p:spPr>
        <p:txBody>
          <a:bodyPr wrap="square" lIns="0" tIns="0" rIns="0" bIns="0" rtlCol="0" anchor="t"/>
          <a:lstStyle/>
          <a:p>
            <a:pPr indent="0" marL="0">
              <a:buNone/>
            </a:pPr>
            <a:r>
              <a:rPr lang="en-US" sz="1300" dirty="0">
                <a:solidFill>
                  <a:schemeClr val="accent5"/>
                </a:solidFill>
              </a:rPr>
              <a:t>transacciones → cliente</a:t>
            </a:r>
            <a:endParaRPr lang="en-US" sz="1300" dirty="0"/>
          </a:p>
        </p:txBody>
      </p:sp>
      <p:sp>
        <p:nvSpPr>
          <p:cNvPr id="13" name="tarjeta-138"/>
          <p:cNvSpPr/>
          <p:nvPr/>
        </p:nvSpPr>
        <p:spPr>
          <a:xfrm>
            <a:off x="914400" y="3108960"/>
            <a:ext cx="2743200" cy="914400"/>
          </a:xfrm>
          <a:prstGeom prst="roundRect">
            <a:avLst>
              <a:gd name="adj" fmla="val 8000"/>
            </a:avLst>
          </a:prstGeom>
          <a:solidFill>
            <a:schemeClr val="bg2"/>
          </a:solidFill>
          <a:ln/>
        </p:spPr>
      </p:sp>
      <p:sp>
        <p:nvSpPr>
          <p:cNvPr id="14" name="texto-139"/>
          <p:cNvSpPr txBox="1"/>
          <p:nvPr/>
        </p:nvSpPr>
        <p:spPr>
          <a:xfrm>
            <a:off x="1097280" y="3200400"/>
            <a:ext cx="2377440" cy="365760"/>
          </a:xfrm>
          <a:prstGeom prst="rect">
            <a:avLst/>
          </a:prstGeom>
          <a:noFill/>
          <a:ln/>
        </p:spPr>
        <p:txBody>
          <a:bodyPr wrap="square" lIns="0" tIns="0" rIns="0" bIns="0" rtlCol="0" anchor="t"/>
          <a:lstStyle/>
          <a:p>
            <a:pPr indent="0" marL="0">
              <a:buNone/>
            </a:pPr>
            <a:r>
              <a:rPr lang="en-US" sz="1600" b="1" dirty="0">
                <a:solidFill>
                  <a:schemeClr val="tx2"/>
                </a:solidFill>
              </a:rPr>
              <a:t>Google Trends</a:t>
            </a:r>
            <a:endParaRPr lang="en-US" sz="1600" dirty="0"/>
          </a:p>
        </p:txBody>
      </p:sp>
      <p:sp>
        <p:nvSpPr>
          <p:cNvPr id="15" name="texto-140"/>
          <p:cNvSpPr txBox="1"/>
          <p:nvPr/>
        </p:nvSpPr>
        <p:spPr>
          <a:xfrm>
            <a:off x="1097280" y="3584448"/>
            <a:ext cx="2377440" cy="365760"/>
          </a:xfrm>
          <a:prstGeom prst="rect">
            <a:avLst/>
          </a:prstGeom>
          <a:noFill/>
          <a:ln/>
        </p:spPr>
        <p:txBody>
          <a:bodyPr wrap="square" lIns="0" tIns="0" rIns="0" bIns="0" rtlCol="0" anchor="t"/>
          <a:lstStyle/>
          <a:p>
            <a:pPr indent="0" marL="0">
              <a:buNone/>
            </a:pPr>
            <a:r>
              <a:rPr lang="en-US" sz="1300" dirty="0">
                <a:solidFill>
                  <a:schemeClr val="accent5"/>
                </a:solidFill>
              </a:rPr>
              <a:t>región de Perú → distrito</a:t>
            </a:r>
            <a:endParaRPr lang="en-US" sz="1300" dirty="0"/>
          </a:p>
        </p:txBody>
      </p:sp>
      <p:sp>
        <p:nvSpPr>
          <p:cNvPr id="16" name="tarjeta-141"/>
          <p:cNvSpPr/>
          <p:nvPr/>
        </p:nvSpPr>
        <p:spPr>
          <a:xfrm>
            <a:off x="914400" y="4800600"/>
            <a:ext cx="2743200" cy="914400"/>
          </a:xfrm>
          <a:prstGeom prst="roundRect">
            <a:avLst>
              <a:gd name="adj" fmla="val 8000"/>
            </a:avLst>
          </a:prstGeom>
          <a:solidFill>
            <a:schemeClr val="bg2"/>
          </a:solidFill>
          <a:ln/>
        </p:spPr>
      </p:sp>
      <p:sp>
        <p:nvSpPr>
          <p:cNvPr id="17" name="texto-142"/>
          <p:cNvSpPr txBox="1"/>
          <p:nvPr/>
        </p:nvSpPr>
        <p:spPr>
          <a:xfrm>
            <a:off x="1097280" y="4892040"/>
            <a:ext cx="2377440" cy="365760"/>
          </a:xfrm>
          <a:prstGeom prst="rect">
            <a:avLst/>
          </a:prstGeom>
          <a:noFill/>
          <a:ln/>
        </p:spPr>
        <p:txBody>
          <a:bodyPr wrap="square" lIns="0" tIns="0" rIns="0" bIns="0" rtlCol="0" anchor="t"/>
          <a:lstStyle/>
          <a:p>
            <a:pPr indent="0" marL="0">
              <a:buNone/>
            </a:pPr>
            <a:r>
              <a:rPr lang="en-US" sz="1600" b="1" dirty="0">
                <a:solidFill>
                  <a:schemeClr val="tx2"/>
                </a:solidFill>
              </a:rPr>
              <a:t>Telemetría</a:t>
            </a:r>
            <a:endParaRPr lang="en-US" sz="1600" dirty="0"/>
          </a:p>
        </p:txBody>
      </p:sp>
      <p:sp>
        <p:nvSpPr>
          <p:cNvPr id="18" name="texto-143"/>
          <p:cNvSpPr txBox="1"/>
          <p:nvPr/>
        </p:nvSpPr>
        <p:spPr>
          <a:xfrm>
            <a:off x="1097280" y="5276088"/>
            <a:ext cx="2377440" cy="365760"/>
          </a:xfrm>
          <a:prstGeom prst="rect">
            <a:avLst/>
          </a:prstGeom>
          <a:noFill/>
          <a:ln/>
        </p:spPr>
        <p:txBody>
          <a:bodyPr wrap="square" lIns="0" tIns="0" rIns="0" bIns="0" rtlCol="0" anchor="t"/>
          <a:lstStyle/>
          <a:p>
            <a:pPr indent="0" marL="0">
              <a:buNone/>
            </a:pPr>
            <a:r>
              <a:rPr lang="en-US" sz="1300" dirty="0">
                <a:solidFill>
                  <a:schemeClr val="accent5"/>
                </a:solidFill>
              </a:rPr>
              <a:t>terminal → distrito</a:t>
            </a:r>
            <a:endParaRPr lang="en-US" sz="1300" dirty="0"/>
          </a:p>
        </p:txBody>
      </p:sp>
      <p:sp>
        <p:nvSpPr>
          <p:cNvPr id="19" name="tarjeta-144"/>
          <p:cNvSpPr/>
          <p:nvPr/>
        </p:nvSpPr>
        <p:spPr>
          <a:xfrm>
            <a:off x="8549640" y="1417320"/>
            <a:ext cx="2743200" cy="914400"/>
          </a:xfrm>
          <a:prstGeom prst="roundRect">
            <a:avLst>
              <a:gd name="adj" fmla="val 8000"/>
            </a:avLst>
          </a:prstGeom>
          <a:solidFill>
            <a:schemeClr val="bg2"/>
          </a:solidFill>
          <a:ln/>
        </p:spPr>
      </p:sp>
      <p:sp>
        <p:nvSpPr>
          <p:cNvPr id="20" name="texto-145"/>
          <p:cNvSpPr txBox="1"/>
          <p:nvPr/>
        </p:nvSpPr>
        <p:spPr>
          <a:xfrm>
            <a:off x="8732520" y="1508760"/>
            <a:ext cx="2377440" cy="365760"/>
          </a:xfrm>
          <a:prstGeom prst="rect">
            <a:avLst/>
          </a:prstGeom>
          <a:noFill/>
          <a:ln/>
        </p:spPr>
        <p:txBody>
          <a:bodyPr wrap="square" lIns="0" tIns="0" rIns="0" bIns="0" rtlCol="0" anchor="t"/>
          <a:lstStyle/>
          <a:p>
            <a:pPr indent="0" marL="0">
              <a:buNone/>
            </a:pPr>
            <a:r>
              <a:rPr lang="en-US" sz="1600" b="1" dirty="0">
                <a:solidFill>
                  <a:schemeClr val="tx2"/>
                </a:solidFill>
              </a:rPr>
              <a:t>SEC</a:t>
            </a:r>
            <a:endParaRPr lang="en-US" sz="1600" dirty="0"/>
          </a:p>
        </p:txBody>
      </p:sp>
      <p:sp>
        <p:nvSpPr>
          <p:cNvPr id="21" name="texto-146"/>
          <p:cNvSpPr txBox="1"/>
          <p:nvPr/>
        </p:nvSpPr>
        <p:spPr>
          <a:xfrm>
            <a:off x="8732520" y="1892808"/>
            <a:ext cx="2377440" cy="365760"/>
          </a:xfrm>
          <a:prstGeom prst="rect">
            <a:avLst/>
          </a:prstGeom>
          <a:noFill/>
          <a:ln/>
        </p:spPr>
        <p:txBody>
          <a:bodyPr wrap="square" lIns="0" tIns="0" rIns="0" bIns="0" rtlCol="0" anchor="t"/>
          <a:lstStyle/>
          <a:p>
            <a:pPr indent="0" marL="0">
              <a:buNone/>
            </a:pPr>
            <a:r>
              <a:rPr lang="en-US" sz="1300" dirty="0">
                <a:solidFill>
                  <a:schemeClr val="accent5"/>
                </a:solidFill>
              </a:rPr>
              <a:t>banco proxy → entidad</a:t>
            </a:r>
            <a:endParaRPr lang="en-US" sz="1300" dirty="0"/>
          </a:p>
        </p:txBody>
      </p:sp>
      <p:sp>
        <p:nvSpPr>
          <p:cNvPr id="22" name="tarjeta-147"/>
          <p:cNvSpPr/>
          <p:nvPr/>
        </p:nvSpPr>
        <p:spPr>
          <a:xfrm>
            <a:off x="8549640" y="3108960"/>
            <a:ext cx="2743200" cy="914400"/>
          </a:xfrm>
          <a:prstGeom prst="roundRect">
            <a:avLst>
              <a:gd name="adj" fmla="val 8000"/>
            </a:avLst>
          </a:prstGeom>
          <a:solidFill>
            <a:schemeClr val="bg2"/>
          </a:solidFill>
          <a:ln/>
        </p:spPr>
      </p:sp>
      <p:sp>
        <p:nvSpPr>
          <p:cNvPr id="23" name="texto-148"/>
          <p:cNvSpPr txBox="1"/>
          <p:nvPr/>
        </p:nvSpPr>
        <p:spPr>
          <a:xfrm>
            <a:off x="8732520" y="3200400"/>
            <a:ext cx="2377440" cy="365760"/>
          </a:xfrm>
          <a:prstGeom prst="rect">
            <a:avLst/>
          </a:prstGeom>
          <a:noFill/>
          <a:ln/>
        </p:spPr>
        <p:txBody>
          <a:bodyPr wrap="square" lIns="0" tIns="0" rIns="0" bIns="0" rtlCol="0" anchor="t"/>
          <a:lstStyle/>
          <a:p>
            <a:pPr indent="0" marL="0">
              <a:buNone/>
            </a:pPr>
            <a:r>
              <a:rPr lang="en-US" sz="1600" b="1" dirty="0">
                <a:solidFill>
                  <a:schemeClr val="tx2"/>
                </a:solidFill>
              </a:rPr>
              <a:t>EDI mercados</a:t>
            </a:r>
            <a:endParaRPr lang="en-US" sz="1600" dirty="0"/>
          </a:p>
        </p:txBody>
      </p:sp>
      <p:sp>
        <p:nvSpPr>
          <p:cNvPr id="24" name="texto-149"/>
          <p:cNvSpPr txBox="1"/>
          <p:nvPr/>
        </p:nvSpPr>
        <p:spPr>
          <a:xfrm>
            <a:off x="8732520" y="3584448"/>
            <a:ext cx="2377440" cy="365760"/>
          </a:xfrm>
          <a:prstGeom prst="rect">
            <a:avLst/>
          </a:prstGeom>
          <a:noFill/>
          <a:ln/>
        </p:spPr>
        <p:txBody>
          <a:bodyPr wrap="square" lIns="0" tIns="0" rIns="0" bIns="0" rtlCol="0" anchor="t"/>
          <a:lstStyle/>
          <a:p>
            <a:pPr indent="0" marL="0">
              <a:buNone/>
            </a:pPr>
            <a:r>
              <a:rPr lang="en-US" sz="1300" dirty="0">
                <a:solidFill>
                  <a:schemeClr val="accent5"/>
                </a:solidFill>
              </a:rPr>
              <a:t>fecha → precio de cierre</a:t>
            </a:r>
            <a:endParaRPr lang="en-US" sz="1300" dirty="0"/>
          </a:p>
        </p:txBody>
      </p:sp>
      <p:sp>
        <p:nvSpPr>
          <p:cNvPr id="25" name="tarjeta-150"/>
          <p:cNvSpPr/>
          <p:nvPr/>
        </p:nvSpPr>
        <p:spPr>
          <a:xfrm>
            <a:off x="8549640" y="4800600"/>
            <a:ext cx="2743200" cy="914400"/>
          </a:xfrm>
          <a:prstGeom prst="roundRect">
            <a:avLst>
              <a:gd name="adj" fmla="val 8000"/>
            </a:avLst>
          </a:prstGeom>
          <a:solidFill>
            <a:schemeClr val="bg2"/>
          </a:solidFill>
          <a:ln/>
        </p:spPr>
      </p:sp>
      <p:sp>
        <p:nvSpPr>
          <p:cNvPr id="26" name="texto-151"/>
          <p:cNvSpPr txBox="1"/>
          <p:nvPr/>
        </p:nvSpPr>
        <p:spPr>
          <a:xfrm>
            <a:off x="8732520" y="4892040"/>
            <a:ext cx="2377440" cy="365760"/>
          </a:xfrm>
          <a:prstGeom prst="rect">
            <a:avLst/>
          </a:prstGeom>
          <a:noFill/>
          <a:ln/>
        </p:spPr>
        <p:txBody>
          <a:bodyPr wrap="square" lIns="0" tIns="0" rIns="0" bIns="0" rtlCol="0" anchor="t"/>
          <a:lstStyle/>
          <a:p>
            <a:pPr indent="0" marL="0">
              <a:buNone/>
            </a:pPr>
            <a:r>
              <a:rPr lang="en-US" sz="1600" b="1" dirty="0">
                <a:solidFill>
                  <a:schemeClr val="tx2"/>
                </a:solidFill>
              </a:rPr>
              <a:t>Feriados y pagos</a:t>
            </a:r>
            <a:endParaRPr lang="en-US" sz="1600" dirty="0"/>
          </a:p>
        </p:txBody>
      </p:sp>
      <p:sp>
        <p:nvSpPr>
          <p:cNvPr id="27" name="texto-152"/>
          <p:cNvSpPr txBox="1"/>
          <p:nvPr/>
        </p:nvSpPr>
        <p:spPr>
          <a:xfrm>
            <a:off x="8732520" y="5276088"/>
            <a:ext cx="2377440" cy="365760"/>
          </a:xfrm>
          <a:prstGeom prst="rect">
            <a:avLst/>
          </a:prstGeom>
          <a:noFill/>
          <a:ln/>
        </p:spPr>
        <p:txBody>
          <a:bodyPr wrap="square" lIns="0" tIns="0" rIns="0" bIns="0" rtlCol="0" anchor="t"/>
          <a:lstStyle/>
          <a:p>
            <a:pPr indent="0" marL="0">
              <a:buNone/>
            </a:pPr>
            <a:r>
              <a:rPr lang="en-US" sz="1300" dirty="0">
                <a:solidFill>
                  <a:schemeClr val="accent5"/>
                </a:solidFill>
              </a:rPr>
              <a:t>fecha → demanda de efectivo</a:t>
            </a:r>
            <a:endParaRPr lang="en-US" sz="1300" dirty="0"/>
          </a:p>
        </p:txBody>
      </p:sp>
      <p:sp>
        <p:nvSpPr>
          <p:cNvPr id="28" name="hub-153"/>
          <p:cNvSpPr txBox="1"/>
          <p:nvPr/>
        </p:nvSpPr>
        <p:spPr>
          <a:xfrm>
            <a:off x="4727448" y="2560320"/>
            <a:ext cx="2743200" cy="2194560"/>
          </a:xfrm>
          <a:prstGeom prst="ellipse">
            <a:avLst/>
          </a:prstGeom>
          <a:solidFill>
            <a:schemeClr val="tx2"/>
          </a:solidFill>
          <a:ln/>
        </p:spPr>
        <p:txBody>
          <a:bodyPr wrap="square" lIns="1270" tIns="1270" rIns="1270" bIns="1270" rtlCol="0" anchor="ctr"/>
          <a:lstStyle/>
          <a:p>
            <a:pPr algn="ctr" indent="0" marL="0">
              <a:buNone/>
            </a:pPr>
            <a:r>
              <a:rPr lang="en-US" sz="1800" b="1" dirty="0">
                <a:solidFill>
                  <a:schemeClr val="accent1"/>
                </a:solidFill>
              </a:rPr>
              <a:t>Modelo estrella</a:t>
            </a:r>
            <a:endParaRPr lang="en-US" sz="1800" dirty="0"/>
          </a:p>
          <a:p>
            <a:pPr algn="ctr" indent="0" marL="0">
              <a:buNone/>
            </a:pPr>
            <a:r>
              <a:rPr lang="en-US" sz="1500" dirty="0">
                <a:solidFill>
                  <a:schemeClr val="bg1"/>
                </a:solidFill>
              </a:rPr>
              <a:t>Cliente · Distrito</a:t>
            </a:r>
            <a:endParaRPr lang="en-US" sz="1800" dirty="0"/>
          </a:p>
          <a:p>
            <a:pPr algn="ctr" indent="0" marL="0">
              <a:buNone/>
            </a:pPr>
            <a:r>
              <a:rPr lang="en-US" sz="1500" dirty="0">
                <a:solidFill>
                  <a:schemeClr val="bg1"/>
                </a:solidFill>
              </a:rPr>
              <a:t>Entidad · Fecha</a:t>
            </a:r>
            <a:endParaRPr lang="en-US" sz="18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Dos regiones: Santiago opera, São Paulo protege</a:t>
            </a:r>
            <a:endParaRPr lang="en-US" sz="3200" dirty="0"/>
          </a:p>
        </p:txBody>
      </p:sp>
      <p:sp>
        <p:nvSpPr>
          <p:cNvPr id="4" name="tarjeta-154"/>
          <p:cNvSpPr/>
          <p:nvPr/>
        </p:nvSpPr>
        <p:spPr>
          <a:xfrm>
            <a:off x="548640" y="1965960"/>
            <a:ext cx="4754880" cy="4114800"/>
          </a:xfrm>
          <a:prstGeom prst="roundRect">
            <a:avLst>
              <a:gd name="adj" fmla="val 1778"/>
            </a:avLst>
          </a:prstGeom>
          <a:solidFill>
            <a:schemeClr val="tx2"/>
          </a:solidFill>
          <a:ln/>
        </p:spPr>
      </p:sp>
      <p:sp>
        <p:nvSpPr>
          <p:cNvPr id="5" name="texto-155"/>
          <p:cNvSpPr txBox="1"/>
          <p:nvPr/>
        </p:nvSpPr>
        <p:spPr>
          <a:xfrm>
            <a:off x="822960" y="2148840"/>
            <a:ext cx="4206240" cy="320040"/>
          </a:xfrm>
          <a:prstGeom prst="rect">
            <a:avLst/>
          </a:prstGeom>
          <a:noFill/>
          <a:ln/>
        </p:spPr>
        <p:txBody>
          <a:bodyPr wrap="square" lIns="0" tIns="0" rIns="0" bIns="0" rtlCol="0" anchor="t"/>
          <a:lstStyle/>
          <a:p>
            <a:pPr indent="0" marL="0">
              <a:buNone/>
            </a:pPr>
            <a:r>
              <a:rPr lang="en-US" sz="1200" b="1" dirty="0">
                <a:solidFill>
                  <a:schemeClr val="accent1"/>
                </a:solidFill>
              </a:rPr>
              <a:t>REGIÓN PRINCIPAL · 3 zonas</a:t>
            </a:r>
            <a:endParaRPr lang="en-US" sz="1200" dirty="0"/>
          </a:p>
        </p:txBody>
      </p:sp>
      <p:sp>
        <p:nvSpPr>
          <p:cNvPr id="6" name="texto-156"/>
          <p:cNvSpPr txBox="1"/>
          <p:nvPr/>
        </p:nvSpPr>
        <p:spPr>
          <a:xfrm>
            <a:off x="822960" y="2514600"/>
            <a:ext cx="4206240" cy="457200"/>
          </a:xfrm>
          <a:prstGeom prst="rect">
            <a:avLst/>
          </a:prstGeom>
          <a:noFill/>
          <a:ln/>
        </p:spPr>
        <p:txBody>
          <a:bodyPr wrap="square" lIns="0" tIns="0" rIns="0" bIns="0" rtlCol="0" anchor="t"/>
          <a:lstStyle/>
          <a:p>
            <a:pPr indent="0" marL="0">
              <a:buNone/>
            </a:pPr>
            <a:r>
              <a:rPr lang="en-US" sz="2000" b="1" dirty="0">
                <a:solidFill>
                  <a:schemeClr val="bg1"/>
                </a:solidFill>
                <a:latin typeface="Cambria" pitchFamily="34" charset="0"/>
                <a:ea typeface="Cambria" pitchFamily="34" charset="-122"/>
                <a:cs typeface="Cambria" pitchFamily="34" charset="-120"/>
              </a:rPr>
              <a:t>Santiago · southamerica-west1</a:t>
            </a:r>
            <a:endParaRPr lang="en-US" sz="2000" dirty="0"/>
          </a:p>
        </p:txBody>
      </p:sp>
      <p:sp>
        <p:nvSpPr>
          <p:cNvPr id="7" name="texto-157"/>
          <p:cNvSpPr txBox="1"/>
          <p:nvPr/>
        </p:nvSpPr>
        <p:spPr>
          <a:xfrm>
            <a:off x="822960" y="3200400"/>
            <a:ext cx="4206240" cy="2651760"/>
          </a:xfrm>
          <a:prstGeom prst="rect">
            <a:avLst/>
          </a:prstGeom>
          <a:noFill/>
          <a:ln/>
        </p:spPr>
        <p:txBody>
          <a:bodyPr wrap="square" lIns="0" tIns="0" rIns="0" bIns="0" rtlCol="0" anchor="t"/>
          <a:lstStyle/>
          <a:p>
            <a:pPr marL="342900" indent="-342900">
              <a:spcAft>
                <a:spcPts val="1200"/>
              </a:spcAft>
              <a:buSzPct val="100000"/>
              <a:buChar char="•"/>
            </a:pPr>
            <a:r>
              <a:rPr lang="en-US" sz="1500" dirty="0">
                <a:solidFill>
                  <a:schemeClr val="bg1"/>
                </a:solidFill>
              </a:rPr>
              <a:t>Ingesta, streaming y autorización</a:t>
            </a:r>
            <a:endParaRPr lang="en-US" sz="1500" dirty="0"/>
          </a:p>
          <a:p>
            <a:pPr marL="342900" indent="-342900">
              <a:spcAft>
                <a:spcPts val="1200"/>
              </a:spcAft>
              <a:buSzPct val="100000"/>
              <a:buChar char="•"/>
            </a:pPr>
            <a:r>
              <a:rPr lang="en-US" sz="1500" dirty="0">
                <a:solidFill>
                  <a:schemeClr val="bg1"/>
                </a:solidFill>
              </a:rPr>
              <a:t>Lakehouse BigQuery + Data Lake</a:t>
            </a:r>
            <a:endParaRPr lang="en-US" sz="1500" dirty="0"/>
          </a:p>
          <a:p>
            <a:pPr marL="342900" indent="-342900">
              <a:spcAft>
                <a:spcPts val="1200"/>
              </a:spcAft>
              <a:buSzPct val="100000"/>
              <a:buChar char="•"/>
            </a:pPr>
            <a:r>
              <a:rPr lang="en-US" sz="1500" dirty="0">
                <a:solidFill>
                  <a:schemeClr val="bg1"/>
                </a:solidFill>
              </a:rPr>
              <a:t>Alta disponibilidad entre zonas</a:t>
            </a:r>
            <a:endParaRPr lang="en-US" sz="1500" dirty="0"/>
          </a:p>
          <a:p>
            <a:pPr marL="342900" indent="-342900">
              <a:spcAft>
                <a:spcPts val="1200"/>
              </a:spcAft>
              <a:buSzPct val="100000"/>
              <a:buChar char="•"/>
            </a:pPr>
            <a:r>
              <a:rPr lang="en-US" sz="1500" dirty="0">
                <a:solidFill>
                  <a:schemeClr val="bg1"/>
                </a:solidFill>
              </a:rPr>
              <a:t>Versionado y soft delete de 30 días</a:t>
            </a:r>
            <a:endParaRPr lang="en-US" sz="1500" dirty="0"/>
          </a:p>
        </p:txBody>
      </p:sp>
      <p:sp>
        <p:nvSpPr>
          <p:cNvPr id="8" name="tarjeta-158"/>
          <p:cNvSpPr/>
          <p:nvPr/>
        </p:nvSpPr>
        <p:spPr>
          <a:xfrm>
            <a:off x="6885432" y="1965960"/>
            <a:ext cx="4754880" cy="4114800"/>
          </a:xfrm>
          <a:prstGeom prst="roundRect">
            <a:avLst>
              <a:gd name="adj" fmla="val 1778"/>
            </a:avLst>
          </a:prstGeom>
          <a:solidFill>
            <a:schemeClr val="accent3"/>
          </a:solidFill>
          <a:ln/>
        </p:spPr>
      </p:sp>
      <p:sp>
        <p:nvSpPr>
          <p:cNvPr id="9" name="texto-159"/>
          <p:cNvSpPr txBox="1"/>
          <p:nvPr/>
        </p:nvSpPr>
        <p:spPr>
          <a:xfrm>
            <a:off x="7159752" y="2148840"/>
            <a:ext cx="4206240" cy="320040"/>
          </a:xfrm>
          <a:prstGeom prst="rect">
            <a:avLst/>
          </a:prstGeom>
          <a:noFill/>
          <a:ln/>
        </p:spPr>
        <p:txBody>
          <a:bodyPr wrap="square" lIns="0" tIns="0" rIns="0" bIns="0" rtlCol="0" anchor="t"/>
          <a:lstStyle/>
          <a:p>
            <a:pPr indent="0" marL="0">
              <a:buNone/>
            </a:pPr>
            <a:r>
              <a:rPr lang="en-US" sz="1200" b="1" dirty="0">
                <a:solidFill>
                  <a:schemeClr val="accent1"/>
                </a:solidFill>
              </a:rPr>
              <a:t>REGIÓN DE CONTINGENCIA (DR)</a:t>
            </a:r>
            <a:endParaRPr lang="en-US" sz="1200" dirty="0"/>
          </a:p>
        </p:txBody>
      </p:sp>
      <p:sp>
        <p:nvSpPr>
          <p:cNvPr id="10" name="texto-160"/>
          <p:cNvSpPr txBox="1"/>
          <p:nvPr/>
        </p:nvSpPr>
        <p:spPr>
          <a:xfrm>
            <a:off x="7159752" y="2514600"/>
            <a:ext cx="4206240" cy="457200"/>
          </a:xfrm>
          <a:prstGeom prst="rect">
            <a:avLst/>
          </a:prstGeom>
          <a:noFill/>
          <a:ln/>
        </p:spPr>
        <p:txBody>
          <a:bodyPr wrap="square" lIns="0" tIns="0" rIns="0" bIns="0" rtlCol="0" anchor="t"/>
          <a:lstStyle/>
          <a:p>
            <a:pPr indent="0" marL="0">
              <a:buNone/>
            </a:pPr>
            <a:r>
              <a:rPr lang="en-US" sz="2000" b="1" dirty="0">
                <a:solidFill>
                  <a:schemeClr val="bg1"/>
                </a:solidFill>
                <a:latin typeface="Cambria" pitchFamily="34" charset="0"/>
                <a:ea typeface="Cambria" pitchFamily="34" charset="-122"/>
                <a:cs typeface="Cambria" pitchFamily="34" charset="-120"/>
              </a:rPr>
              <a:t>São Paulo · southamerica-east1</a:t>
            </a:r>
            <a:endParaRPr lang="en-US" sz="2000" dirty="0"/>
          </a:p>
        </p:txBody>
      </p:sp>
      <p:sp>
        <p:nvSpPr>
          <p:cNvPr id="11" name="texto-161"/>
          <p:cNvSpPr txBox="1"/>
          <p:nvPr/>
        </p:nvSpPr>
        <p:spPr>
          <a:xfrm>
            <a:off x="7159752" y="3200400"/>
            <a:ext cx="4206240" cy="2651760"/>
          </a:xfrm>
          <a:prstGeom prst="rect">
            <a:avLst/>
          </a:prstGeom>
          <a:noFill/>
          <a:ln/>
        </p:spPr>
        <p:txBody>
          <a:bodyPr wrap="square" lIns="0" tIns="0" rIns="0" bIns="0" rtlCol="0" anchor="t"/>
          <a:lstStyle/>
          <a:p>
            <a:pPr marL="342900" indent="-342900">
              <a:spcAft>
                <a:spcPts val="1200"/>
              </a:spcAft>
              <a:buSzPct val="100000"/>
              <a:buChar char="•"/>
            </a:pPr>
            <a:r>
              <a:rPr lang="en-US" sz="1500" dirty="0">
                <a:solidFill>
                  <a:schemeClr val="bg1"/>
                </a:solidFill>
              </a:rPr>
              <a:t>Autorización en espera (warm standby)</a:t>
            </a:r>
            <a:endParaRPr lang="en-US" sz="1500" dirty="0"/>
          </a:p>
          <a:p>
            <a:pPr marL="342900" indent="-342900">
              <a:spcAft>
                <a:spcPts val="1200"/>
              </a:spcAft>
              <a:buSzPct val="100000"/>
              <a:buChar char="•"/>
            </a:pPr>
            <a:r>
              <a:rPr lang="en-US" sz="1500" dirty="0">
                <a:solidFill>
                  <a:schemeClr val="bg1"/>
                </a:solidFill>
              </a:rPr>
              <a:t>Réplica de BigQuery y copia del lake</a:t>
            </a:r>
            <a:endParaRPr lang="en-US" sz="1500" dirty="0"/>
          </a:p>
          <a:p>
            <a:pPr marL="342900" indent="-342900">
              <a:spcAft>
                <a:spcPts val="1200"/>
              </a:spcAft>
              <a:buSzPct val="100000"/>
              <a:buChar char="•"/>
            </a:pPr>
            <a:r>
              <a:rPr lang="en-US" sz="1500" dirty="0">
                <a:solidFill>
                  <a:schemeClr val="bg1"/>
                </a:solidFill>
              </a:rPr>
              <a:t>Plantilla Dataflow lista (pilot light)</a:t>
            </a:r>
            <a:endParaRPr lang="en-US" sz="1500" dirty="0"/>
          </a:p>
          <a:p>
            <a:pPr marL="342900" indent="-342900">
              <a:spcAft>
                <a:spcPts val="1200"/>
              </a:spcAft>
              <a:buSzPct val="100000"/>
              <a:buChar char="•"/>
            </a:pPr>
            <a:r>
              <a:rPr lang="en-US" sz="1500" dirty="0">
                <a:solidFill>
                  <a:schemeClr val="bg1"/>
                </a:solidFill>
              </a:rPr>
              <a:t>Respaldos inmutables (Bucket Lock)</a:t>
            </a:r>
            <a:endParaRPr lang="en-US" sz="1500" dirty="0"/>
          </a:p>
        </p:txBody>
      </p:sp>
      <p:sp>
        <p:nvSpPr>
          <p:cNvPr id="12" name="lb-162"/>
          <p:cNvSpPr txBox="1"/>
          <p:nvPr/>
        </p:nvSpPr>
        <p:spPr>
          <a:xfrm>
            <a:off x="2926080" y="1280160"/>
            <a:ext cx="6336792" cy="457200"/>
          </a:xfrm>
          <a:prstGeom prst="roundRect">
            <a:avLst>
              <a:gd name="adj" fmla="val 16000"/>
            </a:avLst>
          </a:prstGeom>
          <a:solidFill>
            <a:schemeClr val="accent1"/>
          </a:solidFill>
          <a:ln/>
        </p:spPr>
        <p:txBody>
          <a:bodyPr wrap="square" lIns="0" tIns="0" rIns="0" bIns="0" rtlCol="0" anchor="ctr"/>
          <a:lstStyle/>
          <a:p>
            <a:pPr algn="ctr" indent="0" marL="0">
              <a:buNone/>
            </a:pPr>
            <a:r>
              <a:rPr lang="en-US" sz="1400" b="1" dirty="0">
                <a:solidFill>
                  <a:schemeClr val="tx2"/>
                </a:solidFill>
              </a:rPr>
              <a:t>Balanceador global · failover automático de la autorización</a:t>
            </a:r>
            <a:endParaRPr lang="en-US" sz="1400" dirty="0"/>
          </a:p>
        </p:txBody>
      </p:sp>
      <p:sp>
        <p:nvSpPr>
          <p:cNvPr id="13" name="flecha-163"/>
          <p:cNvSpPr/>
          <p:nvPr/>
        </p:nvSpPr>
        <p:spPr>
          <a:xfrm>
            <a:off x="5349240" y="3291840"/>
            <a:ext cx="1490472" cy="0"/>
          </a:xfrm>
          <a:prstGeom prst="line">
            <a:avLst/>
          </a:prstGeom>
          <a:noFill/>
          <a:ln w="22225">
            <a:solidFill>
              <a:srgbClr val="F2A541"/>
            </a:solidFill>
            <a:prstDash val="solid"/>
            <a:tailEnd type="triangle"/>
          </a:ln>
        </p:spPr>
      </p:sp>
      <p:sp>
        <p:nvSpPr>
          <p:cNvPr id="14" name="flecha-164"/>
          <p:cNvSpPr/>
          <p:nvPr/>
        </p:nvSpPr>
        <p:spPr>
          <a:xfrm>
            <a:off x="5349240" y="4206240"/>
            <a:ext cx="1490472" cy="0"/>
          </a:xfrm>
          <a:prstGeom prst="line">
            <a:avLst/>
          </a:prstGeom>
          <a:noFill/>
          <a:ln w="22225">
            <a:solidFill>
              <a:srgbClr val="F2A541"/>
            </a:solidFill>
            <a:prstDash val="solid"/>
            <a:tailEnd type="triangle"/>
          </a:ln>
        </p:spPr>
      </p:sp>
      <p:sp>
        <p:nvSpPr>
          <p:cNvPr id="15" name="flecha-165"/>
          <p:cNvSpPr/>
          <p:nvPr/>
        </p:nvSpPr>
        <p:spPr>
          <a:xfrm>
            <a:off x="5349240" y="5120640"/>
            <a:ext cx="1490472" cy="0"/>
          </a:xfrm>
          <a:prstGeom prst="line">
            <a:avLst/>
          </a:prstGeom>
          <a:noFill/>
          <a:ln w="22225">
            <a:solidFill>
              <a:srgbClr val="F2A541"/>
            </a:solidFill>
            <a:prstDash val="solid"/>
            <a:tailEnd type="triangle"/>
          </a:ln>
        </p:spPr>
      </p:sp>
      <p:sp>
        <p:nvSpPr>
          <p:cNvPr id="16" name="texto-166"/>
          <p:cNvSpPr txBox="1"/>
          <p:nvPr/>
        </p:nvSpPr>
        <p:spPr>
          <a:xfrm>
            <a:off x="5349240" y="3383280"/>
            <a:ext cx="1490472" cy="502920"/>
          </a:xfrm>
          <a:prstGeom prst="rect">
            <a:avLst/>
          </a:prstGeom>
          <a:noFill/>
          <a:ln/>
        </p:spPr>
        <p:txBody>
          <a:bodyPr wrap="square" lIns="0" tIns="0" rIns="0" bIns="0" rtlCol="0" anchor="t"/>
          <a:lstStyle/>
          <a:p>
            <a:pPr algn="ctr" indent="0" marL="0">
              <a:buNone/>
            </a:pPr>
            <a:r>
              <a:rPr lang="en-US" sz="1100" dirty="0">
                <a:solidFill>
                  <a:schemeClr val="accent5"/>
                </a:solidFill>
              </a:rPr>
              <a:t>réplica</a:t>
            </a:r>
            <a:endParaRPr lang="en-US" sz="1100" dirty="0"/>
          </a:p>
          <a:p>
            <a:pPr algn="ctr" indent="0" marL="0">
              <a:buNone/>
            </a:pPr>
            <a:r>
              <a:rPr lang="en-US" sz="1100" dirty="0">
                <a:solidFill>
                  <a:schemeClr val="accent5"/>
                </a:solidFill>
              </a:rPr>
              <a:t>de datos</a:t>
            </a:r>
            <a:endParaRPr lang="en-US" sz="1100" dirty="0"/>
          </a:p>
        </p:txBody>
      </p:sp>
      <p:sp>
        <p:nvSpPr>
          <p:cNvPr id="17" name="texto-167"/>
          <p:cNvSpPr txBox="1"/>
          <p:nvPr/>
        </p:nvSpPr>
        <p:spPr>
          <a:xfrm>
            <a:off x="5349240" y="4297680"/>
            <a:ext cx="1490472" cy="502920"/>
          </a:xfrm>
          <a:prstGeom prst="rect">
            <a:avLst/>
          </a:prstGeom>
          <a:noFill/>
          <a:ln/>
        </p:spPr>
        <p:txBody>
          <a:bodyPr wrap="square" lIns="0" tIns="0" rIns="0" bIns="0" rtlCol="0" anchor="t"/>
          <a:lstStyle/>
          <a:p>
            <a:pPr algn="ctr" indent="0" marL="0">
              <a:buNone/>
            </a:pPr>
            <a:r>
              <a:rPr lang="en-US" sz="1100" dirty="0">
                <a:solidFill>
                  <a:schemeClr val="accent5"/>
                </a:solidFill>
              </a:rPr>
              <a:t>copia del</a:t>
            </a:r>
            <a:endParaRPr lang="en-US" sz="1100" dirty="0"/>
          </a:p>
          <a:p>
            <a:pPr algn="ctr" indent="0" marL="0">
              <a:buNone/>
            </a:pPr>
            <a:r>
              <a:rPr lang="en-US" sz="1100" dirty="0">
                <a:solidFill>
                  <a:schemeClr val="accent5"/>
                </a:solidFill>
              </a:rPr>
              <a:t>lake</a:t>
            </a:r>
            <a:endParaRPr lang="en-US" sz="1100" dirty="0"/>
          </a:p>
        </p:txBody>
      </p:sp>
      <p:sp>
        <p:nvSpPr>
          <p:cNvPr id="18" name="texto-168"/>
          <p:cNvSpPr txBox="1"/>
          <p:nvPr/>
        </p:nvSpPr>
        <p:spPr>
          <a:xfrm>
            <a:off x="5349240" y="5212080"/>
            <a:ext cx="1490472" cy="502920"/>
          </a:xfrm>
          <a:prstGeom prst="rect">
            <a:avLst/>
          </a:prstGeom>
          <a:noFill/>
          <a:ln/>
        </p:spPr>
        <p:txBody>
          <a:bodyPr wrap="square" lIns="0" tIns="0" rIns="0" bIns="0" rtlCol="0" anchor="t"/>
          <a:lstStyle/>
          <a:p>
            <a:pPr algn="ctr" indent="0" marL="0">
              <a:buNone/>
            </a:pPr>
            <a:r>
              <a:rPr lang="en-US" sz="1100" dirty="0">
                <a:solidFill>
                  <a:schemeClr val="accent5"/>
                </a:solidFill>
              </a:rPr>
              <a:t>respaldos</a:t>
            </a:r>
            <a:endParaRPr lang="en-US" sz="1100" dirty="0"/>
          </a:p>
          <a:p>
            <a:pPr algn="ctr" indent="0" marL="0">
              <a:buNone/>
            </a:pPr>
            <a:r>
              <a:rPr lang="en-US" sz="1100" dirty="0">
                <a:solidFill>
                  <a:schemeClr val="accent5"/>
                </a:solidFill>
              </a:rPr>
              <a:t>inmutables</a:t>
            </a:r>
            <a:endParaRPr lang="en-US" sz="11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Respaldos y metas de recuperación</a:t>
            </a:r>
            <a:endParaRPr lang="en-US" sz="3200" dirty="0"/>
          </a:p>
        </p:txBody>
      </p:sp>
      <p:graphicFrame>
        <p:nvGraphicFramePr>
          <p:cNvPr id="10" name="tabla-169"/>
          <p:cNvGraphicFramePr>
            <a:graphicFrameLocks noGrp="1"/>
          </p:cNvGraphicFramePr>
          <p:nvPr>
            <p:extLst>
              <p:ext uri="{D42A27DB-BD31-4B8C-83A1-F6EECF244321}">
                <p14:modId xmlns:p14="http://schemas.microsoft.com/office/powerpoint/2010/main" val="1579011935"/>
              </p:ext>
            </p:extLst>
          </p:nvPr>
        </p:nvGraphicFramePr>
        <p:xfrm>
          <a:off x="548640" y="1325880"/>
          <a:ext cx="6766560" cy="914400"/>
        </p:xfrm>
        <a:graphic>
          <a:graphicData uri="http://schemas.openxmlformats.org/drawingml/2006/table">
            <a:tbl>
              <a:tblPr/>
              <a:tblGrid>
                <a:gridCol w="822960"/>
                <a:gridCol w="2514600"/>
                <a:gridCol w="960120"/>
                <a:gridCol w="960120"/>
                <a:gridCol w="1508760"/>
              </a:tblGrid>
              <a:tr h="54864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Nivel</a:t>
                      </a:r>
                      <a:endParaRPr lang="en-US" sz="1300" dirty="0">
                        <a:latin typeface="Calibri" charset="0"/>
                        <a:ea typeface="Calibri" charset="0"/>
                        <a:cs typeface="Calibri" charset="0"/>
                      </a:endParaRPr>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4213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Servicios</a:t>
                      </a:r>
                      <a:endParaRPr lang="en-US" sz="1300" dirty="0">
                        <a:latin typeface="Calibri" charset="0"/>
                        <a:ea typeface="Calibri" charset="0"/>
                        <a:cs typeface="Calibri" charset="0"/>
                      </a:endParaRPr>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4213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RTO</a:t>
                      </a:r>
                      <a:endParaRPr lang="en-US" sz="1300" dirty="0">
                        <a:latin typeface="Calibri" charset="0"/>
                        <a:ea typeface="Calibri" charset="0"/>
                        <a:cs typeface="Calibri" charset="0"/>
                      </a:endParaRPr>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4213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RPO</a:t>
                      </a:r>
                      <a:endParaRPr lang="en-US" sz="1300" dirty="0">
                        <a:latin typeface="Calibri" charset="0"/>
                        <a:ea typeface="Calibri" charset="0"/>
                        <a:cs typeface="Calibri" charset="0"/>
                      </a:endParaRPr>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4213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Estrategia DR</a:t>
                      </a:r>
                      <a:endParaRPr lang="en-US" sz="1300" dirty="0">
                        <a:latin typeface="Calibri" charset="0"/>
                        <a:ea typeface="Calibri" charset="0"/>
                        <a:cs typeface="Calibri" charset="0"/>
                      </a:endParaRPr>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4213D"/>
                    </a:solidFill>
                  </a:tcPr>
                </a:tc>
              </a:tr>
              <a:tr h="548640">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Tier 0</a:t>
                      </a:r>
                      <a:endParaRPr lang="en-US" sz="1300" dirty="0">
                        <a:latin typeface="Calibri" charset="0"/>
                        <a:ea typeface="Calibri" charset="0"/>
                        <a:cs typeface="Calibri" charset="0"/>
                      </a:endParaRPr>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Autorización y fraude</a:t>
                      </a:r>
                      <a:endParaRPr lang="en-US" sz="1300" dirty="0">
                        <a:latin typeface="Calibri" charset="0"/>
                        <a:ea typeface="Calibri" charset="0"/>
                        <a:cs typeface="Calibri" charset="0"/>
                      </a:endParaRPr>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&lt; 5 min</a:t>
                      </a:r>
                      <a:endParaRPr lang="en-US" sz="1300" dirty="0">
                        <a:latin typeface="Calibri" charset="0"/>
                        <a:ea typeface="Calibri" charset="0"/>
                        <a:cs typeface="Calibri" charset="0"/>
                      </a:endParaRPr>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 0</a:t>
                      </a:r>
                      <a:endParaRPr lang="en-US" sz="1300" dirty="0">
                        <a:latin typeface="Calibri" charset="0"/>
                        <a:ea typeface="Calibri" charset="0"/>
                        <a:cs typeface="Calibri" charset="0"/>
                      </a:endParaRPr>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Warm standby</a:t>
                      </a:r>
                      <a:endParaRPr lang="en-US" sz="1300" dirty="0">
                        <a:latin typeface="Calibri" charset="0"/>
                        <a:ea typeface="Calibri" charset="0"/>
                        <a:cs typeface="Calibri" charset="0"/>
                      </a:endParaRPr>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r>
              <a:tr h="548640">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Tier 1</a:t>
                      </a:r>
                      <a:endParaRPr lang="en-US" sz="1300" dirty="0">
                        <a:latin typeface="Calibri" charset="0"/>
                        <a:ea typeface="Calibri" charset="0"/>
                        <a:cs typeface="Calibri" charset="0"/>
                      </a:endParaRPr>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Alertas, telemetría, analítica en vivo</a:t>
                      </a:r>
                      <a:endParaRPr lang="en-US" sz="1300" dirty="0">
                        <a:latin typeface="Calibri" charset="0"/>
                        <a:ea typeface="Calibri" charset="0"/>
                        <a:cs typeface="Calibri" charset="0"/>
                      </a:endParaRPr>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1 h</a:t>
                      </a:r>
                      <a:endParaRPr lang="en-US" sz="1300" dirty="0">
                        <a:latin typeface="Calibri" charset="0"/>
                        <a:ea typeface="Calibri" charset="0"/>
                        <a:cs typeface="Calibri" charset="0"/>
                      </a:endParaRPr>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15 min</a:t>
                      </a:r>
                      <a:endParaRPr lang="en-US" sz="1300" dirty="0">
                        <a:latin typeface="Calibri" charset="0"/>
                        <a:ea typeface="Calibri" charset="0"/>
                        <a:cs typeface="Calibri" charset="0"/>
                      </a:endParaRPr>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Pilot light</a:t>
                      </a:r>
                      <a:endParaRPr lang="en-US" sz="1300" dirty="0">
                        <a:latin typeface="Calibri" charset="0"/>
                        <a:ea typeface="Calibri" charset="0"/>
                        <a:cs typeface="Calibri" charset="0"/>
                      </a:endParaRPr>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r>
              <a:tr h="548640">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Tier 2</a:t>
                      </a:r>
                      <a:endParaRPr lang="en-US" sz="1300" dirty="0">
                        <a:latin typeface="Calibri" charset="0"/>
                        <a:ea typeface="Calibri" charset="0"/>
                        <a:cs typeface="Calibri" charset="0"/>
                      </a:endParaRPr>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Batch, liquidez e informes</a:t>
                      </a:r>
                      <a:endParaRPr lang="en-US" sz="1300" dirty="0">
                        <a:latin typeface="Calibri" charset="0"/>
                        <a:ea typeface="Calibri" charset="0"/>
                        <a:cs typeface="Calibri" charset="0"/>
                      </a:endParaRPr>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24 h</a:t>
                      </a:r>
                      <a:endParaRPr lang="en-US" sz="1300" dirty="0">
                        <a:latin typeface="Calibri" charset="0"/>
                        <a:ea typeface="Calibri" charset="0"/>
                        <a:cs typeface="Calibri" charset="0"/>
                      </a:endParaRPr>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24 h</a:t>
                      </a:r>
                      <a:endParaRPr lang="en-US" sz="1300" dirty="0">
                        <a:latin typeface="Calibri" charset="0"/>
                        <a:ea typeface="Calibri" charset="0"/>
                        <a:cs typeface="Calibri" charset="0"/>
                      </a:endParaRPr>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Backup &amp; restore</a:t>
                      </a:r>
                      <a:endParaRPr lang="en-US" sz="1300" dirty="0">
                        <a:latin typeface="Calibri" charset="0"/>
                        <a:ea typeface="Calibri" charset="0"/>
                        <a:cs typeface="Calibri" charset="0"/>
                      </a:endParaRPr>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r>
            </a:tbl>
          </a:graphicData>
        </a:graphic>
      </p:graphicFrame>
      <p:sp>
        <p:nvSpPr>
          <p:cNvPr id="5" name="texto-170"/>
          <p:cNvSpPr txBox="1"/>
          <p:nvPr/>
        </p:nvSpPr>
        <p:spPr>
          <a:xfrm>
            <a:off x="548640" y="3840480"/>
            <a:ext cx="6766560" cy="365760"/>
          </a:xfrm>
          <a:prstGeom prst="rect">
            <a:avLst/>
          </a:prstGeom>
          <a:noFill/>
          <a:ln/>
        </p:spPr>
        <p:txBody>
          <a:bodyPr wrap="square" lIns="0" tIns="0" rIns="0" bIns="0" rtlCol="0" anchor="t"/>
          <a:lstStyle/>
          <a:p>
            <a:pPr indent="0" marL="0">
              <a:buNone/>
            </a:pPr>
            <a:r>
              <a:rPr lang="en-US" sz="1800" b="1" dirty="0">
                <a:solidFill>
                  <a:schemeClr val="tx2"/>
                </a:solidFill>
              </a:rPr>
              <a:t>Qué se respalda</a:t>
            </a:r>
            <a:endParaRPr lang="en-US" sz="1800" dirty="0"/>
          </a:p>
        </p:txBody>
      </p:sp>
      <p:sp>
        <p:nvSpPr>
          <p:cNvPr id="6" name="texto-171"/>
          <p:cNvSpPr txBox="1"/>
          <p:nvPr/>
        </p:nvSpPr>
        <p:spPr>
          <a:xfrm>
            <a:off x="548640" y="4297680"/>
            <a:ext cx="6766560" cy="19202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BigQuery: time travel 7 días + snapshots diarios (35 días) y mensuales (13 meses)</a:t>
            </a:r>
            <a:endParaRPr lang="en-US" sz="1400" dirty="0"/>
          </a:p>
          <a:p>
            <a:pPr marL="342900" indent="-342900">
              <a:spcAft>
                <a:spcPts val="600"/>
              </a:spcAft>
              <a:buSzPct val="100000"/>
              <a:buChar char="•"/>
            </a:pPr>
            <a:r>
              <a:rPr lang="en-US" sz="1400" dirty="0">
                <a:solidFill>
                  <a:schemeClr val="tx1"/>
                </a:solidFill>
              </a:rPr>
              <a:t>Histórico regulatorio: exportación mensual a bucket Archive con Bucket Lock</a:t>
            </a:r>
            <a:endParaRPr lang="en-US" sz="1400" dirty="0"/>
          </a:p>
          <a:p>
            <a:pPr marL="342900" indent="-342900">
              <a:spcAft>
                <a:spcPts val="600"/>
              </a:spcAft>
              <a:buSzPct val="100000"/>
              <a:buChar char="•"/>
            </a:pPr>
            <a:r>
              <a:rPr lang="en-US" sz="1400" dirty="0">
                <a:solidFill>
                  <a:schemeClr val="tx1"/>
                </a:solidFill>
              </a:rPr>
              <a:t>Data Lake: versionado, soft delete 30 días y copia continua a São Paulo</a:t>
            </a:r>
            <a:endParaRPr lang="en-US" sz="1400" dirty="0"/>
          </a:p>
          <a:p>
            <a:pPr marL="342900" indent="-342900">
              <a:spcAft>
                <a:spcPts val="600"/>
              </a:spcAft>
              <a:buSzPct val="100000"/>
              <a:buChar char="•"/>
            </a:pPr>
            <a:r>
              <a:rPr lang="en-US" sz="1400" dirty="0">
                <a:solidFill>
                  <a:schemeClr val="tx1"/>
                </a:solidFill>
              </a:rPr>
              <a:t>Pub/Sub, Dataflow, Composer y Terraform: snapshots en cada despliegue y Git</a:t>
            </a:r>
            <a:endParaRPr lang="en-US" sz="1400" dirty="0"/>
          </a:p>
        </p:txBody>
      </p:sp>
      <p:sp>
        <p:nvSpPr>
          <p:cNvPr id="7" name="tarjeta-172"/>
          <p:cNvSpPr/>
          <p:nvPr/>
        </p:nvSpPr>
        <p:spPr>
          <a:xfrm>
            <a:off x="7772400" y="1325880"/>
            <a:ext cx="3840480" cy="4892040"/>
          </a:xfrm>
          <a:prstGeom prst="roundRect">
            <a:avLst>
              <a:gd name="adj" fmla="val 1905"/>
            </a:avLst>
          </a:prstGeom>
          <a:solidFill>
            <a:schemeClr val="tx2"/>
          </a:solidFill>
          <a:ln/>
        </p:spPr>
      </p:sp>
      <p:sp>
        <p:nvSpPr>
          <p:cNvPr id="8" name="texto-173"/>
          <p:cNvSpPr txBox="1"/>
          <p:nvPr/>
        </p:nvSpPr>
        <p:spPr>
          <a:xfrm>
            <a:off x="8046720" y="1508760"/>
            <a:ext cx="3291840" cy="457200"/>
          </a:xfrm>
          <a:prstGeom prst="rect">
            <a:avLst/>
          </a:prstGeom>
          <a:noFill/>
          <a:ln/>
        </p:spPr>
        <p:txBody>
          <a:bodyPr wrap="square" lIns="0" tIns="0" rIns="0" bIns="0" rtlCol="0" anchor="t"/>
          <a:lstStyle/>
          <a:p>
            <a:pPr indent="0" marL="0">
              <a:buNone/>
            </a:pPr>
            <a:r>
              <a:rPr lang="en-US" sz="2000" b="1" dirty="0">
                <a:solidFill>
                  <a:schemeClr val="accent1"/>
                </a:solidFill>
                <a:latin typeface="Cambria" pitchFamily="34" charset="0"/>
                <a:ea typeface="Cambria" pitchFamily="34" charset="-122"/>
                <a:cs typeface="Cambria" pitchFamily="34" charset="-120"/>
              </a:rPr>
              <a:t>Regla 3-2-1-1</a:t>
            </a:r>
            <a:endParaRPr lang="en-US" sz="2000" dirty="0"/>
          </a:p>
        </p:txBody>
      </p:sp>
      <p:sp>
        <p:nvSpPr>
          <p:cNvPr id="9" name="circulo-174"/>
          <p:cNvSpPr txBox="1"/>
          <p:nvPr/>
        </p:nvSpPr>
        <p:spPr>
          <a:xfrm>
            <a:off x="8046720" y="2194560"/>
            <a:ext cx="685800" cy="685800"/>
          </a:xfrm>
          <a:prstGeom prst="ellipse">
            <a:avLst/>
          </a:prstGeom>
          <a:solidFill>
            <a:schemeClr val="accent1"/>
          </a:solidFill>
          <a:ln/>
        </p:spPr>
        <p:txBody>
          <a:bodyPr wrap="square" lIns="0" tIns="0" rIns="0" bIns="0" rtlCol="0" anchor="ctr"/>
          <a:lstStyle/>
          <a:p>
            <a:pPr algn="ctr" indent="0" marL="0">
              <a:buNone/>
            </a:pPr>
            <a:r>
              <a:rPr lang="en-US" sz="2200" b="1" dirty="0">
                <a:solidFill>
                  <a:schemeClr val="tx2"/>
                </a:solidFill>
              </a:rPr>
              <a:t>3</a:t>
            </a:r>
            <a:endParaRPr lang="en-US" sz="2200" dirty="0"/>
          </a:p>
        </p:txBody>
      </p:sp>
      <p:sp>
        <p:nvSpPr>
          <p:cNvPr id="10" name="texto-175"/>
          <p:cNvSpPr txBox="1"/>
          <p:nvPr/>
        </p:nvSpPr>
        <p:spPr>
          <a:xfrm>
            <a:off x="8915400" y="2194560"/>
            <a:ext cx="2514600" cy="685800"/>
          </a:xfrm>
          <a:prstGeom prst="rect">
            <a:avLst/>
          </a:prstGeom>
          <a:noFill/>
          <a:ln/>
        </p:spPr>
        <p:txBody>
          <a:bodyPr wrap="square" lIns="0" tIns="0" rIns="0" bIns="0" rtlCol="0" anchor="ctr"/>
          <a:lstStyle/>
          <a:p>
            <a:pPr indent="0" marL="0">
              <a:buNone/>
            </a:pPr>
            <a:r>
              <a:rPr lang="en-US" sz="1500" dirty="0">
                <a:solidFill>
                  <a:schemeClr val="bg1"/>
                </a:solidFill>
              </a:rPr>
              <a:t>copias del dato</a:t>
            </a:r>
            <a:endParaRPr lang="en-US" sz="1500" dirty="0"/>
          </a:p>
        </p:txBody>
      </p:sp>
      <p:sp>
        <p:nvSpPr>
          <p:cNvPr id="11" name="circulo-176"/>
          <p:cNvSpPr txBox="1"/>
          <p:nvPr/>
        </p:nvSpPr>
        <p:spPr>
          <a:xfrm>
            <a:off x="8046720" y="3182112"/>
            <a:ext cx="685800" cy="685800"/>
          </a:xfrm>
          <a:prstGeom prst="ellipse">
            <a:avLst/>
          </a:prstGeom>
          <a:solidFill>
            <a:schemeClr val="accent1"/>
          </a:solidFill>
          <a:ln/>
        </p:spPr>
        <p:txBody>
          <a:bodyPr wrap="square" lIns="0" tIns="0" rIns="0" bIns="0" rtlCol="0" anchor="ctr"/>
          <a:lstStyle/>
          <a:p>
            <a:pPr algn="ctr" indent="0" marL="0">
              <a:buNone/>
            </a:pPr>
            <a:r>
              <a:rPr lang="en-US" sz="2200" b="1" dirty="0">
                <a:solidFill>
                  <a:schemeClr val="tx2"/>
                </a:solidFill>
              </a:rPr>
              <a:t>2</a:t>
            </a:r>
            <a:endParaRPr lang="en-US" sz="2200" dirty="0"/>
          </a:p>
        </p:txBody>
      </p:sp>
      <p:sp>
        <p:nvSpPr>
          <p:cNvPr id="12" name="texto-177"/>
          <p:cNvSpPr txBox="1"/>
          <p:nvPr/>
        </p:nvSpPr>
        <p:spPr>
          <a:xfrm>
            <a:off x="8915400" y="3182112"/>
            <a:ext cx="2514600" cy="685800"/>
          </a:xfrm>
          <a:prstGeom prst="rect">
            <a:avLst/>
          </a:prstGeom>
          <a:noFill/>
          <a:ln/>
        </p:spPr>
        <p:txBody>
          <a:bodyPr wrap="square" lIns="0" tIns="0" rIns="0" bIns="0" rtlCol="0" anchor="ctr"/>
          <a:lstStyle/>
          <a:p>
            <a:pPr indent="0" marL="0">
              <a:buNone/>
            </a:pPr>
            <a:r>
              <a:rPr lang="en-US" sz="1500" dirty="0">
                <a:solidFill>
                  <a:schemeClr val="bg1"/>
                </a:solidFill>
              </a:rPr>
              <a:t>servicios distintos (BigQuery y GCS)</a:t>
            </a:r>
            <a:endParaRPr lang="en-US" sz="1500" dirty="0"/>
          </a:p>
        </p:txBody>
      </p:sp>
      <p:sp>
        <p:nvSpPr>
          <p:cNvPr id="13" name="circulo-178"/>
          <p:cNvSpPr txBox="1"/>
          <p:nvPr/>
        </p:nvSpPr>
        <p:spPr>
          <a:xfrm>
            <a:off x="8046720" y="4169664"/>
            <a:ext cx="685800" cy="685800"/>
          </a:xfrm>
          <a:prstGeom prst="ellipse">
            <a:avLst/>
          </a:prstGeom>
          <a:solidFill>
            <a:schemeClr val="accent1"/>
          </a:solidFill>
          <a:ln/>
        </p:spPr>
        <p:txBody>
          <a:bodyPr wrap="square" lIns="0" tIns="0" rIns="0" bIns="0" rtlCol="0" anchor="ctr"/>
          <a:lstStyle/>
          <a:p>
            <a:pPr algn="ctr" indent="0" marL="0">
              <a:buNone/>
            </a:pPr>
            <a:r>
              <a:rPr lang="en-US" sz="2200" b="1" dirty="0">
                <a:solidFill>
                  <a:schemeClr val="tx2"/>
                </a:solidFill>
              </a:rPr>
              <a:t>1</a:t>
            </a:r>
            <a:endParaRPr lang="en-US" sz="2200" dirty="0"/>
          </a:p>
        </p:txBody>
      </p:sp>
      <p:sp>
        <p:nvSpPr>
          <p:cNvPr id="14" name="texto-179"/>
          <p:cNvSpPr txBox="1"/>
          <p:nvPr/>
        </p:nvSpPr>
        <p:spPr>
          <a:xfrm>
            <a:off x="8915400" y="4169664"/>
            <a:ext cx="2514600" cy="685800"/>
          </a:xfrm>
          <a:prstGeom prst="rect">
            <a:avLst/>
          </a:prstGeom>
          <a:noFill/>
          <a:ln/>
        </p:spPr>
        <p:txBody>
          <a:bodyPr wrap="square" lIns="0" tIns="0" rIns="0" bIns="0" rtlCol="0" anchor="ctr"/>
          <a:lstStyle/>
          <a:p>
            <a:pPr indent="0" marL="0">
              <a:buNone/>
            </a:pPr>
            <a:r>
              <a:rPr lang="en-US" sz="1500" dirty="0">
                <a:solidFill>
                  <a:schemeClr val="bg1"/>
                </a:solidFill>
              </a:rPr>
              <a:t>copia fuera de la región</a:t>
            </a:r>
            <a:endParaRPr lang="en-US" sz="1500" dirty="0"/>
          </a:p>
        </p:txBody>
      </p:sp>
      <p:sp>
        <p:nvSpPr>
          <p:cNvPr id="15" name="circulo-180"/>
          <p:cNvSpPr txBox="1"/>
          <p:nvPr/>
        </p:nvSpPr>
        <p:spPr>
          <a:xfrm>
            <a:off x="8046720" y="5157216"/>
            <a:ext cx="685800" cy="685800"/>
          </a:xfrm>
          <a:prstGeom prst="ellipse">
            <a:avLst/>
          </a:prstGeom>
          <a:solidFill>
            <a:schemeClr val="accent1"/>
          </a:solidFill>
          <a:ln/>
        </p:spPr>
        <p:txBody>
          <a:bodyPr wrap="square" lIns="0" tIns="0" rIns="0" bIns="0" rtlCol="0" anchor="ctr"/>
          <a:lstStyle/>
          <a:p>
            <a:pPr algn="ctr" indent="0" marL="0">
              <a:buNone/>
            </a:pPr>
            <a:r>
              <a:rPr lang="en-US" sz="2200" b="1" dirty="0">
                <a:solidFill>
                  <a:schemeClr val="tx2"/>
                </a:solidFill>
              </a:rPr>
              <a:t>1</a:t>
            </a:r>
            <a:endParaRPr lang="en-US" sz="2200" dirty="0"/>
          </a:p>
        </p:txBody>
      </p:sp>
      <p:sp>
        <p:nvSpPr>
          <p:cNvPr id="16" name="texto-181"/>
          <p:cNvSpPr txBox="1"/>
          <p:nvPr/>
        </p:nvSpPr>
        <p:spPr>
          <a:xfrm>
            <a:off x="8915400" y="5157216"/>
            <a:ext cx="2514600" cy="685800"/>
          </a:xfrm>
          <a:prstGeom prst="rect">
            <a:avLst/>
          </a:prstGeom>
          <a:noFill/>
          <a:ln/>
        </p:spPr>
        <p:txBody>
          <a:bodyPr wrap="square" lIns="0" tIns="0" rIns="0" bIns="0" rtlCol="0" anchor="ctr"/>
          <a:lstStyle/>
          <a:p>
            <a:pPr indent="0" marL="0">
              <a:buNone/>
            </a:pPr>
            <a:r>
              <a:rPr lang="en-US" sz="1500" dirty="0">
                <a:solidFill>
                  <a:schemeClr val="bg1"/>
                </a:solidFill>
              </a:rPr>
              <a:t>copia inmutable (WORM)</a:t>
            </a:r>
            <a:endParaRPr lang="en-US" sz="15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Lista para el Cyber Day sin comprar servidores</a:t>
            </a:r>
            <a:endParaRPr lang="en-US" sz="3200" dirty="0"/>
          </a:p>
        </p:txBody>
      </p:sp>
      <p:graphicFrame>
        <p:nvGraphicFramePr>
          <p:cNvPr id="4" name="grafico-tps-182" descr=""/>
          <p:cNvGraphicFramePr/>
          <p:nvPr/>
        </p:nvGraphicFramePr>
        <p:xfrm>
          <a:off x="548640" y="1325880"/>
          <a:ext cx="5669280" cy="4846320"/>
        </p:xfrm>
        <a:graphic xmlns:a="http://schemas.openxmlformats.org/drawingml/2006/main">
          <a:graphicData uri="http://schemas.openxmlformats.org/drawingml/2006/chart">
            <c:chart xmlns:c="http://schemas.openxmlformats.org/drawingml/2006/chart" r:id="rId1"/>
          </a:graphicData>
        </a:graphic>
      </p:graphicFrame>
      <p:sp>
        <p:nvSpPr>
          <p:cNvPr id="5" name="circulo-183"/>
          <p:cNvSpPr txBox="1"/>
          <p:nvPr/>
        </p:nvSpPr>
        <p:spPr>
          <a:xfrm>
            <a:off x="6583680" y="1444752"/>
            <a:ext cx="457200" cy="45720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6" name="texto-184"/>
          <p:cNvSpPr txBox="1"/>
          <p:nvPr/>
        </p:nvSpPr>
        <p:spPr>
          <a:xfrm>
            <a:off x="7223760" y="1371600"/>
            <a:ext cx="4389120" cy="320040"/>
          </a:xfrm>
          <a:prstGeom prst="rect">
            <a:avLst/>
          </a:prstGeom>
          <a:noFill/>
          <a:ln/>
        </p:spPr>
        <p:txBody>
          <a:bodyPr wrap="square" lIns="0" tIns="0" rIns="0" bIns="0" rtlCol="0" anchor="t"/>
          <a:lstStyle/>
          <a:p>
            <a:pPr indent="0" marL="0">
              <a:buNone/>
            </a:pPr>
            <a:r>
              <a:rPr lang="en-US" sz="1600" b="1" dirty="0">
                <a:solidFill>
                  <a:schemeClr val="tx2"/>
                </a:solidFill>
              </a:rPr>
              <a:t>Pub/Sub</a:t>
            </a:r>
            <a:endParaRPr lang="en-US" sz="1600" dirty="0"/>
          </a:p>
        </p:txBody>
      </p:sp>
      <p:sp>
        <p:nvSpPr>
          <p:cNvPr id="7" name="texto-185"/>
          <p:cNvSpPr txBox="1"/>
          <p:nvPr/>
        </p:nvSpPr>
        <p:spPr>
          <a:xfrm>
            <a:off x="7223760" y="1700784"/>
            <a:ext cx="4389120" cy="320040"/>
          </a:xfrm>
          <a:prstGeom prst="rect">
            <a:avLst/>
          </a:prstGeom>
          <a:noFill/>
          <a:ln/>
        </p:spPr>
        <p:txBody>
          <a:bodyPr wrap="square" lIns="0" tIns="0" rIns="0" bIns="0" rtlCol="0" anchor="t"/>
          <a:lstStyle/>
          <a:p>
            <a:pPr indent="0" marL="0">
              <a:buNone/>
            </a:pPr>
            <a:r>
              <a:rPr lang="en-US" sz="1400" dirty="0">
                <a:solidFill>
                  <a:schemeClr val="accent5"/>
                </a:solidFill>
              </a:rPr>
              <a:t>absorbe ráfagas y retiene 7 días</a:t>
            </a:r>
            <a:endParaRPr lang="en-US" sz="1400" dirty="0"/>
          </a:p>
        </p:txBody>
      </p:sp>
      <p:sp>
        <p:nvSpPr>
          <p:cNvPr id="8" name="circulo-186"/>
          <p:cNvSpPr txBox="1"/>
          <p:nvPr/>
        </p:nvSpPr>
        <p:spPr>
          <a:xfrm>
            <a:off x="6583680" y="2249424"/>
            <a:ext cx="457200" cy="45720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9" name="texto-187"/>
          <p:cNvSpPr txBox="1"/>
          <p:nvPr/>
        </p:nvSpPr>
        <p:spPr>
          <a:xfrm>
            <a:off x="7223760" y="2176272"/>
            <a:ext cx="4389120" cy="320040"/>
          </a:xfrm>
          <a:prstGeom prst="rect">
            <a:avLst/>
          </a:prstGeom>
          <a:noFill/>
          <a:ln/>
        </p:spPr>
        <p:txBody>
          <a:bodyPr wrap="square" lIns="0" tIns="0" rIns="0" bIns="0" rtlCol="0" anchor="t"/>
          <a:lstStyle/>
          <a:p>
            <a:pPr indent="0" marL="0">
              <a:buNone/>
            </a:pPr>
            <a:r>
              <a:rPr lang="en-US" sz="1600" b="1" dirty="0">
                <a:solidFill>
                  <a:schemeClr val="tx2"/>
                </a:solidFill>
              </a:rPr>
              <a:t>Dataflow</a:t>
            </a:r>
            <a:endParaRPr lang="en-US" sz="1600" dirty="0"/>
          </a:p>
        </p:txBody>
      </p:sp>
      <p:sp>
        <p:nvSpPr>
          <p:cNvPr id="10" name="texto-188"/>
          <p:cNvSpPr txBox="1"/>
          <p:nvPr/>
        </p:nvSpPr>
        <p:spPr>
          <a:xfrm>
            <a:off x="7223760" y="2505456"/>
            <a:ext cx="4389120" cy="320040"/>
          </a:xfrm>
          <a:prstGeom prst="rect">
            <a:avLst/>
          </a:prstGeom>
          <a:noFill/>
          <a:ln/>
        </p:spPr>
        <p:txBody>
          <a:bodyPr wrap="square" lIns="0" tIns="0" rIns="0" bIns="0" rtlCol="0" anchor="t"/>
          <a:lstStyle/>
          <a:p>
            <a:pPr indent="0" marL="0">
              <a:buNone/>
            </a:pPr>
            <a:r>
              <a:rPr lang="en-US" sz="1400" dirty="0">
                <a:solidFill>
                  <a:schemeClr val="accent5"/>
                </a:solidFill>
              </a:rPr>
              <a:t>autoscaling de 2 a 30 workers</a:t>
            </a:r>
            <a:endParaRPr lang="en-US" sz="1400" dirty="0"/>
          </a:p>
        </p:txBody>
      </p:sp>
      <p:sp>
        <p:nvSpPr>
          <p:cNvPr id="11" name="circulo-189"/>
          <p:cNvSpPr txBox="1"/>
          <p:nvPr/>
        </p:nvSpPr>
        <p:spPr>
          <a:xfrm>
            <a:off x="6583680" y="3054096"/>
            <a:ext cx="457200" cy="45720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12" name="texto-190"/>
          <p:cNvSpPr txBox="1"/>
          <p:nvPr/>
        </p:nvSpPr>
        <p:spPr>
          <a:xfrm>
            <a:off x="7223760" y="2980944"/>
            <a:ext cx="4389120" cy="320040"/>
          </a:xfrm>
          <a:prstGeom prst="rect">
            <a:avLst/>
          </a:prstGeom>
          <a:noFill/>
          <a:ln/>
        </p:spPr>
        <p:txBody>
          <a:bodyPr wrap="square" lIns="0" tIns="0" rIns="0" bIns="0" rtlCol="0" anchor="t"/>
          <a:lstStyle/>
          <a:p>
            <a:pPr indent="0" marL="0">
              <a:buNone/>
            </a:pPr>
            <a:r>
              <a:rPr lang="en-US" sz="1600" b="1" dirty="0">
                <a:solidFill>
                  <a:schemeClr val="tx2"/>
                </a:solidFill>
              </a:rPr>
              <a:t>BigQuery</a:t>
            </a:r>
            <a:endParaRPr lang="en-US" sz="1600" dirty="0"/>
          </a:p>
        </p:txBody>
      </p:sp>
      <p:sp>
        <p:nvSpPr>
          <p:cNvPr id="13" name="texto-191"/>
          <p:cNvSpPr txBox="1"/>
          <p:nvPr/>
        </p:nvSpPr>
        <p:spPr>
          <a:xfrm>
            <a:off x="7223760" y="3310128"/>
            <a:ext cx="4389120" cy="320040"/>
          </a:xfrm>
          <a:prstGeom prst="rect">
            <a:avLst/>
          </a:prstGeom>
          <a:noFill/>
          <a:ln/>
        </p:spPr>
        <p:txBody>
          <a:bodyPr wrap="square" lIns="0" tIns="0" rIns="0" bIns="0" rtlCol="0" anchor="t"/>
          <a:lstStyle/>
          <a:p>
            <a:pPr indent="0" marL="0">
              <a:buNone/>
            </a:pPr>
            <a:r>
              <a:rPr lang="en-US" sz="1400" dirty="0">
                <a:solidFill>
                  <a:schemeClr val="accent5"/>
                </a:solidFill>
              </a:rPr>
              <a:t>slots serverless + particiones</a:t>
            </a:r>
            <a:endParaRPr lang="en-US" sz="1400" dirty="0"/>
          </a:p>
        </p:txBody>
      </p:sp>
      <p:sp>
        <p:nvSpPr>
          <p:cNvPr id="14" name="circulo-192"/>
          <p:cNvSpPr txBox="1"/>
          <p:nvPr/>
        </p:nvSpPr>
        <p:spPr>
          <a:xfrm>
            <a:off x="6583680" y="3858768"/>
            <a:ext cx="457200" cy="45720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15" name="texto-193"/>
          <p:cNvSpPr txBox="1"/>
          <p:nvPr/>
        </p:nvSpPr>
        <p:spPr>
          <a:xfrm>
            <a:off x="7223760" y="3785616"/>
            <a:ext cx="4389120" cy="320040"/>
          </a:xfrm>
          <a:prstGeom prst="rect">
            <a:avLst/>
          </a:prstGeom>
          <a:noFill/>
          <a:ln/>
        </p:spPr>
        <p:txBody>
          <a:bodyPr wrap="square" lIns="0" tIns="0" rIns="0" bIns="0" rtlCol="0" anchor="t"/>
          <a:lstStyle/>
          <a:p>
            <a:pPr indent="0" marL="0">
              <a:buNone/>
            </a:pPr>
            <a:r>
              <a:rPr lang="en-US" sz="1600" b="1" dirty="0">
                <a:solidFill>
                  <a:schemeClr val="tx2"/>
                </a:solidFill>
              </a:rPr>
              <a:t>Memorystore</a:t>
            </a:r>
            <a:endParaRPr lang="en-US" sz="1600" dirty="0"/>
          </a:p>
        </p:txBody>
      </p:sp>
      <p:sp>
        <p:nvSpPr>
          <p:cNvPr id="16" name="texto-194"/>
          <p:cNvSpPr txBox="1"/>
          <p:nvPr/>
        </p:nvSpPr>
        <p:spPr>
          <a:xfrm>
            <a:off x="7223760" y="4114800"/>
            <a:ext cx="4389120" cy="320040"/>
          </a:xfrm>
          <a:prstGeom prst="rect">
            <a:avLst/>
          </a:prstGeom>
          <a:noFill/>
          <a:ln/>
        </p:spPr>
        <p:txBody>
          <a:bodyPr wrap="square" lIns="0" tIns="0" rIns="0" bIns="0" rtlCol="0" anchor="t"/>
          <a:lstStyle/>
          <a:p>
            <a:pPr indent="0" marL="0">
              <a:buNone/>
            </a:pPr>
            <a:r>
              <a:rPr lang="en-US" sz="1400" dirty="0">
                <a:solidFill>
                  <a:schemeClr val="accent5"/>
                </a:solidFill>
              </a:rPr>
              <a:t>agrega shards en línea</a:t>
            </a:r>
            <a:endParaRPr lang="en-US" sz="1400" dirty="0"/>
          </a:p>
        </p:txBody>
      </p:sp>
      <p:sp>
        <p:nvSpPr>
          <p:cNvPr id="17" name="circulo-195"/>
          <p:cNvSpPr txBox="1"/>
          <p:nvPr/>
        </p:nvSpPr>
        <p:spPr>
          <a:xfrm>
            <a:off x="6583680" y="4663440"/>
            <a:ext cx="457200" cy="45720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18" name="texto-196"/>
          <p:cNvSpPr txBox="1"/>
          <p:nvPr/>
        </p:nvSpPr>
        <p:spPr>
          <a:xfrm>
            <a:off x="7223760" y="4590288"/>
            <a:ext cx="4389120" cy="320040"/>
          </a:xfrm>
          <a:prstGeom prst="rect">
            <a:avLst/>
          </a:prstGeom>
          <a:noFill/>
          <a:ln/>
        </p:spPr>
        <p:txBody>
          <a:bodyPr wrap="square" lIns="0" tIns="0" rIns="0" bIns="0" rtlCol="0" anchor="t"/>
          <a:lstStyle/>
          <a:p>
            <a:pPr indent="0" marL="0">
              <a:buNone/>
            </a:pPr>
            <a:r>
              <a:rPr lang="en-US" sz="1600" b="1" dirty="0">
                <a:solidFill>
                  <a:schemeClr val="tx2"/>
                </a:solidFill>
              </a:rPr>
              <a:t>Cloud Run</a:t>
            </a:r>
            <a:endParaRPr lang="en-US" sz="1600" dirty="0"/>
          </a:p>
        </p:txBody>
      </p:sp>
      <p:sp>
        <p:nvSpPr>
          <p:cNvPr id="19" name="texto-197"/>
          <p:cNvSpPr txBox="1"/>
          <p:nvPr/>
        </p:nvSpPr>
        <p:spPr>
          <a:xfrm>
            <a:off x="7223760" y="4919472"/>
            <a:ext cx="4389120" cy="320040"/>
          </a:xfrm>
          <a:prstGeom prst="rect">
            <a:avLst/>
          </a:prstGeom>
          <a:noFill/>
          <a:ln/>
        </p:spPr>
        <p:txBody>
          <a:bodyPr wrap="square" lIns="0" tIns="0" rIns="0" bIns="0" rtlCol="0" anchor="t"/>
          <a:lstStyle/>
          <a:p>
            <a:pPr indent="0" marL="0">
              <a:buNone/>
            </a:pPr>
            <a:r>
              <a:rPr lang="en-US" sz="1400" dirty="0">
                <a:solidFill>
                  <a:schemeClr val="accent5"/>
                </a:solidFill>
              </a:rPr>
              <a:t>de 2 a 100 instancias</a:t>
            </a:r>
            <a:endParaRPr lang="en-US" sz="1400" dirty="0"/>
          </a:p>
        </p:txBody>
      </p:sp>
      <p:sp>
        <p:nvSpPr>
          <p:cNvPr id="20" name="circulo-198"/>
          <p:cNvSpPr txBox="1"/>
          <p:nvPr/>
        </p:nvSpPr>
        <p:spPr>
          <a:xfrm>
            <a:off x="6583680" y="5468112"/>
            <a:ext cx="457200" cy="45720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21" name="texto-199"/>
          <p:cNvSpPr txBox="1"/>
          <p:nvPr/>
        </p:nvSpPr>
        <p:spPr>
          <a:xfrm>
            <a:off x="7223760" y="5394960"/>
            <a:ext cx="4389120" cy="320040"/>
          </a:xfrm>
          <a:prstGeom prst="rect">
            <a:avLst/>
          </a:prstGeom>
          <a:noFill/>
          <a:ln/>
        </p:spPr>
        <p:txBody>
          <a:bodyPr wrap="square" lIns="0" tIns="0" rIns="0" bIns="0" rtlCol="0" anchor="t"/>
          <a:lstStyle/>
          <a:p>
            <a:pPr indent="0" marL="0">
              <a:buNone/>
            </a:pPr>
            <a:r>
              <a:rPr lang="en-US" sz="1600" b="1" dirty="0">
                <a:solidFill>
                  <a:schemeClr val="tx2"/>
                </a:solidFill>
              </a:rPr>
              <a:t>Composer</a:t>
            </a:r>
            <a:endParaRPr lang="en-US" sz="1600" dirty="0"/>
          </a:p>
        </p:txBody>
      </p:sp>
      <p:sp>
        <p:nvSpPr>
          <p:cNvPr id="22" name="texto-200"/>
          <p:cNvSpPr txBox="1"/>
          <p:nvPr/>
        </p:nvSpPr>
        <p:spPr>
          <a:xfrm>
            <a:off x="7223760" y="5724144"/>
            <a:ext cx="4389120" cy="320040"/>
          </a:xfrm>
          <a:prstGeom prst="rect">
            <a:avLst/>
          </a:prstGeom>
          <a:noFill/>
          <a:ln/>
        </p:spPr>
        <p:txBody>
          <a:bodyPr wrap="square" lIns="0" tIns="0" rIns="0" bIns="0" rtlCol="0" anchor="t"/>
          <a:lstStyle/>
          <a:p>
            <a:pPr indent="0" marL="0">
              <a:buNone/>
            </a:pPr>
            <a:r>
              <a:rPr lang="en-US" sz="1400" dirty="0">
                <a:solidFill>
                  <a:schemeClr val="accent5"/>
                </a:solidFill>
              </a:rPr>
              <a:t>precalienta antes de días de pago</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Año 1: USD 66K, USD 12 por millón de tx</a:t>
            </a:r>
            <a:endParaRPr lang="en-US" sz="3200" dirty="0"/>
          </a:p>
        </p:txBody>
      </p:sp>
      <p:graphicFrame>
        <p:nvGraphicFramePr>
          <p:cNvPr id="4" name="grafico-costos-201" descr=""/>
          <p:cNvGraphicFramePr/>
          <p:nvPr/>
        </p:nvGraphicFramePr>
        <p:xfrm>
          <a:off x="548640" y="1280160"/>
          <a:ext cx="6766560" cy="4983480"/>
        </p:xfrm>
        <a:graphic xmlns:a="http://schemas.openxmlformats.org/drawingml/2006/main">
          <a:graphicData uri="http://schemas.openxmlformats.org/drawingml/2006/chart">
            <c:chart xmlns:c="http://schemas.openxmlformats.org/drawingml/2006/chart" r:id="rId1"/>
          </a:graphicData>
        </a:graphic>
      </p:graphicFrame>
      <p:sp>
        <p:nvSpPr>
          <p:cNvPr id="5" name="tarjeta-202"/>
          <p:cNvSpPr/>
          <p:nvPr/>
        </p:nvSpPr>
        <p:spPr>
          <a:xfrm>
            <a:off x="7680960" y="1325880"/>
            <a:ext cx="3931920" cy="4892040"/>
          </a:xfrm>
          <a:prstGeom prst="roundRect">
            <a:avLst>
              <a:gd name="adj" fmla="val 1860"/>
            </a:avLst>
          </a:prstGeom>
          <a:solidFill>
            <a:schemeClr val="tx2"/>
          </a:solidFill>
          <a:ln/>
        </p:spPr>
      </p:sp>
      <p:sp>
        <p:nvSpPr>
          <p:cNvPr id="6" name="texto-203"/>
          <p:cNvSpPr txBox="1"/>
          <p:nvPr/>
        </p:nvSpPr>
        <p:spPr>
          <a:xfrm>
            <a:off x="8001000" y="1417320"/>
            <a:ext cx="3383280" cy="685800"/>
          </a:xfrm>
          <a:prstGeom prst="rect">
            <a:avLst/>
          </a:prstGeom>
          <a:noFill/>
          <a:ln/>
        </p:spPr>
        <p:txBody>
          <a:bodyPr wrap="square" lIns="0" tIns="0" rIns="0" bIns="0" rtlCol="0" anchor="b"/>
          <a:lstStyle/>
          <a:p>
            <a:pPr indent="0" marL="0">
              <a:buNone/>
            </a:pPr>
            <a:r>
              <a:rPr lang="en-US" sz="3600" b="1" dirty="0">
                <a:solidFill>
                  <a:schemeClr val="accent1"/>
                </a:solidFill>
                <a:latin typeface="Cambria" pitchFamily="34" charset="0"/>
                <a:ea typeface="Cambria" pitchFamily="34" charset="-122"/>
                <a:cs typeface="Cambria" pitchFamily="34" charset="-120"/>
              </a:rPr>
              <a:t>USD 5.5K</a:t>
            </a:r>
            <a:endParaRPr lang="en-US" sz="3600" dirty="0"/>
          </a:p>
        </p:txBody>
      </p:sp>
      <p:sp>
        <p:nvSpPr>
          <p:cNvPr id="7" name="texto-204"/>
          <p:cNvSpPr txBox="1"/>
          <p:nvPr/>
        </p:nvSpPr>
        <p:spPr>
          <a:xfrm>
            <a:off x="8001000" y="2148840"/>
            <a:ext cx="3383280" cy="502920"/>
          </a:xfrm>
          <a:prstGeom prst="rect">
            <a:avLst/>
          </a:prstGeom>
          <a:noFill/>
          <a:ln/>
        </p:spPr>
        <p:txBody>
          <a:bodyPr wrap="square" lIns="0" tIns="0" rIns="0" bIns="0" rtlCol="0" anchor="t"/>
          <a:lstStyle/>
          <a:p>
            <a:pPr indent="0" marL="0">
              <a:buNone/>
            </a:pPr>
            <a:r>
              <a:rPr lang="en-US" sz="1300" dirty="0">
                <a:solidFill>
                  <a:schemeClr val="bg1"/>
                </a:solidFill>
              </a:rPr>
              <a:t>por mes en Santiago (US: ≈ 4.5K)</a:t>
            </a:r>
            <a:endParaRPr lang="en-US" sz="1300" dirty="0"/>
          </a:p>
        </p:txBody>
      </p:sp>
      <p:sp>
        <p:nvSpPr>
          <p:cNvPr id="8" name="texto-205"/>
          <p:cNvSpPr txBox="1"/>
          <p:nvPr/>
        </p:nvSpPr>
        <p:spPr>
          <a:xfrm>
            <a:off x="8001000" y="2743200"/>
            <a:ext cx="3383280" cy="685800"/>
          </a:xfrm>
          <a:prstGeom prst="rect">
            <a:avLst/>
          </a:prstGeom>
          <a:noFill/>
          <a:ln/>
        </p:spPr>
        <p:txBody>
          <a:bodyPr wrap="square" lIns="0" tIns="0" rIns="0" bIns="0" rtlCol="0" anchor="b"/>
          <a:lstStyle/>
          <a:p>
            <a:pPr indent="0" marL="0">
              <a:buNone/>
            </a:pPr>
            <a:r>
              <a:rPr lang="en-US" sz="3600" b="1" dirty="0">
                <a:solidFill>
                  <a:schemeClr val="accent1"/>
                </a:solidFill>
                <a:latin typeface="Cambria" pitchFamily="34" charset="0"/>
                <a:ea typeface="Cambria" pitchFamily="34" charset="-122"/>
                <a:cs typeface="Cambria" pitchFamily="34" charset="-120"/>
              </a:rPr>
              <a:t>USD 66K</a:t>
            </a:r>
            <a:endParaRPr lang="en-US" sz="3600" dirty="0"/>
          </a:p>
        </p:txBody>
      </p:sp>
      <p:sp>
        <p:nvSpPr>
          <p:cNvPr id="9" name="texto-206"/>
          <p:cNvSpPr txBox="1"/>
          <p:nvPr/>
        </p:nvSpPr>
        <p:spPr>
          <a:xfrm>
            <a:off x="8001000" y="3474720"/>
            <a:ext cx="3383280" cy="502920"/>
          </a:xfrm>
          <a:prstGeom prst="rect">
            <a:avLst/>
          </a:prstGeom>
          <a:noFill/>
          <a:ln/>
        </p:spPr>
        <p:txBody>
          <a:bodyPr wrap="square" lIns="0" tIns="0" rIns="0" bIns="0" rtlCol="0" anchor="t"/>
          <a:lstStyle/>
          <a:p>
            <a:pPr indent="0" marL="0">
              <a:buNone/>
            </a:pPr>
            <a:r>
              <a:rPr lang="en-US" sz="1300" dirty="0">
                <a:solidFill>
                  <a:schemeClr val="bg1"/>
                </a:solidFill>
              </a:rPr>
              <a:t>costo de nube del año 1</a:t>
            </a:r>
            <a:endParaRPr lang="en-US" sz="1300" dirty="0"/>
          </a:p>
        </p:txBody>
      </p:sp>
      <p:sp>
        <p:nvSpPr>
          <p:cNvPr id="10" name="texto-207"/>
          <p:cNvSpPr txBox="1"/>
          <p:nvPr/>
        </p:nvSpPr>
        <p:spPr>
          <a:xfrm>
            <a:off x="8001000" y="4069080"/>
            <a:ext cx="3383280" cy="685800"/>
          </a:xfrm>
          <a:prstGeom prst="rect">
            <a:avLst/>
          </a:prstGeom>
          <a:noFill/>
          <a:ln/>
        </p:spPr>
        <p:txBody>
          <a:bodyPr wrap="square" lIns="0" tIns="0" rIns="0" bIns="0" rtlCol="0" anchor="b"/>
          <a:lstStyle/>
          <a:p>
            <a:pPr indent="0" marL="0">
              <a:buNone/>
            </a:pPr>
            <a:r>
              <a:rPr lang="en-US" sz="3600" b="1" dirty="0">
                <a:solidFill>
                  <a:schemeClr val="accent1"/>
                </a:solidFill>
                <a:latin typeface="Cambria" pitchFamily="34" charset="0"/>
                <a:ea typeface="Cambria" pitchFamily="34" charset="-122"/>
                <a:cs typeface="Cambria" pitchFamily="34" charset="-120"/>
              </a:rPr>
              <a:t>USD 12</a:t>
            </a:r>
            <a:endParaRPr lang="en-US" sz="3600" dirty="0"/>
          </a:p>
        </p:txBody>
      </p:sp>
      <p:sp>
        <p:nvSpPr>
          <p:cNvPr id="11" name="texto-208"/>
          <p:cNvSpPr txBox="1"/>
          <p:nvPr/>
        </p:nvSpPr>
        <p:spPr>
          <a:xfrm>
            <a:off x="8001000" y="4800600"/>
            <a:ext cx="3383280" cy="502920"/>
          </a:xfrm>
          <a:prstGeom prst="rect">
            <a:avLst/>
          </a:prstGeom>
          <a:noFill/>
          <a:ln/>
        </p:spPr>
        <p:txBody>
          <a:bodyPr wrap="square" lIns="0" tIns="0" rIns="0" bIns="0" rtlCol="0" anchor="t"/>
          <a:lstStyle/>
          <a:p>
            <a:pPr indent="0" marL="0">
              <a:buNone/>
            </a:pPr>
            <a:r>
              <a:rPr lang="en-US" sz="1300" dirty="0">
                <a:solidFill>
                  <a:schemeClr val="bg1"/>
                </a:solidFill>
              </a:rPr>
              <a:t>por millón de transacciones</a:t>
            </a:r>
            <a:endParaRPr lang="en-US" sz="1300" dirty="0"/>
          </a:p>
        </p:txBody>
      </p:sp>
      <p:sp>
        <p:nvSpPr>
          <p:cNvPr id="12" name="texto-209"/>
          <p:cNvSpPr txBox="1"/>
          <p:nvPr/>
        </p:nvSpPr>
        <p:spPr>
          <a:xfrm>
            <a:off x="8001000" y="5623560"/>
            <a:ext cx="3383280" cy="457200"/>
          </a:xfrm>
          <a:prstGeom prst="rect">
            <a:avLst/>
          </a:prstGeom>
          <a:noFill/>
          <a:ln/>
        </p:spPr>
        <p:txBody>
          <a:bodyPr wrap="square" lIns="0" tIns="0" rIns="0" bIns="0" rtlCol="0" anchor="t"/>
          <a:lstStyle/>
          <a:p>
            <a:pPr indent="0" marL="0">
              <a:buNone/>
            </a:pPr>
            <a:r>
              <a:rPr lang="en-US" sz="1100" dirty="0">
                <a:solidFill>
                  <a:schemeClr val="accent6"/>
                </a:solidFill>
              </a:rPr>
              <a:t>Solo consumo de nube · validar en el Pricing Calculator</a:t>
            </a:r>
            <a:endParaRPr lang="en-US" sz="11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Seguridad y gobierno desde el diseño</a:t>
            </a:r>
            <a:endParaRPr lang="en-US" sz="3200" dirty="0"/>
          </a:p>
        </p:txBody>
      </p:sp>
      <p:sp>
        <p:nvSpPr>
          <p:cNvPr id="4" name="tarjeta-210"/>
          <p:cNvSpPr/>
          <p:nvPr/>
        </p:nvSpPr>
        <p:spPr>
          <a:xfrm>
            <a:off x="548640" y="1325880"/>
            <a:ext cx="3538728" cy="1828800"/>
          </a:xfrm>
          <a:prstGeom prst="roundRect">
            <a:avLst>
              <a:gd name="adj" fmla="val 4000"/>
            </a:avLst>
          </a:prstGeom>
          <a:solidFill>
            <a:schemeClr val="bg2"/>
          </a:solidFill>
          <a:ln/>
        </p:spPr>
      </p:sp>
      <p:sp>
        <p:nvSpPr>
          <p:cNvPr id="5" name="circulo-211"/>
          <p:cNvSpPr txBox="1"/>
          <p:nvPr/>
        </p:nvSpPr>
        <p:spPr>
          <a:xfrm>
            <a:off x="777240" y="1554480"/>
            <a:ext cx="457200" cy="457200"/>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6" name="texto-212"/>
          <p:cNvSpPr txBox="1"/>
          <p:nvPr/>
        </p:nvSpPr>
        <p:spPr>
          <a:xfrm>
            <a:off x="1371600" y="1554480"/>
            <a:ext cx="2560320" cy="457200"/>
          </a:xfrm>
          <a:prstGeom prst="rect">
            <a:avLst/>
          </a:prstGeom>
          <a:noFill/>
          <a:ln/>
        </p:spPr>
        <p:txBody>
          <a:bodyPr wrap="square" lIns="0" tIns="0" rIns="0" bIns="0" rtlCol="0" anchor="ctr"/>
          <a:lstStyle/>
          <a:p>
            <a:pPr indent="0" marL="0">
              <a:buNone/>
            </a:pPr>
            <a:r>
              <a:rPr lang="en-US" sz="1700" b="1" dirty="0">
                <a:solidFill>
                  <a:schemeClr val="tx2"/>
                </a:solidFill>
              </a:rPr>
              <a:t>Cifrado</a:t>
            </a:r>
            <a:endParaRPr lang="en-US" sz="1700" dirty="0"/>
          </a:p>
        </p:txBody>
      </p:sp>
      <p:sp>
        <p:nvSpPr>
          <p:cNvPr id="7" name="texto-213"/>
          <p:cNvSpPr txBox="1"/>
          <p:nvPr/>
        </p:nvSpPr>
        <p:spPr>
          <a:xfrm>
            <a:off x="777240" y="2194560"/>
            <a:ext cx="3108960" cy="822960"/>
          </a:xfrm>
          <a:prstGeom prst="rect">
            <a:avLst/>
          </a:prstGeom>
          <a:noFill/>
          <a:ln/>
        </p:spPr>
        <p:txBody>
          <a:bodyPr wrap="square" lIns="0" tIns="0" rIns="0" bIns="0" rtlCol="0" anchor="t"/>
          <a:lstStyle/>
          <a:p>
            <a:pPr indent="0" marL="0">
              <a:buNone/>
            </a:pPr>
            <a:r>
              <a:rPr lang="en-US" sz="1400" dirty="0">
                <a:solidFill>
                  <a:schemeClr val="tx1"/>
                </a:solidFill>
              </a:rPr>
              <a:t>Claves propias (CMEK) en Cloud KMS, con rotación cada 90 días</a:t>
            </a:r>
            <a:endParaRPr lang="en-US" sz="1400" dirty="0"/>
          </a:p>
        </p:txBody>
      </p:sp>
      <p:sp>
        <p:nvSpPr>
          <p:cNvPr id="8" name="tarjeta-214"/>
          <p:cNvSpPr/>
          <p:nvPr/>
        </p:nvSpPr>
        <p:spPr>
          <a:xfrm>
            <a:off x="4270248" y="1325880"/>
            <a:ext cx="3538728" cy="1828800"/>
          </a:xfrm>
          <a:prstGeom prst="roundRect">
            <a:avLst>
              <a:gd name="adj" fmla="val 4000"/>
            </a:avLst>
          </a:prstGeom>
          <a:solidFill>
            <a:schemeClr val="bg2"/>
          </a:solidFill>
          <a:ln/>
        </p:spPr>
      </p:sp>
      <p:sp>
        <p:nvSpPr>
          <p:cNvPr id="9" name="circulo-215"/>
          <p:cNvSpPr txBox="1"/>
          <p:nvPr/>
        </p:nvSpPr>
        <p:spPr>
          <a:xfrm>
            <a:off x="4498848" y="1554480"/>
            <a:ext cx="457200" cy="457200"/>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0" name="texto-216"/>
          <p:cNvSpPr txBox="1"/>
          <p:nvPr/>
        </p:nvSpPr>
        <p:spPr>
          <a:xfrm>
            <a:off x="5093208" y="1554480"/>
            <a:ext cx="2560320" cy="457200"/>
          </a:xfrm>
          <a:prstGeom prst="rect">
            <a:avLst/>
          </a:prstGeom>
          <a:noFill/>
          <a:ln/>
        </p:spPr>
        <p:txBody>
          <a:bodyPr wrap="square" lIns="0" tIns="0" rIns="0" bIns="0" rtlCol="0" anchor="ctr"/>
          <a:lstStyle/>
          <a:p>
            <a:pPr indent="0" marL="0">
              <a:buNone/>
            </a:pPr>
            <a:r>
              <a:rPr lang="en-US" sz="1700" b="1" dirty="0">
                <a:solidFill>
                  <a:schemeClr val="tx2"/>
                </a:solidFill>
              </a:rPr>
              <a:t>Datos personales</a:t>
            </a:r>
            <a:endParaRPr lang="en-US" sz="1700" dirty="0"/>
          </a:p>
        </p:txBody>
      </p:sp>
      <p:sp>
        <p:nvSpPr>
          <p:cNvPr id="11" name="texto-217"/>
          <p:cNvSpPr txBox="1"/>
          <p:nvPr/>
        </p:nvSpPr>
        <p:spPr>
          <a:xfrm>
            <a:off x="4498848" y="2194560"/>
            <a:ext cx="3108960" cy="822960"/>
          </a:xfrm>
          <a:prstGeom prst="rect">
            <a:avLst/>
          </a:prstGeom>
          <a:noFill/>
          <a:ln/>
        </p:spPr>
        <p:txBody>
          <a:bodyPr wrap="square" lIns="0" tIns="0" rIns="0" bIns="0" rtlCol="0" anchor="t"/>
          <a:lstStyle/>
          <a:p>
            <a:pPr indent="0" marL="0">
              <a:buNone/>
            </a:pPr>
            <a:r>
              <a:rPr lang="en-US" sz="1400" dirty="0">
                <a:solidFill>
                  <a:schemeClr val="tx1"/>
                </a:solidFill>
              </a:rPr>
              <a:t>Tokenización con DLP de cliente, cuenta y dispositivo</a:t>
            </a:r>
            <a:endParaRPr lang="en-US" sz="1400" dirty="0"/>
          </a:p>
        </p:txBody>
      </p:sp>
      <p:sp>
        <p:nvSpPr>
          <p:cNvPr id="12" name="tarjeta-218"/>
          <p:cNvSpPr/>
          <p:nvPr/>
        </p:nvSpPr>
        <p:spPr>
          <a:xfrm>
            <a:off x="7991856" y="1325880"/>
            <a:ext cx="3538728" cy="1828800"/>
          </a:xfrm>
          <a:prstGeom prst="roundRect">
            <a:avLst>
              <a:gd name="adj" fmla="val 4000"/>
            </a:avLst>
          </a:prstGeom>
          <a:solidFill>
            <a:schemeClr val="bg2"/>
          </a:solidFill>
          <a:ln/>
        </p:spPr>
      </p:sp>
      <p:sp>
        <p:nvSpPr>
          <p:cNvPr id="13" name="circulo-219"/>
          <p:cNvSpPr txBox="1"/>
          <p:nvPr/>
        </p:nvSpPr>
        <p:spPr>
          <a:xfrm>
            <a:off x="8220456" y="1554480"/>
            <a:ext cx="457200" cy="457200"/>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4" name="texto-220"/>
          <p:cNvSpPr txBox="1"/>
          <p:nvPr/>
        </p:nvSpPr>
        <p:spPr>
          <a:xfrm>
            <a:off x="8814816" y="1554480"/>
            <a:ext cx="2560320" cy="457200"/>
          </a:xfrm>
          <a:prstGeom prst="rect">
            <a:avLst/>
          </a:prstGeom>
          <a:noFill/>
          <a:ln/>
        </p:spPr>
        <p:txBody>
          <a:bodyPr wrap="square" lIns="0" tIns="0" rIns="0" bIns="0" rtlCol="0" anchor="ctr"/>
          <a:lstStyle/>
          <a:p>
            <a:pPr indent="0" marL="0">
              <a:buNone/>
            </a:pPr>
            <a:r>
              <a:rPr lang="en-US" sz="1700" b="1" dirty="0">
                <a:solidFill>
                  <a:schemeClr val="tx2"/>
                </a:solidFill>
              </a:rPr>
              <a:t>Acceso por fila</a:t>
            </a:r>
            <a:endParaRPr lang="en-US" sz="1700" dirty="0"/>
          </a:p>
        </p:txBody>
      </p:sp>
      <p:sp>
        <p:nvSpPr>
          <p:cNvPr id="15" name="texto-221"/>
          <p:cNvSpPr txBox="1"/>
          <p:nvPr/>
        </p:nvSpPr>
        <p:spPr>
          <a:xfrm>
            <a:off x="8220456" y="2194560"/>
            <a:ext cx="3108960" cy="822960"/>
          </a:xfrm>
          <a:prstGeom prst="rect">
            <a:avLst/>
          </a:prstGeom>
          <a:noFill/>
          <a:ln/>
        </p:spPr>
        <p:txBody>
          <a:bodyPr wrap="square" lIns="0" tIns="0" rIns="0" bIns="0" rtlCol="0" anchor="t"/>
          <a:lstStyle/>
          <a:p>
            <a:pPr indent="0" marL="0">
              <a:buNone/>
            </a:pPr>
            <a:r>
              <a:rPr lang="en-US" sz="1400" dirty="0">
                <a:solidFill>
                  <a:schemeClr val="tx1"/>
                </a:solidFill>
              </a:rPr>
              <a:t>Cada entidad ve solo sus datos (row-level security)</a:t>
            </a:r>
            <a:endParaRPr lang="en-US" sz="1400" dirty="0"/>
          </a:p>
        </p:txBody>
      </p:sp>
      <p:sp>
        <p:nvSpPr>
          <p:cNvPr id="16" name="tarjeta-222"/>
          <p:cNvSpPr/>
          <p:nvPr/>
        </p:nvSpPr>
        <p:spPr>
          <a:xfrm>
            <a:off x="548640" y="3337560"/>
            <a:ext cx="3538728" cy="1828800"/>
          </a:xfrm>
          <a:prstGeom prst="roundRect">
            <a:avLst>
              <a:gd name="adj" fmla="val 4000"/>
            </a:avLst>
          </a:prstGeom>
          <a:solidFill>
            <a:schemeClr val="bg2"/>
          </a:solidFill>
          <a:ln/>
        </p:spPr>
      </p:sp>
      <p:sp>
        <p:nvSpPr>
          <p:cNvPr id="17" name="circulo-223"/>
          <p:cNvSpPr txBox="1"/>
          <p:nvPr/>
        </p:nvSpPr>
        <p:spPr>
          <a:xfrm>
            <a:off x="777240" y="3566160"/>
            <a:ext cx="457200" cy="457200"/>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8" name="texto-224"/>
          <p:cNvSpPr txBox="1"/>
          <p:nvPr/>
        </p:nvSpPr>
        <p:spPr>
          <a:xfrm>
            <a:off x="1371600" y="3566160"/>
            <a:ext cx="2560320" cy="457200"/>
          </a:xfrm>
          <a:prstGeom prst="rect">
            <a:avLst/>
          </a:prstGeom>
          <a:noFill/>
          <a:ln/>
        </p:spPr>
        <p:txBody>
          <a:bodyPr wrap="square" lIns="0" tIns="0" rIns="0" bIns="0" rtlCol="0" anchor="ctr"/>
          <a:lstStyle/>
          <a:p>
            <a:pPr indent="0" marL="0">
              <a:buNone/>
            </a:pPr>
            <a:r>
              <a:rPr lang="en-US" sz="1700" b="1" dirty="0">
                <a:solidFill>
                  <a:schemeClr val="tx2"/>
                </a:solidFill>
              </a:rPr>
              <a:t>Acceso por columna</a:t>
            </a:r>
            <a:endParaRPr lang="en-US" sz="1700" dirty="0"/>
          </a:p>
        </p:txBody>
      </p:sp>
      <p:sp>
        <p:nvSpPr>
          <p:cNvPr id="19" name="texto-225"/>
          <p:cNvSpPr txBox="1"/>
          <p:nvPr/>
        </p:nvSpPr>
        <p:spPr>
          <a:xfrm>
            <a:off x="777240" y="4206240"/>
            <a:ext cx="3108960" cy="822960"/>
          </a:xfrm>
          <a:prstGeom prst="rect">
            <a:avLst/>
          </a:prstGeom>
          <a:noFill/>
          <a:ln/>
        </p:spPr>
        <p:txBody>
          <a:bodyPr wrap="square" lIns="0" tIns="0" rIns="0" bIns="0" rtlCol="0" anchor="t"/>
          <a:lstStyle/>
          <a:p>
            <a:pPr indent="0" marL="0">
              <a:buNone/>
            </a:pPr>
            <a:r>
              <a:rPr lang="en-US" sz="1400" dirty="0">
                <a:solidFill>
                  <a:schemeClr val="tx1"/>
                </a:solidFill>
              </a:rPr>
              <a:t>Policy tags y enmascaramiento de montos y geolocalización</a:t>
            </a:r>
            <a:endParaRPr lang="en-US" sz="1400" dirty="0"/>
          </a:p>
        </p:txBody>
      </p:sp>
      <p:sp>
        <p:nvSpPr>
          <p:cNvPr id="20" name="tarjeta-226"/>
          <p:cNvSpPr/>
          <p:nvPr/>
        </p:nvSpPr>
        <p:spPr>
          <a:xfrm>
            <a:off x="4270248" y="3337560"/>
            <a:ext cx="3538728" cy="1828800"/>
          </a:xfrm>
          <a:prstGeom prst="roundRect">
            <a:avLst>
              <a:gd name="adj" fmla="val 4000"/>
            </a:avLst>
          </a:prstGeom>
          <a:solidFill>
            <a:schemeClr val="bg2"/>
          </a:solidFill>
          <a:ln/>
        </p:spPr>
      </p:sp>
      <p:sp>
        <p:nvSpPr>
          <p:cNvPr id="21" name="circulo-227"/>
          <p:cNvSpPr txBox="1"/>
          <p:nvPr/>
        </p:nvSpPr>
        <p:spPr>
          <a:xfrm>
            <a:off x="4498848" y="3566160"/>
            <a:ext cx="457200" cy="457200"/>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22" name="texto-228"/>
          <p:cNvSpPr txBox="1"/>
          <p:nvPr/>
        </p:nvSpPr>
        <p:spPr>
          <a:xfrm>
            <a:off x="5093208" y="3566160"/>
            <a:ext cx="2560320" cy="457200"/>
          </a:xfrm>
          <a:prstGeom prst="rect">
            <a:avLst/>
          </a:prstGeom>
          <a:noFill/>
          <a:ln/>
        </p:spPr>
        <p:txBody>
          <a:bodyPr wrap="square" lIns="0" tIns="0" rIns="0" bIns="0" rtlCol="0" anchor="ctr"/>
          <a:lstStyle/>
          <a:p>
            <a:pPr indent="0" marL="0">
              <a:buNone/>
            </a:pPr>
            <a:r>
              <a:rPr lang="en-US" sz="1700" b="1" dirty="0">
                <a:solidFill>
                  <a:schemeClr val="tx2"/>
                </a:solidFill>
              </a:rPr>
              <a:t>Perímetro</a:t>
            </a:r>
            <a:endParaRPr lang="en-US" sz="1700" dirty="0"/>
          </a:p>
        </p:txBody>
      </p:sp>
      <p:sp>
        <p:nvSpPr>
          <p:cNvPr id="23" name="texto-229"/>
          <p:cNvSpPr txBox="1"/>
          <p:nvPr/>
        </p:nvSpPr>
        <p:spPr>
          <a:xfrm>
            <a:off x="4498848" y="4206240"/>
            <a:ext cx="3108960" cy="822960"/>
          </a:xfrm>
          <a:prstGeom prst="rect">
            <a:avLst/>
          </a:prstGeom>
          <a:noFill/>
          <a:ln/>
        </p:spPr>
        <p:txBody>
          <a:bodyPr wrap="square" lIns="0" tIns="0" rIns="0" bIns="0" rtlCol="0" anchor="t"/>
          <a:lstStyle/>
          <a:p>
            <a:pPr indent="0" marL="0">
              <a:buNone/>
            </a:pPr>
            <a:r>
              <a:rPr lang="en-US" sz="1400" dirty="0">
                <a:solidFill>
                  <a:schemeClr val="tx1"/>
                </a:solidFill>
              </a:rPr>
              <a:t>VPC Service Controls y workers sin IP pública</a:t>
            </a:r>
            <a:endParaRPr lang="en-US" sz="1400" dirty="0"/>
          </a:p>
        </p:txBody>
      </p:sp>
      <p:sp>
        <p:nvSpPr>
          <p:cNvPr id="24" name="tarjeta-230"/>
          <p:cNvSpPr/>
          <p:nvPr/>
        </p:nvSpPr>
        <p:spPr>
          <a:xfrm>
            <a:off x="7991856" y="3337560"/>
            <a:ext cx="3538728" cy="1828800"/>
          </a:xfrm>
          <a:prstGeom prst="roundRect">
            <a:avLst>
              <a:gd name="adj" fmla="val 4000"/>
            </a:avLst>
          </a:prstGeom>
          <a:solidFill>
            <a:schemeClr val="bg2"/>
          </a:solidFill>
          <a:ln/>
        </p:spPr>
      </p:sp>
      <p:sp>
        <p:nvSpPr>
          <p:cNvPr id="25" name="circulo-231"/>
          <p:cNvSpPr txBox="1"/>
          <p:nvPr/>
        </p:nvSpPr>
        <p:spPr>
          <a:xfrm>
            <a:off x="8220456" y="3566160"/>
            <a:ext cx="457200" cy="457200"/>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26" name="texto-232"/>
          <p:cNvSpPr txBox="1"/>
          <p:nvPr/>
        </p:nvSpPr>
        <p:spPr>
          <a:xfrm>
            <a:off x="8814816" y="3566160"/>
            <a:ext cx="2560320" cy="457200"/>
          </a:xfrm>
          <a:prstGeom prst="rect">
            <a:avLst/>
          </a:prstGeom>
          <a:noFill/>
          <a:ln/>
        </p:spPr>
        <p:txBody>
          <a:bodyPr wrap="square" lIns="0" tIns="0" rIns="0" bIns="0" rtlCol="0" anchor="ctr"/>
          <a:lstStyle/>
          <a:p>
            <a:pPr indent="0" marL="0">
              <a:buNone/>
            </a:pPr>
            <a:r>
              <a:rPr lang="en-US" sz="1700" b="1" dirty="0">
                <a:solidFill>
                  <a:schemeClr val="tx2"/>
                </a:solidFill>
              </a:rPr>
              <a:t>Auditoría y calidad</a:t>
            </a:r>
            <a:endParaRPr lang="en-US" sz="1700" dirty="0"/>
          </a:p>
        </p:txBody>
      </p:sp>
      <p:sp>
        <p:nvSpPr>
          <p:cNvPr id="27" name="texto-233"/>
          <p:cNvSpPr txBox="1"/>
          <p:nvPr/>
        </p:nvSpPr>
        <p:spPr>
          <a:xfrm>
            <a:off x="8220456" y="4206240"/>
            <a:ext cx="3108960" cy="822960"/>
          </a:xfrm>
          <a:prstGeom prst="rect">
            <a:avLst/>
          </a:prstGeom>
          <a:noFill/>
          <a:ln/>
        </p:spPr>
        <p:txBody>
          <a:bodyPr wrap="square" lIns="0" tIns="0" rIns="0" bIns="0" rtlCol="0" anchor="t"/>
          <a:lstStyle/>
          <a:p>
            <a:pPr indent="0" marL="0">
              <a:buNone/>
            </a:pPr>
            <a:r>
              <a:rPr lang="en-US" sz="1400" dirty="0">
                <a:solidFill>
                  <a:schemeClr val="tx1"/>
                </a:solidFill>
              </a:rPr>
              <a:t>Logs inmutables, Dataplex para calidad y linaje</a:t>
            </a:r>
            <a:endParaRPr lang="en-US" sz="1400" dirty="0"/>
          </a:p>
        </p:txBody>
      </p:sp>
      <p:sp>
        <p:nvSpPr>
          <p:cNvPr id="28" name="tarjeta-234"/>
          <p:cNvSpPr/>
          <p:nvPr/>
        </p:nvSpPr>
        <p:spPr>
          <a:xfrm>
            <a:off x="548640" y="5440680"/>
            <a:ext cx="11064240" cy="685800"/>
          </a:xfrm>
          <a:prstGeom prst="roundRect">
            <a:avLst>
              <a:gd name="adj" fmla="val 10667"/>
            </a:avLst>
          </a:prstGeom>
          <a:solidFill>
            <a:schemeClr val="tx2"/>
          </a:solidFill>
          <a:ln/>
        </p:spPr>
      </p:sp>
      <p:sp>
        <p:nvSpPr>
          <p:cNvPr id="29" name="texto-235"/>
          <p:cNvSpPr txBox="1"/>
          <p:nvPr/>
        </p:nvSpPr>
        <p:spPr>
          <a:xfrm>
            <a:off x="822960" y="5440680"/>
            <a:ext cx="10515600" cy="685800"/>
          </a:xfrm>
          <a:prstGeom prst="rect">
            <a:avLst/>
          </a:prstGeom>
          <a:noFill/>
          <a:ln/>
        </p:spPr>
        <p:txBody>
          <a:bodyPr wrap="square" lIns="0" tIns="0" rIns="0" bIns="0" rtlCol="0" anchor="ctr"/>
          <a:lstStyle/>
          <a:p>
            <a:pPr indent="0" marL="0">
              <a:buNone/>
            </a:pPr>
            <a:r>
              <a:rPr lang="en-US" sz="1400" dirty="0">
                <a:solidFill>
                  <a:schemeClr val="bg1"/>
                </a:solidFill>
              </a:rPr>
              <a:t>Marco normativo: Ley N.° 29733 de Protección de Datos Personales · Res. SBS N.° 504-2021 · principios PCI DSS</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Supuestos, dependencias y fuera de alcance</a:t>
            </a:r>
            <a:endParaRPr lang="en-US" sz="3200" dirty="0"/>
          </a:p>
        </p:txBody>
      </p:sp>
      <p:sp>
        <p:nvSpPr>
          <p:cNvPr id="4" name="col-236"/>
          <p:cNvSpPr txBox="1"/>
          <p:nvPr/>
        </p:nvSpPr>
        <p:spPr>
          <a:xfrm>
            <a:off x="548640" y="1325880"/>
            <a:ext cx="3538728" cy="640080"/>
          </a:xfrm>
          <a:prstGeom prst="roundRect">
            <a:avLst>
              <a:gd name="adj" fmla="val 11429"/>
            </a:avLst>
          </a:prstGeom>
          <a:solidFill>
            <a:schemeClr val="accent2"/>
          </a:solidFill>
          <a:ln/>
        </p:spPr>
        <p:txBody>
          <a:bodyPr wrap="square" lIns="0" tIns="0" rIns="0" bIns="0" rtlCol="0" anchor="ctr"/>
          <a:lstStyle/>
          <a:p>
            <a:pPr algn="ctr" indent="0" marL="0">
              <a:buNone/>
            </a:pPr>
            <a:r>
              <a:rPr lang="en-US" sz="1800" b="1" dirty="0">
                <a:solidFill>
                  <a:schemeClr val="bg1"/>
                </a:solidFill>
              </a:rPr>
              <a:t>Supuestos</a:t>
            </a:r>
            <a:endParaRPr lang="en-US" sz="1800" dirty="0"/>
          </a:p>
        </p:txBody>
      </p:sp>
      <p:sp>
        <p:nvSpPr>
          <p:cNvPr id="5" name="tarjeta-237"/>
          <p:cNvSpPr/>
          <p:nvPr/>
        </p:nvSpPr>
        <p:spPr>
          <a:xfrm>
            <a:off x="548640" y="2103120"/>
            <a:ext cx="3538728" cy="4023360"/>
          </a:xfrm>
          <a:prstGeom prst="roundRect">
            <a:avLst>
              <a:gd name="adj" fmla="val 2067"/>
            </a:avLst>
          </a:prstGeom>
          <a:solidFill>
            <a:schemeClr val="bg2"/>
          </a:solidFill>
          <a:ln/>
        </p:spPr>
      </p:sp>
      <p:sp>
        <p:nvSpPr>
          <p:cNvPr id="6" name="texto-238"/>
          <p:cNvSpPr txBox="1"/>
          <p:nvPr/>
        </p:nvSpPr>
        <p:spPr>
          <a:xfrm>
            <a:off x="731520" y="2286000"/>
            <a:ext cx="3172968" cy="3657600"/>
          </a:xfrm>
          <a:prstGeom prst="rect">
            <a:avLst/>
          </a:prstGeom>
          <a:noFill/>
          <a:ln/>
        </p:spPr>
        <p:txBody>
          <a:bodyPr wrap="square" lIns="0" tIns="0" rIns="0" bIns="0" rtlCol="0" anchor="t"/>
          <a:lstStyle/>
          <a:p>
            <a:pPr marL="342900" indent="-342900">
              <a:spcAft>
                <a:spcPts val="1200"/>
              </a:spcAft>
              <a:buSzPct val="100000"/>
              <a:buChar char="•"/>
            </a:pPr>
            <a:r>
              <a:rPr lang="en-US" sz="1500" dirty="0">
                <a:solidFill>
                  <a:schemeClr val="tx1"/>
                </a:solidFill>
              </a:rPr>
              <a:t>15 M tx/día y picos de 5,000 TPS</a:t>
            </a:r>
            <a:endParaRPr lang="en-US" sz="1500" dirty="0"/>
          </a:p>
          <a:p>
            <a:pPr marL="342900" indent="-342900">
              <a:spcAft>
                <a:spcPts val="1200"/>
              </a:spcAft>
              <a:buSzPct val="100000"/>
              <a:buChar char="•"/>
            </a:pPr>
            <a:r>
              <a:rPr lang="en-US" sz="1500" dirty="0">
                <a:solidFill>
                  <a:schemeClr val="tx1"/>
                </a:solidFill>
              </a:rPr>
              <a:t>Geolocalización, telemetría y distritos simulados desde PaySim</a:t>
            </a:r>
            <a:endParaRPr lang="en-US" sz="1500" dirty="0"/>
          </a:p>
          <a:p>
            <a:pPr marL="342900" indent="-342900">
              <a:spcAft>
                <a:spcPts val="1200"/>
              </a:spcAft>
              <a:buSzPct val="100000"/>
              <a:buChar char="•"/>
            </a:pPr>
            <a:r>
              <a:rPr lang="en-US" sz="1500" dirty="0">
                <a:solidFill>
                  <a:schemeClr val="tx1"/>
                </a:solidFill>
              </a:rPr>
              <a:t>Lumina es dueña de los datos</a:t>
            </a:r>
            <a:endParaRPr lang="en-US" sz="1500" dirty="0"/>
          </a:p>
          <a:p>
            <a:pPr marL="342900" indent="-342900">
              <a:spcAft>
                <a:spcPts val="1200"/>
              </a:spcAft>
              <a:buSzPct val="100000"/>
              <a:buChar char="•"/>
            </a:pPr>
            <a:r>
              <a:rPr lang="en-US" sz="1500" dirty="0">
                <a:solidFill>
                  <a:schemeClr val="tx1"/>
                </a:solidFill>
              </a:rPr>
              <a:t>Laboratorio en US; producción en Santiago</a:t>
            </a:r>
            <a:endParaRPr lang="en-US" sz="1500" dirty="0"/>
          </a:p>
        </p:txBody>
      </p:sp>
      <p:sp>
        <p:nvSpPr>
          <p:cNvPr id="7" name="col-239"/>
          <p:cNvSpPr txBox="1"/>
          <p:nvPr/>
        </p:nvSpPr>
        <p:spPr>
          <a:xfrm>
            <a:off x="4270248" y="1325880"/>
            <a:ext cx="3538728" cy="640080"/>
          </a:xfrm>
          <a:prstGeom prst="roundRect">
            <a:avLst>
              <a:gd name="adj" fmla="val 11429"/>
            </a:avLst>
          </a:prstGeom>
          <a:solidFill>
            <a:schemeClr val="accent3"/>
          </a:solidFill>
          <a:ln/>
        </p:spPr>
        <p:txBody>
          <a:bodyPr wrap="square" lIns="0" tIns="0" rIns="0" bIns="0" rtlCol="0" anchor="ctr"/>
          <a:lstStyle/>
          <a:p>
            <a:pPr algn="ctr" indent="0" marL="0">
              <a:buNone/>
            </a:pPr>
            <a:r>
              <a:rPr lang="en-US" sz="1800" b="1" dirty="0">
                <a:solidFill>
                  <a:schemeClr val="bg1"/>
                </a:solidFill>
              </a:rPr>
              <a:t>Dependencias</a:t>
            </a:r>
            <a:endParaRPr lang="en-US" sz="1800" dirty="0"/>
          </a:p>
        </p:txBody>
      </p:sp>
      <p:sp>
        <p:nvSpPr>
          <p:cNvPr id="8" name="tarjeta-240"/>
          <p:cNvSpPr/>
          <p:nvPr/>
        </p:nvSpPr>
        <p:spPr>
          <a:xfrm>
            <a:off x="4270248" y="2103120"/>
            <a:ext cx="3538728" cy="4023360"/>
          </a:xfrm>
          <a:prstGeom prst="roundRect">
            <a:avLst>
              <a:gd name="adj" fmla="val 2067"/>
            </a:avLst>
          </a:prstGeom>
          <a:solidFill>
            <a:schemeClr val="bg2"/>
          </a:solidFill>
          <a:ln/>
        </p:spPr>
      </p:sp>
      <p:sp>
        <p:nvSpPr>
          <p:cNvPr id="9" name="texto-241"/>
          <p:cNvSpPr txBox="1"/>
          <p:nvPr/>
        </p:nvSpPr>
        <p:spPr>
          <a:xfrm>
            <a:off x="4453128" y="2286000"/>
            <a:ext cx="3172968" cy="3657600"/>
          </a:xfrm>
          <a:prstGeom prst="rect">
            <a:avLst/>
          </a:prstGeom>
          <a:noFill/>
          <a:ln/>
        </p:spPr>
        <p:txBody>
          <a:bodyPr wrap="square" lIns="0" tIns="0" rIns="0" bIns="0" rtlCol="0" anchor="t"/>
          <a:lstStyle/>
          <a:p>
            <a:pPr marL="342900" indent="-342900">
              <a:spcAft>
                <a:spcPts val="1200"/>
              </a:spcAft>
              <a:buSzPct val="100000"/>
              <a:buChar char="•"/>
            </a:pPr>
            <a:r>
              <a:rPr lang="en-US" sz="1500" dirty="0">
                <a:solidFill>
                  <a:schemeClr val="tx1"/>
                </a:solidFill>
              </a:rPr>
              <a:t>Acceso a EDI en Analytics Hub (alternativa: CSV)</a:t>
            </a:r>
            <a:endParaRPr lang="en-US" sz="1500" dirty="0"/>
          </a:p>
          <a:p>
            <a:pPr marL="342900" indent="-342900">
              <a:spcAft>
                <a:spcPts val="1200"/>
              </a:spcAft>
              <a:buSzPct val="100000"/>
              <a:buChar char="•"/>
            </a:pPr>
            <a:r>
              <a:rPr lang="en-US" sz="1500" dirty="0">
                <a:solidFill>
                  <a:schemeClr val="tx1"/>
                </a:solidFill>
              </a:rPr>
              <a:t>Validación de Legal y Cumplimiento (Ley 29733, SBS)</a:t>
            </a:r>
            <a:endParaRPr lang="en-US" sz="1500" dirty="0"/>
          </a:p>
          <a:p>
            <a:pPr marL="342900" indent="-342900">
              <a:spcAft>
                <a:spcPts val="1200"/>
              </a:spcAft>
              <a:buSzPct val="100000"/>
              <a:buChar char="•"/>
            </a:pPr>
            <a:r>
              <a:rPr lang="en-US" sz="1500" dirty="0">
                <a:solidFill>
                  <a:schemeClr val="tx1"/>
                </a:solidFill>
              </a:rPr>
              <a:t>Cuotas de GCP para la prueba de carga</a:t>
            </a:r>
            <a:endParaRPr lang="en-US" sz="1500" dirty="0"/>
          </a:p>
          <a:p>
            <a:pPr marL="342900" indent="-342900">
              <a:spcAft>
                <a:spcPts val="1200"/>
              </a:spcAft>
              <a:buSzPct val="100000"/>
              <a:buChar char="•"/>
            </a:pPr>
            <a:r>
              <a:rPr lang="en-US" sz="1500" dirty="0">
                <a:solidFill>
                  <a:schemeClr val="tx1"/>
                </a:solidFill>
              </a:rPr>
              <a:t>Datos de origen de las 12 entidades</a:t>
            </a:r>
            <a:endParaRPr lang="en-US" sz="1500" dirty="0"/>
          </a:p>
        </p:txBody>
      </p:sp>
      <p:sp>
        <p:nvSpPr>
          <p:cNvPr id="10" name="col-242"/>
          <p:cNvSpPr txBox="1"/>
          <p:nvPr/>
        </p:nvSpPr>
        <p:spPr>
          <a:xfrm>
            <a:off x="7991856" y="1325880"/>
            <a:ext cx="3538728" cy="640080"/>
          </a:xfrm>
          <a:prstGeom prst="roundRect">
            <a:avLst>
              <a:gd name="adj" fmla="val 11429"/>
            </a:avLst>
          </a:prstGeom>
          <a:solidFill>
            <a:schemeClr val="accent4"/>
          </a:solidFill>
          <a:ln/>
        </p:spPr>
        <p:txBody>
          <a:bodyPr wrap="square" lIns="0" tIns="0" rIns="0" bIns="0" rtlCol="0" anchor="ctr"/>
          <a:lstStyle/>
          <a:p>
            <a:pPr algn="ctr" indent="0" marL="0">
              <a:buNone/>
            </a:pPr>
            <a:r>
              <a:rPr lang="en-US" sz="1800" b="1" dirty="0">
                <a:solidFill>
                  <a:schemeClr val="bg1"/>
                </a:solidFill>
              </a:rPr>
              <a:t>Fuera de alcance</a:t>
            </a:r>
            <a:endParaRPr lang="en-US" sz="1800" dirty="0"/>
          </a:p>
        </p:txBody>
      </p:sp>
      <p:sp>
        <p:nvSpPr>
          <p:cNvPr id="11" name="tarjeta-243"/>
          <p:cNvSpPr/>
          <p:nvPr/>
        </p:nvSpPr>
        <p:spPr>
          <a:xfrm>
            <a:off x="7991856" y="2103120"/>
            <a:ext cx="3538728" cy="4023360"/>
          </a:xfrm>
          <a:prstGeom prst="roundRect">
            <a:avLst>
              <a:gd name="adj" fmla="val 2067"/>
            </a:avLst>
          </a:prstGeom>
          <a:solidFill>
            <a:schemeClr val="bg2"/>
          </a:solidFill>
          <a:ln/>
        </p:spPr>
      </p:sp>
      <p:sp>
        <p:nvSpPr>
          <p:cNvPr id="12" name="texto-244"/>
          <p:cNvSpPr txBox="1"/>
          <p:nvPr/>
        </p:nvSpPr>
        <p:spPr>
          <a:xfrm>
            <a:off x="8174736" y="2286000"/>
            <a:ext cx="3172968" cy="3657600"/>
          </a:xfrm>
          <a:prstGeom prst="rect">
            <a:avLst/>
          </a:prstGeom>
          <a:noFill/>
          <a:ln/>
        </p:spPr>
        <p:txBody>
          <a:bodyPr wrap="square" lIns="0" tIns="0" rIns="0" bIns="0" rtlCol="0" anchor="t"/>
          <a:lstStyle/>
          <a:p>
            <a:pPr marL="342900" indent="-342900">
              <a:spcAft>
                <a:spcPts val="1200"/>
              </a:spcAft>
              <a:buSzPct val="100000"/>
              <a:buChar char="•"/>
            </a:pPr>
            <a:r>
              <a:rPr lang="en-US" sz="1500" dirty="0">
                <a:solidFill>
                  <a:schemeClr val="tx1"/>
                </a:solidFill>
              </a:rPr>
              <a:t>Front-end: apps, cajeros y biometría (otro RFP)</a:t>
            </a:r>
            <a:endParaRPr lang="en-US" sz="1500" dirty="0"/>
          </a:p>
          <a:p>
            <a:pPr marL="342900" indent="-342900">
              <a:spcAft>
                <a:spcPts val="1200"/>
              </a:spcAft>
              <a:buSzPct val="100000"/>
              <a:buChar char="•"/>
            </a:pPr>
            <a:r>
              <a:rPr lang="en-US" sz="1500" dirty="0">
                <a:solidFill>
                  <a:schemeClr val="tx1"/>
                </a:solidFill>
              </a:rPr>
              <a:t>Integración real con los cores bancarios</a:t>
            </a:r>
            <a:endParaRPr lang="en-US" sz="1500" dirty="0"/>
          </a:p>
          <a:p>
            <a:pPr marL="342900" indent="-342900">
              <a:spcAft>
                <a:spcPts val="1200"/>
              </a:spcAft>
              <a:buSzPct val="100000"/>
              <a:buChar char="•"/>
            </a:pPr>
            <a:r>
              <a:rPr lang="en-US" sz="1500" dirty="0">
                <a:solidFill>
                  <a:schemeClr val="tx1"/>
                </a:solidFill>
              </a:rPr>
              <a:t>Certificación PCI DSS y pentesting</a:t>
            </a:r>
            <a:endParaRPr lang="en-US" sz="1500" dirty="0"/>
          </a:p>
          <a:p>
            <a:pPr marL="342900" indent="-342900">
              <a:spcAft>
                <a:spcPts val="1200"/>
              </a:spcAft>
              <a:buSzPct val="100000"/>
              <a:buChar char="•"/>
            </a:pPr>
            <a:r>
              <a:rPr lang="en-US" sz="1500" dirty="0">
                <a:solidFill>
                  <a:schemeClr val="tx1"/>
                </a:solidFill>
              </a:rPr>
              <a:t>Scoring de crédito y micro-créditos</a:t>
            </a:r>
            <a:endParaRPr lang="en-US" sz="15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Riesgos principales y cómo los mitigamos</a:t>
            </a:r>
            <a:endParaRPr lang="en-US" sz="3200" dirty="0"/>
          </a:p>
        </p:txBody>
      </p:sp>
      <p:graphicFrame>
        <p:nvGraphicFramePr>
          <p:cNvPr id="15" name="tabla-riesgos-245"/>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4206240"/>
                <a:gridCol w="1005840"/>
                <a:gridCol w="1097280"/>
                <a:gridCol w="4754880"/>
              </a:tblGrid>
              <a:tr h="74980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Riesgo</a:t>
                      </a:r>
                      <a:endParaRPr lang="en-US" sz="1400" dirty="0">
                        <a:latin typeface="Calibri" charset="0"/>
                        <a:ea typeface="Calibri" charset="0"/>
                        <a:cs typeface="Calibri" charset="0"/>
                      </a:endParaRPr>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4213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Prob.</a:t>
                      </a:r>
                      <a:endParaRPr lang="en-US" sz="1400" dirty="0">
                        <a:latin typeface="Calibri" charset="0"/>
                        <a:ea typeface="Calibri" charset="0"/>
                        <a:cs typeface="Calibri" charset="0"/>
                      </a:endParaRPr>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4213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Impacto</a:t>
                      </a:r>
                      <a:endParaRPr lang="en-US" sz="1400" dirty="0">
                        <a:latin typeface="Calibri" charset="0"/>
                        <a:ea typeface="Calibri" charset="0"/>
                        <a:cs typeface="Calibri" charset="0"/>
                      </a:endParaRPr>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4213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Mitigación</a:t>
                      </a:r>
                      <a:endParaRPr lang="en-US" sz="1400" dirty="0">
                        <a:latin typeface="Calibri" charset="0"/>
                        <a:ea typeface="Calibri" charset="0"/>
                        <a:cs typeface="Calibri" charset="0"/>
                      </a:endParaRPr>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4213D"/>
                    </a:solidFill>
                  </a:tcPr>
                </a:tc>
              </a:tr>
              <a:tr h="749808">
                <a:tc>
                  <a:txBody>
                    <a:bodyPr/>
                    <a:lstStyle/>
                    <a:p>
                      <a:pPr indent="0" marL="0">
                        <a:buNone/>
                      </a:pPr>
                      <a:r>
                        <a:rPr lang="en-US" sz="1400" dirty="0">
                          <a:solidFill>
                            <a:srgbClr val="1B1F2A"/>
                          </a:solidFill>
                          <a:latin typeface="Calibri" pitchFamily="34" charset="0"/>
                          <a:ea typeface="Calibri" pitchFamily="34" charset="-122"/>
                          <a:cs typeface="Calibri" pitchFamily="34" charset="-120"/>
                        </a:rPr>
                        <a:t>Calidad y formatos distintos en los datos de las 12 entidades</a:t>
                      </a:r>
                      <a:endParaRPr lang="en-US" sz="1400" dirty="0">
                        <a:latin typeface="Calibri" charset="0"/>
                        <a:ea typeface="Calibri" charset="0"/>
                        <a:cs typeface="Calibri" charset="0"/>
                      </a:endParaRPr>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E76F51"/>
                          </a:solidFill>
                          <a:latin typeface="Calibri" pitchFamily="34" charset="0"/>
                          <a:ea typeface="Calibri" pitchFamily="34" charset="-122"/>
                          <a:cs typeface="Calibri" pitchFamily="34" charset="-120"/>
                        </a:rPr>
                        <a:t>Alta</a:t>
                      </a:r>
                      <a:endParaRPr lang="en-US" sz="1400" dirty="0">
                        <a:latin typeface="Calibri" charset="0"/>
                        <a:ea typeface="Calibri" charset="0"/>
                        <a:cs typeface="Calibri" charset="0"/>
                      </a:endParaRPr>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E76F51"/>
                          </a:solidFill>
                          <a:latin typeface="Calibri" pitchFamily="34" charset="0"/>
                          <a:ea typeface="Calibri" pitchFamily="34" charset="-122"/>
                          <a:cs typeface="Calibri" pitchFamily="34" charset="-120"/>
                        </a:rPr>
                        <a:t>Alto</a:t>
                      </a:r>
                      <a:endParaRPr lang="en-US" sz="1400" dirty="0">
                        <a:latin typeface="Calibri" charset="0"/>
                        <a:ea typeface="Calibri" charset="0"/>
                        <a:cs typeface="Calibri" charset="0"/>
                      </a:endParaRPr>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400" dirty="0">
                          <a:solidFill>
                            <a:srgbClr val="1B1F2A"/>
                          </a:solidFill>
                          <a:latin typeface="Calibri" pitchFamily="34" charset="0"/>
                          <a:ea typeface="Calibri" pitchFamily="34" charset="-122"/>
                          <a:cs typeface="Calibri" pitchFamily="34" charset="-120"/>
                        </a:rPr>
                        <a:t>Contrato de datos, validación de esquema, Dataplex y DLQ</a:t>
                      </a:r>
                      <a:endParaRPr lang="en-US" sz="1400" dirty="0">
                        <a:latin typeface="Calibri" charset="0"/>
                        <a:ea typeface="Calibri" charset="0"/>
                        <a:cs typeface="Calibri" charset="0"/>
                      </a:endParaRPr>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r>
              <a:tr h="749808">
                <a:tc>
                  <a:txBody>
                    <a:bodyPr/>
                    <a:lstStyle/>
                    <a:p>
                      <a:pPr indent="0" marL="0">
                        <a:buNone/>
                      </a:pPr>
                      <a:r>
                        <a:rPr lang="en-US" sz="1400" dirty="0">
                          <a:solidFill>
                            <a:srgbClr val="1B1F2A"/>
                          </a:solidFill>
                          <a:latin typeface="Calibri" pitchFamily="34" charset="0"/>
                          <a:ea typeface="Calibri" pitchFamily="34" charset="-122"/>
                          <a:cs typeface="Calibri" pitchFamily="34" charset="-120"/>
                        </a:rPr>
                        <a:t>Normativa de residencia y tercerización en la nube</a:t>
                      </a:r>
                      <a:endParaRPr lang="en-US" sz="1400" dirty="0">
                        <a:latin typeface="Calibri" charset="0"/>
                        <a:ea typeface="Calibri" charset="0"/>
                        <a:cs typeface="Calibri" charset="0"/>
                      </a:endParaRPr>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3D5A80"/>
                          </a:solidFill>
                          <a:latin typeface="Calibri" pitchFamily="34" charset="0"/>
                          <a:ea typeface="Calibri" pitchFamily="34" charset="-122"/>
                          <a:cs typeface="Calibri" pitchFamily="34" charset="-120"/>
                        </a:rPr>
                        <a:t>Media</a:t>
                      </a:r>
                      <a:endParaRPr lang="en-US" sz="1400" dirty="0">
                        <a:latin typeface="Calibri" charset="0"/>
                        <a:ea typeface="Calibri" charset="0"/>
                        <a:cs typeface="Calibri" charset="0"/>
                      </a:endParaRPr>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E76F51"/>
                          </a:solidFill>
                          <a:latin typeface="Calibri" pitchFamily="34" charset="0"/>
                          <a:ea typeface="Calibri" pitchFamily="34" charset="-122"/>
                          <a:cs typeface="Calibri" pitchFamily="34" charset="-120"/>
                        </a:rPr>
                        <a:t>Alto</a:t>
                      </a:r>
                      <a:endParaRPr lang="en-US" sz="1400" dirty="0">
                        <a:latin typeface="Calibri" charset="0"/>
                        <a:ea typeface="Calibri" charset="0"/>
                        <a:cs typeface="Calibri" charset="0"/>
                      </a:endParaRPr>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400" dirty="0">
                          <a:solidFill>
                            <a:srgbClr val="1B1F2A"/>
                          </a:solidFill>
                          <a:latin typeface="Calibri" pitchFamily="34" charset="0"/>
                          <a:ea typeface="Calibri" pitchFamily="34" charset="-122"/>
                          <a:cs typeface="Calibri" pitchFamily="34" charset="-120"/>
                        </a:rPr>
                        <a:t>Validación legal previa, regiones en Sudamérica y CMEK</a:t>
                      </a:r>
                      <a:endParaRPr lang="en-US" sz="1400" dirty="0">
                        <a:latin typeface="Calibri" charset="0"/>
                        <a:ea typeface="Calibri" charset="0"/>
                        <a:cs typeface="Calibri" charset="0"/>
                      </a:endParaRPr>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r>
              <a:tr h="749808">
                <a:tc>
                  <a:txBody>
                    <a:bodyPr/>
                    <a:lstStyle/>
                    <a:p>
                      <a:pPr indent="0" marL="0">
                        <a:buNone/>
                      </a:pPr>
                      <a:r>
                        <a:rPr lang="en-US" sz="1400" dirty="0">
                          <a:solidFill>
                            <a:srgbClr val="1B1F2A"/>
                          </a:solidFill>
                          <a:latin typeface="Calibri" pitchFamily="34" charset="0"/>
                          <a:ea typeface="Calibri" pitchFamily="34" charset="-122"/>
                          <a:cs typeface="Calibri" pitchFamily="34" charset="-120"/>
                        </a:rPr>
                        <a:t>Pico mayor al diseñado</a:t>
                      </a:r>
                      <a:endParaRPr lang="en-US" sz="1400" dirty="0">
                        <a:latin typeface="Calibri" charset="0"/>
                        <a:ea typeface="Calibri" charset="0"/>
                        <a:cs typeface="Calibri" charset="0"/>
                      </a:endParaRPr>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3D5A80"/>
                          </a:solidFill>
                          <a:latin typeface="Calibri" pitchFamily="34" charset="0"/>
                          <a:ea typeface="Calibri" pitchFamily="34" charset="-122"/>
                          <a:cs typeface="Calibri" pitchFamily="34" charset="-120"/>
                        </a:rPr>
                        <a:t>Media</a:t>
                      </a:r>
                      <a:endParaRPr lang="en-US" sz="1400" dirty="0">
                        <a:latin typeface="Calibri" charset="0"/>
                        <a:ea typeface="Calibri" charset="0"/>
                        <a:cs typeface="Calibri" charset="0"/>
                      </a:endParaRPr>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E76F51"/>
                          </a:solidFill>
                          <a:latin typeface="Calibri" pitchFamily="34" charset="0"/>
                          <a:ea typeface="Calibri" pitchFamily="34" charset="-122"/>
                          <a:cs typeface="Calibri" pitchFamily="34" charset="-120"/>
                        </a:rPr>
                        <a:t>Alto</a:t>
                      </a:r>
                      <a:endParaRPr lang="en-US" sz="1400" dirty="0">
                        <a:latin typeface="Calibri" charset="0"/>
                        <a:ea typeface="Calibri" charset="0"/>
                        <a:cs typeface="Calibri" charset="0"/>
                      </a:endParaRPr>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400" dirty="0">
                          <a:solidFill>
                            <a:srgbClr val="1B1F2A"/>
                          </a:solidFill>
                          <a:latin typeface="Calibri" pitchFamily="34" charset="0"/>
                          <a:ea typeface="Calibri" pitchFamily="34" charset="-122"/>
                          <a:cs typeface="Calibri" pitchFamily="34" charset="-120"/>
                        </a:rPr>
                        <a:t>Autoscaling, cuotas ampliadas y prueba de carga al 2×</a:t>
                      </a:r>
                      <a:endParaRPr lang="en-US" sz="1400" dirty="0">
                        <a:latin typeface="Calibri" charset="0"/>
                        <a:ea typeface="Calibri" charset="0"/>
                        <a:cs typeface="Calibri" charset="0"/>
                      </a:endParaRPr>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r>
              <a:tr h="749808">
                <a:tc>
                  <a:txBody>
                    <a:bodyPr/>
                    <a:lstStyle/>
                    <a:p>
                      <a:pPr indent="0" marL="0">
                        <a:buNone/>
                      </a:pPr>
                      <a:r>
                        <a:rPr lang="en-US" sz="1400" dirty="0">
                          <a:solidFill>
                            <a:srgbClr val="1B1F2A"/>
                          </a:solidFill>
                          <a:latin typeface="Calibri" pitchFamily="34" charset="0"/>
                          <a:ea typeface="Calibri" pitchFamily="34" charset="-122"/>
                          <a:cs typeface="Calibri" pitchFamily="34" charset="-120"/>
                        </a:rPr>
                        <a:t>Falsos positivos que bloquean a buenos clientes</a:t>
                      </a:r>
                      <a:endParaRPr lang="en-US" sz="1400" dirty="0">
                        <a:latin typeface="Calibri" charset="0"/>
                        <a:ea typeface="Calibri" charset="0"/>
                        <a:cs typeface="Calibri" charset="0"/>
                      </a:endParaRPr>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3D5A80"/>
                          </a:solidFill>
                          <a:latin typeface="Calibri" pitchFamily="34" charset="0"/>
                          <a:ea typeface="Calibri" pitchFamily="34" charset="-122"/>
                          <a:cs typeface="Calibri" pitchFamily="34" charset="-120"/>
                        </a:rPr>
                        <a:t>Media</a:t>
                      </a:r>
                      <a:endParaRPr lang="en-US" sz="1400" dirty="0">
                        <a:latin typeface="Calibri" charset="0"/>
                        <a:ea typeface="Calibri" charset="0"/>
                        <a:cs typeface="Calibri" charset="0"/>
                      </a:endParaRPr>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3D5A80"/>
                          </a:solidFill>
                          <a:latin typeface="Calibri" pitchFamily="34" charset="0"/>
                          <a:ea typeface="Calibri" pitchFamily="34" charset="-122"/>
                          <a:cs typeface="Calibri" pitchFamily="34" charset="-120"/>
                        </a:rPr>
                        <a:t>Medio</a:t>
                      </a:r>
                      <a:endParaRPr lang="en-US" sz="1400" dirty="0">
                        <a:latin typeface="Calibri" charset="0"/>
                        <a:ea typeface="Calibri" charset="0"/>
                        <a:cs typeface="Calibri" charset="0"/>
                      </a:endParaRPr>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400" dirty="0">
                          <a:solidFill>
                            <a:srgbClr val="1B1F2A"/>
                          </a:solidFill>
                          <a:latin typeface="Calibri" pitchFamily="34" charset="0"/>
                          <a:ea typeface="Calibri" pitchFamily="34" charset="-122"/>
                          <a:cs typeface="Calibri" pitchFamily="34" charset="-120"/>
                        </a:rPr>
                        <a:t>Decisión REVISAR, umbrales calibrados y monitoreo</a:t>
                      </a:r>
                      <a:endParaRPr lang="en-US" sz="1400" dirty="0">
                        <a:latin typeface="Calibri" charset="0"/>
                        <a:ea typeface="Calibri" charset="0"/>
                        <a:cs typeface="Calibri" charset="0"/>
                      </a:endParaRPr>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r>
              <a:tr h="749808">
                <a:tc>
                  <a:txBody>
                    <a:bodyPr/>
                    <a:lstStyle/>
                    <a:p>
                      <a:pPr indent="0" marL="0">
                        <a:buNone/>
                      </a:pPr>
                      <a:r>
                        <a:rPr lang="en-US" sz="1400" dirty="0">
                          <a:solidFill>
                            <a:srgbClr val="1B1F2A"/>
                          </a:solidFill>
                          <a:latin typeface="Calibri" pitchFamily="34" charset="0"/>
                          <a:ea typeface="Calibri" pitchFamily="34" charset="-122"/>
                          <a:cs typeface="Calibri" pitchFamily="34" charset="-120"/>
                        </a:rPr>
                        <a:t>Pérdida de datos o ransomware</a:t>
                      </a:r>
                      <a:endParaRPr lang="en-US" sz="1400" dirty="0">
                        <a:latin typeface="Calibri" charset="0"/>
                        <a:ea typeface="Calibri" charset="0"/>
                        <a:cs typeface="Calibri" charset="0"/>
                      </a:endParaRPr>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3D5A80"/>
                          </a:solidFill>
                          <a:latin typeface="Calibri" pitchFamily="34" charset="0"/>
                          <a:ea typeface="Calibri" pitchFamily="34" charset="-122"/>
                          <a:cs typeface="Calibri" pitchFamily="34" charset="-120"/>
                        </a:rPr>
                        <a:t>Baja</a:t>
                      </a:r>
                      <a:endParaRPr lang="en-US" sz="1400" dirty="0">
                        <a:latin typeface="Calibri" charset="0"/>
                        <a:ea typeface="Calibri" charset="0"/>
                        <a:cs typeface="Calibri" charset="0"/>
                      </a:endParaRPr>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E76F51"/>
                          </a:solidFill>
                          <a:latin typeface="Calibri" pitchFamily="34" charset="0"/>
                          <a:ea typeface="Calibri" pitchFamily="34" charset="-122"/>
                          <a:cs typeface="Calibri" pitchFamily="34" charset="-120"/>
                        </a:rPr>
                        <a:t>Alto</a:t>
                      </a:r>
                      <a:endParaRPr lang="en-US" sz="1400" dirty="0">
                        <a:latin typeface="Calibri" charset="0"/>
                        <a:ea typeface="Calibri" charset="0"/>
                        <a:cs typeface="Calibri" charset="0"/>
                      </a:endParaRPr>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400" dirty="0">
                          <a:solidFill>
                            <a:srgbClr val="1B1F2A"/>
                          </a:solidFill>
                          <a:latin typeface="Calibri" pitchFamily="34" charset="0"/>
                          <a:ea typeface="Calibri" pitchFamily="34" charset="-122"/>
                          <a:cs typeface="Calibri" pitchFamily="34" charset="-120"/>
                        </a:rPr>
                        <a:t>Respaldos inmutables, time travel y mínimo privilegio</a:t>
                      </a:r>
                      <a:endParaRPr lang="en-US" sz="1400" dirty="0">
                        <a:latin typeface="Calibri" charset="0"/>
                        <a:ea typeface="Calibri" charset="0"/>
                        <a:cs typeface="Calibri" charset="0"/>
                      </a:endParaRPr>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Demo: de la transacción a la decisión</a:t>
            </a:r>
            <a:endParaRPr lang="en-US" sz="3200" dirty="0"/>
          </a:p>
        </p:txBody>
      </p:sp>
      <p:sp>
        <p:nvSpPr>
          <p:cNvPr id="4" name="circulo-246"/>
          <p:cNvSpPr txBox="1"/>
          <p:nvPr/>
        </p:nvSpPr>
        <p:spPr>
          <a:xfrm>
            <a:off x="1097280" y="1371600"/>
            <a:ext cx="640080" cy="640080"/>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5" name="flecha-247"/>
          <p:cNvSpPr/>
          <p:nvPr/>
        </p:nvSpPr>
        <p:spPr>
          <a:xfrm>
            <a:off x="1783080" y="1691640"/>
            <a:ext cx="1143000" cy="0"/>
          </a:xfrm>
          <a:prstGeom prst="line">
            <a:avLst/>
          </a:prstGeom>
          <a:noFill/>
          <a:ln w="22225">
            <a:solidFill>
              <a:srgbClr val="2A9D8F"/>
            </a:solidFill>
            <a:prstDash val="solid"/>
            <a:tailEnd type="triangle"/>
          </a:ln>
        </p:spPr>
      </p:sp>
      <p:sp>
        <p:nvSpPr>
          <p:cNvPr id="6" name="texto-248"/>
          <p:cNvSpPr txBox="1"/>
          <p:nvPr/>
        </p:nvSpPr>
        <p:spPr>
          <a:xfrm>
            <a:off x="548640" y="2148840"/>
            <a:ext cx="1737360" cy="365760"/>
          </a:xfrm>
          <a:prstGeom prst="rect">
            <a:avLst/>
          </a:prstGeom>
          <a:noFill/>
          <a:ln/>
        </p:spPr>
        <p:txBody>
          <a:bodyPr wrap="square" lIns="0" tIns="0" rIns="0" bIns="0" rtlCol="0" anchor="t"/>
          <a:lstStyle/>
          <a:p>
            <a:pPr algn="ctr" indent="0" marL="0">
              <a:buNone/>
            </a:pPr>
            <a:r>
              <a:rPr lang="en-US" sz="1600" b="1" dirty="0">
                <a:solidFill>
                  <a:schemeClr val="tx2"/>
                </a:solidFill>
              </a:rPr>
              <a:t>Simulador</a:t>
            </a:r>
            <a:endParaRPr lang="en-US" sz="1600" dirty="0"/>
          </a:p>
        </p:txBody>
      </p:sp>
      <p:sp>
        <p:nvSpPr>
          <p:cNvPr id="7" name="texto-249"/>
          <p:cNvSpPr txBox="1"/>
          <p:nvPr/>
        </p:nvSpPr>
        <p:spPr>
          <a:xfrm>
            <a:off x="548640" y="2560320"/>
            <a:ext cx="1737360" cy="640080"/>
          </a:xfrm>
          <a:prstGeom prst="rect">
            <a:avLst/>
          </a:prstGeom>
          <a:noFill/>
          <a:ln/>
        </p:spPr>
        <p:txBody>
          <a:bodyPr wrap="square" lIns="0" tIns="0" rIns="0" bIns="0" rtlCol="0" anchor="t"/>
          <a:lstStyle/>
          <a:p>
            <a:pPr algn="ctr" indent="0" marL="0">
              <a:buNone/>
            </a:pPr>
            <a:r>
              <a:rPr lang="en-US" sz="1300" dirty="0">
                <a:solidFill>
                  <a:schemeClr val="accent5"/>
                </a:solidFill>
              </a:rPr>
              <a:t>publica PaySim como stream</a:t>
            </a:r>
            <a:endParaRPr lang="en-US" sz="1300" dirty="0"/>
          </a:p>
        </p:txBody>
      </p:sp>
      <p:sp>
        <p:nvSpPr>
          <p:cNvPr id="8" name="circulo-250"/>
          <p:cNvSpPr txBox="1"/>
          <p:nvPr/>
        </p:nvSpPr>
        <p:spPr>
          <a:xfrm>
            <a:off x="2971800" y="1371600"/>
            <a:ext cx="640080" cy="640080"/>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9" name="flecha-251"/>
          <p:cNvSpPr/>
          <p:nvPr/>
        </p:nvSpPr>
        <p:spPr>
          <a:xfrm>
            <a:off x="3657600" y="1691640"/>
            <a:ext cx="1143000" cy="0"/>
          </a:xfrm>
          <a:prstGeom prst="line">
            <a:avLst/>
          </a:prstGeom>
          <a:noFill/>
          <a:ln w="22225">
            <a:solidFill>
              <a:srgbClr val="2A9D8F"/>
            </a:solidFill>
            <a:prstDash val="solid"/>
            <a:tailEnd type="triangle"/>
          </a:ln>
        </p:spPr>
      </p:sp>
      <p:sp>
        <p:nvSpPr>
          <p:cNvPr id="10" name="texto-252"/>
          <p:cNvSpPr txBox="1"/>
          <p:nvPr/>
        </p:nvSpPr>
        <p:spPr>
          <a:xfrm>
            <a:off x="2423160" y="2148840"/>
            <a:ext cx="1737360" cy="365760"/>
          </a:xfrm>
          <a:prstGeom prst="rect">
            <a:avLst/>
          </a:prstGeom>
          <a:noFill/>
          <a:ln/>
        </p:spPr>
        <p:txBody>
          <a:bodyPr wrap="square" lIns="0" tIns="0" rIns="0" bIns="0" rtlCol="0" anchor="t"/>
          <a:lstStyle/>
          <a:p>
            <a:pPr algn="ctr" indent="0" marL="0">
              <a:buNone/>
            </a:pPr>
            <a:r>
              <a:rPr lang="en-US" sz="1600" b="1" dirty="0">
                <a:solidFill>
                  <a:schemeClr val="tx2"/>
                </a:solidFill>
              </a:rPr>
              <a:t>Pub/Sub</a:t>
            </a:r>
            <a:endParaRPr lang="en-US" sz="1600" dirty="0"/>
          </a:p>
        </p:txBody>
      </p:sp>
      <p:sp>
        <p:nvSpPr>
          <p:cNvPr id="11" name="texto-253"/>
          <p:cNvSpPr txBox="1"/>
          <p:nvPr/>
        </p:nvSpPr>
        <p:spPr>
          <a:xfrm>
            <a:off x="2423160" y="2560320"/>
            <a:ext cx="1737360" cy="640080"/>
          </a:xfrm>
          <a:prstGeom prst="rect">
            <a:avLst/>
          </a:prstGeom>
          <a:noFill/>
          <a:ln/>
        </p:spPr>
        <p:txBody>
          <a:bodyPr wrap="square" lIns="0" tIns="0" rIns="0" bIns="0" rtlCol="0" anchor="t"/>
          <a:lstStyle/>
          <a:p>
            <a:pPr algn="ctr" indent="0" marL="0">
              <a:buNone/>
            </a:pPr>
            <a:r>
              <a:rPr lang="en-US" sz="1300" dirty="0">
                <a:solidFill>
                  <a:schemeClr val="accent5"/>
                </a:solidFill>
              </a:rPr>
              <a:t>recibe y retiene eventos</a:t>
            </a:r>
            <a:endParaRPr lang="en-US" sz="1300" dirty="0"/>
          </a:p>
        </p:txBody>
      </p:sp>
      <p:sp>
        <p:nvSpPr>
          <p:cNvPr id="12" name="circulo-254"/>
          <p:cNvSpPr txBox="1"/>
          <p:nvPr/>
        </p:nvSpPr>
        <p:spPr>
          <a:xfrm>
            <a:off x="4846320" y="1371600"/>
            <a:ext cx="640080" cy="640080"/>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3" name="flecha-255"/>
          <p:cNvSpPr/>
          <p:nvPr/>
        </p:nvSpPr>
        <p:spPr>
          <a:xfrm>
            <a:off x="5532120" y="1691640"/>
            <a:ext cx="1143000" cy="0"/>
          </a:xfrm>
          <a:prstGeom prst="line">
            <a:avLst/>
          </a:prstGeom>
          <a:noFill/>
          <a:ln w="22225">
            <a:solidFill>
              <a:srgbClr val="2A9D8F"/>
            </a:solidFill>
            <a:prstDash val="solid"/>
            <a:tailEnd type="triangle"/>
          </a:ln>
        </p:spPr>
      </p:sp>
      <p:sp>
        <p:nvSpPr>
          <p:cNvPr id="14" name="texto-256"/>
          <p:cNvSpPr txBox="1"/>
          <p:nvPr/>
        </p:nvSpPr>
        <p:spPr>
          <a:xfrm>
            <a:off x="4297680" y="2148840"/>
            <a:ext cx="1737360" cy="365760"/>
          </a:xfrm>
          <a:prstGeom prst="rect">
            <a:avLst/>
          </a:prstGeom>
          <a:noFill/>
          <a:ln/>
        </p:spPr>
        <p:txBody>
          <a:bodyPr wrap="square" lIns="0" tIns="0" rIns="0" bIns="0" rtlCol="0" anchor="t"/>
          <a:lstStyle/>
          <a:p>
            <a:pPr algn="ctr" indent="0" marL="0">
              <a:buNone/>
            </a:pPr>
            <a:r>
              <a:rPr lang="en-US" sz="1600" b="1" dirty="0">
                <a:solidFill>
                  <a:schemeClr val="tx2"/>
                </a:solidFill>
              </a:rPr>
              <a:t>Dataflow</a:t>
            </a:r>
            <a:endParaRPr lang="en-US" sz="1600" dirty="0"/>
          </a:p>
        </p:txBody>
      </p:sp>
      <p:sp>
        <p:nvSpPr>
          <p:cNvPr id="15" name="texto-257"/>
          <p:cNvSpPr txBox="1"/>
          <p:nvPr/>
        </p:nvSpPr>
        <p:spPr>
          <a:xfrm>
            <a:off x="4297680" y="2560320"/>
            <a:ext cx="1737360" cy="640080"/>
          </a:xfrm>
          <a:prstGeom prst="rect">
            <a:avLst/>
          </a:prstGeom>
          <a:noFill/>
          <a:ln/>
        </p:spPr>
        <p:txBody>
          <a:bodyPr wrap="square" lIns="0" tIns="0" rIns="0" bIns="0" rtlCol="0" anchor="t"/>
          <a:lstStyle/>
          <a:p>
            <a:pPr algn="ctr" indent="0" marL="0">
              <a:buNone/>
            </a:pPr>
            <a:r>
              <a:rPr lang="en-US" sz="1300" dirty="0">
                <a:solidFill>
                  <a:schemeClr val="accent5"/>
                </a:solidFill>
              </a:rPr>
              <a:t>aplica reglas con estado</a:t>
            </a:r>
            <a:endParaRPr lang="en-US" sz="1300" dirty="0"/>
          </a:p>
        </p:txBody>
      </p:sp>
      <p:sp>
        <p:nvSpPr>
          <p:cNvPr id="16" name="circulo-258"/>
          <p:cNvSpPr txBox="1"/>
          <p:nvPr/>
        </p:nvSpPr>
        <p:spPr>
          <a:xfrm>
            <a:off x="6720840" y="1371600"/>
            <a:ext cx="640080" cy="640080"/>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7" name="flecha-259"/>
          <p:cNvSpPr/>
          <p:nvPr/>
        </p:nvSpPr>
        <p:spPr>
          <a:xfrm>
            <a:off x="7406640" y="1691640"/>
            <a:ext cx="1143000" cy="0"/>
          </a:xfrm>
          <a:prstGeom prst="line">
            <a:avLst/>
          </a:prstGeom>
          <a:noFill/>
          <a:ln w="22225">
            <a:solidFill>
              <a:srgbClr val="2A9D8F"/>
            </a:solidFill>
            <a:prstDash val="solid"/>
            <a:tailEnd type="triangle"/>
          </a:ln>
        </p:spPr>
      </p:sp>
      <p:sp>
        <p:nvSpPr>
          <p:cNvPr id="18" name="texto-260"/>
          <p:cNvSpPr txBox="1"/>
          <p:nvPr/>
        </p:nvSpPr>
        <p:spPr>
          <a:xfrm>
            <a:off x="6172200" y="2148840"/>
            <a:ext cx="1737360" cy="365760"/>
          </a:xfrm>
          <a:prstGeom prst="rect">
            <a:avLst/>
          </a:prstGeom>
          <a:noFill/>
          <a:ln/>
        </p:spPr>
        <p:txBody>
          <a:bodyPr wrap="square" lIns="0" tIns="0" rIns="0" bIns="0" rtlCol="0" anchor="t"/>
          <a:lstStyle/>
          <a:p>
            <a:pPr algn="ctr" indent="0" marL="0">
              <a:buNone/>
            </a:pPr>
            <a:r>
              <a:rPr lang="en-US" sz="1600" b="1" dirty="0">
                <a:solidFill>
                  <a:schemeClr val="tx2"/>
                </a:solidFill>
              </a:rPr>
              <a:t>BigQuery</a:t>
            </a:r>
            <a:endParaRPr lang="en-US" sz="1600" dirty="0"/>
          </a:p>
        </p:txBody>
      </p:sp>
      <p:sp>
        <p:nvSpPr>
          <p:cNvPr id="19" name="texto-261"/>
          <p:cNvSpPr txBox="1"/>
          <p:nvPr/>
        </p:nvSpPr>
        <p:spPr>
          <a:xfrm>
            <a:off x="6172200" y="2560320"/>
            <a:ext cx="1737360" cy="640080"/>
          </a:xfrm>
          <a:prstGeom prst="rect">
            <a:avLst/>
          </a:prstGeom>
          <a:noFill/>
          <a:ln/>
        </p:spPr>
        <p:txBody>
          <a:bodyPr wrap="square" lIns="0" tIns="0" rIns="0" bIns="0" rtlCol="0" anchor="t"/>
          <a:lstStyle/>
          <a:p>
            <a:pPr algn="ctr" indent="0" marL="0">
              <a:buNone/>
            </a:pPr>
            <a:r>
              <a:rPr lang="en-US" sz="1300" dirty="0">
                <a:solidFill>
                  <a:schemeClr val="accent5"/>
                </a:solidFill>
              </a:rPr>
              <a:t>guarda la decisión y la alerta</a:t>
            </a:r>
            <a:endParaRPr lang="en-US" sz="1300" dirty="0"/>
          </a:p>
        </p:txBody>
      </p:sp>
      <p:sp>
        <p:nvSpPr>
          <p:cNvPr id="20" name="circulo-262"/>
          <p:cNvSpPr txBox="1"/>
          <p:nvPr/>
        </p:nvSpPr>
        <p:spPr>
          <a:xfrm>
            <a:off x="8595360" y="1371600"/>
            <a:ext cx="640080" cy="640080"/>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21" name="flecha-263"/>
          <p:cNvSpPr/>
          <p:nvPr/>
        </p:nvSpPr>
        <p:spPr>
          <a:xfrm>
            <a:off x="9281160" y="1691640"/>
            <a:ext cx="1143000" cy="0"/>
          </a:xfrm>
          <a:prstGeom prst="line">
            <a:avLst/>
          </a:prstGeom>
          <a:noFill/>
          <a:ln w="22225">
            <a:solidFill>
              <a:srgbClr val="2A9D8F"/>
            </a:solidFill>
            <a:prstDash val="solid"/>
            <a:tailEnd type="triangle"/>
          </a:ln>
        </p:spPr>
      </p:sp>
      <p:sp>
        <p:nvSpPr>
          <p:cNvPr id="22" name="texto-264"/>
          <p:cNvSpPr txBox="1"/>
          <p:nvPr/>
        </p:nvSpPr>
        <p:spPr>
          <a:xfrm>
            <a:off x="8046720" y="2148840"/>
            <a:ext cx="1737360" cy="365760"/>
          </a:xfrm>
          <a:prstGeom prst="rect">
            <a:avLst/>
          </a:prstGeom>
          <a:noFill/>
          <a:ln/>
        </p:spPr>
        <p:txBody>
          <a:bodyPr wrap="square" lIns="0" tIns="0" rIns="0" bIns="0" rtlCol="0" anchor="t"/>
          <a:lstStyle/>
          <a:p>
            <a:pPr algn="ctr" indent="0" marL="0">
              <a:buNone/>
            </a:pPr>
            <a:r>
              <a:rPr lang="en-US" sz="1600" b="1" dirty="0">
                <a:solidFill>
                  <a:schemeClr val="tx2"/>
                </a:solidFill>
              </a:rPr>
              <a:t>API Cloud Run</a:t>
            </a:r>
            <a:endParaRPr lang="en-US" sz="1600" dirty="0"/>
          </a:p>
        </p:txBody>
      </p:sp>
      <p:sp>
        <p:nvSpPr>
          <p:cNvPr id="23" name="texto-265"/>
          <p:cNvSpPr txBox="1"/>
          <p:nvPr/>
        </p:nvSpPr>
        <p:spPr>
          <a:xfrm>
            <a:off x="8046720" y="2560320"/>
            <a:ext cx="1737360" cy="640080"/>
          </a:xfrm>
          <a:prstGeom prst="rect">
            <a:avLst/>
          </a:prstGeom>
          <a:noFill/>
          <a:ln/>
        </p:spPr>
        <p:txBody>
          <a:bodyPr wrap="square" lIns="0" tIns="0" rIns="0" bIns="0" rtlCol="0" anchor="t"/>
          <a:lstStyle/>
          <a:p>
            <a:pPr algn="ctr" indent="0" marL="0">
              <a:buNone/>
            </a:pPr>
            <a:r>
              <a:rPr lang="en-US" sz="1300" dirty="0">
                <a:solidFill>
                  <a:schemeClr val="accent5"/>
                </a:solidFill>
              </a:rPr>
              <a:t>expone alertas y riesgo</a:t>
            </a:r>
            <a:endParaRPr lang="en-US" sz="1300" dirty="0"/>
          </a:p>
        </p:txBody>
      </p:sp>
      <p:sp>
        <p:nvSpPr>
          <p:cNvPr id="24" name="circulo-266"/>
          <p:cNvSpPr txBox="1"/>
          <p:nvPr/>
        </p:nvSpPr>
        <p:spPr>
          <a:xfrm>
            <a:off x="10469880" y="1371600"/>
            <a:ext cx="640080" cy="640080"/>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6</a:t>
            </a:r>
            <a:endParaRPr lang="en-US" sz="1800" dirty="0"/>
          </a:p>
        </p:txBody>
      </p:sp>
      <p:sp>
        <p:nvSpPr>
          <p:cNvPr id="25" name="texto-267"/>
          <p:cNvSpPr txBox="1"/>
          <p:nvPr/>
        </p:nvSpPr>
        <p:spPr>
          <a:xfrm>
            <a:off x="9921240" y="2148840"/>
            <a:ext cx="1737360" cy="365760"/>
          </a:xfrm>
          <a:prstGeom prst="rect">
            <a:avLst/>
          </a:prstGeom>
          <a:noFill/>
          <a:ln/>
        </p:spPr>
        <p:txBody>
          <a:bodyPr wrap="square" lIns="0" tIns="0" rIns="0" bIns="0" rtlCol="0" anchor="t"/>
          <a:lstStyle/>
          <a:p>
            <a:pPr algn="ctr" indent="0" marL="0">
              <a:buNone/>
            </a:pPr>
            <a:r>
              <a:rPr lang="en-US" sz="1600" b="1" dirty="0">
                <a:solidFill>
                  <a:schemeClr val="tx2"/>
                </a:solidFill>
              </a:rPr>
              <a:t>Looker Studio</a:t>
            </a:r>
            <a:endParaRPr lang="en-US" sz="1600" dirty="0"/>
          </a:p>
        </p:txBody>
      </p:sp>
      <p:sp>
        <p:nvSpPr>
          <p:cNvPr id="26" name="texto-268"/>
          <p:cNvSpPr txBox="1"/>
          <p:nvPr/>
        </p:nvSpPr>
        <p:spPr>
          <a:xfrm>
            <a:off x="9921240" y="2560320"/>
            <a:ext cx="1737360" cy="640080"/>
          </a:xfrm>
          <a:prstGeom prst="rect">
            <a:avLst/>
          </a:prstGeom>
          <a:noFill/>
          <a:ln/>
        </p:spPr>
        <p:txBody>
          <a:bodyPr wrap="square" lIns="0" tIns="0" rIns="0" bIns="0" rtlCol="0" anchor="t"/>
          <a:lstStyle/>
          <a:p>
            <a:pPr algn="ctr" indent="0" marL="0">
              <a:buNone/>
            </a:pPr>
            <a:r>
              <a:rPr lang="en-US" sz="1300" dirty="0">
                <a:solidFill>
                  <a:schemeClr val="accent5"/>
                </a:solidFill>
              </a:rPr>
              <a:t>muestra los KPIs</a:t>
            </a:r>
            <a:endParaRPr lang="en-US" sz="1300" dirty="0"/>
          </a:p>
        </p:txBody>
      </p:sp>
      <p:sp>
        <p:nvSpPr>
          <p:cNvPr id="27" name="tarjeta-269"/>
          <p:cNvSpPr/>
          <p:nvPr/>
        </p:nvSpPr>
        <p:spPr>
          <a:xfrm>
            <a:off x="548640" y="3520440"/>
            <a:ext cx="5394960" cy="2606040"/>
          </a:xfrm>
          <a:prstGeom prst="roundRect">
            <a:avLst>
              <a:gd name="adj" fmla="val 2807"/>
            </a:avLst>
          </a:prstGeom>
          <a:solidFill>
            <a:schemeClr val="bg2"/>
          </a:solidFill>
          <a:ln/>
        </p:spPr>
      </p:sp>
      <p:sp>
        <p:nvSpPr>
          <p:cNvPr id="28" name="texto-270"/>
          <p:cNvSpPr txBox="1"/>
          <p:nvPr/>
        </p:nvSpPr>
        <p:spPr>
          <a:xfrm>
            <a:off x="822960" y="3703320"/>
            <a:ext cx="4846320" cy="365760"/>
          </a:xfrm>
          <a:prstGeom prst="rect">
            <a:avLst/>
          </a:prstGeom>
          <a:noFill/>
          <a:ln/>
        </p:spPr>
        <p:txBody>
          <a:bodyPr wrap="square" lIns="0" tIns="0" rIns="0" bIns="0" rtlCol="0" anchor="t"/>
          <a:lstStyle/>
          <a:p>
            <a:pPr indent="0" marL="0">
              <a:buNone/>
            </a:pPr>
            <a:r>
              <a:rPr lang="en-US" sz="1700" b="1" dirty="0">
                <a:solidFill>
                  <a:schemeClr val="accent3"/>
                </a:solidFill>
              </a:rPr>
              <a:t>En paralelo: camino batch</a:t>
            </a:r>
            <a:endParaRPr lang="en-US" sz="1700" dirty="0"/>
          </a:p>
        </p:txBody>
      </p:sp>
      <p:sp>
        <p:nvSpPr>
          <p:cNvPr id="29" name="texto-271"/>
          <p:cNvSpPr txBox="1"/>
          <p:nvPr/>
        </p:nvSpPr>
        <p:spPr>
          <a:xfrm>
            <a:off x="822960" y="4160520"/>
            <a:ext cx="4846320" cy="18288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Dataproc (Spark) limpia y enriquece PaySim</a:t>
            </a:r>
            <a:endParaRPr lang="en-US" sz="1500" dirty="0"/>
          </a:p>
          <a:p>
            <a:pPr marL="342900" indent="-342900">
              <a:spcAft>
                <a:spcPts val="800"/>
              </a:spcAft>
              <a:buSzPct val="100000"/>
              <a:buChar char="•"/>
            </a:pPr>
            <a:r>
              <a:rPr lang="en-US" sz="1500" dirty="0">
                <a:solidFill>
                  <a:schemeClr val="tx1"/>
                </a:solidFill>
              </a:rPr>
              <a:t>BigQuery construye el modelo estrella</a:t>
            </a:r>
            <a:endParaRPr lang="en-US" sz="1500" dirty="0"/>
          </a:p>
          <a:p>
            <a:pPr marL="342900" indent="-342900">
              <a:spcAft>
                <a:spcPts val="800"/>
              </a:spcAft>
              <a:buSzPct val="100000"/>
              <a:buChar char="•"/>
            </a:pPr>
            <a:r>
              <a:rPr lang="en-US" sz="1500" dirty="0">
                <a:solidFill>
                  <a:schemeClr val="tx1"/>
                </a:solidFill>
              </a:rPr>
              <a:t>BQML: XGBoost de fraude y pronóstico ARIMA_PLUS de liquidez</a:t>
            </a:r>
            <a:endParaRPr lang="en-US" sz="1500" dirty="0"/>
          </a:p>
        </p:txBody>
      </p:sp>
      <p:sp>
        <p:nvSpPr>
          <p:cNvPr id="30" name="tarjeta-272"/>
          <p:cNvSpPr/>
          <p:nvPr/>
        </p:nvSpPr>
        <p:spPr>
          <a:xfrm>
            <a:off x="6217920" y="3520440"/>
            <a:ext cx="5394960" cy="2606040"/>
          </a:xfrm>
          <a:prstGeom prst="roundRect">
            <a:avLst>
              <a:gd name="adj" fmla="val 2807"/>
            </a:avLst>
          </a:prstGeom>
          <a:solidFill>
            <a:schemeClr val="tx2"/>
          </a:solidFill>
          <a:ln/>
        </p:spPr>
      </p:sp>
      <p:sp>
        <p:nvSpPr>
          <p:cNvPr id="31" name="texto-273"/>
          <p:cNvSpPr txBox="1"/>
          <p:nvPr/>
        </p:nvSpPr>
        <p:spPr>
          <a:xfrm>
            <a:off x="6492240" y="3703320"/>
            <a:ext cx="4846320" cy="365760"/>
          </a:xfrm>
          <a:prstGeom prst="rect">
            <a:avLst/>
          </a:prstGeom>
          <a:noFill/>
          <a:ln/>
        </p:spPr>
        <p:txBody>
          <a:bodyPr wrap="square" lIns="0" tIns="0" rIns="0" bIns="0" rtlCol="0" anchor="t"/>
          <a:lstStyle/>
          <a:p>
            <a:pPr indent="0" marL="0">
              <a:buNone/>
            </a:pPr>
            <a:r>
              <a:rPr lang="en-US" sz="1700" b="1" dirty="0">
                <a:solidFill>
                  <a:schemeClr val="accent1"/>
                </a:solidFill>
              </a:rPr>
              <a:t>Evidencia que mostraremos</a:t>
            </a:r>
            <a:endParaRPr lang="en-US" sz="1700" dirty="0"/>
          </a:p>
        </p:txBody>
      </p:sp>
      <p:sp>
        <p:nvSpPr>
          <p:cNvPr id="32" name="texto-274"/>
          <p:cNvSpPr txBox="1"/>
          <p:nvPr/>
        </p:nvSpPr>
        <p:spPr>
          <a:xfrm>
            <a:off x="6492240" y="4160520"/>
            <a:ext cx="4846320" cy="18288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bg1"/>
                </a:solidFill>
              </a:rPr>
              <a:t>Grafo del job y latencia en Dataflow</a:t>
            </a:r>
            <a:endParaRPr lang="en-US" sz="1500" dirty="0"/>
          </a:p>
          <a:p>
            <a:pPr marL="342900" indent="-342900">
              <a:spcAft>
                <a:spcPts val="800"/>
              </a:spcAft>
              <a:buSzPct val="100000"/>
              <a:buChar char="•"/>
            </a:pPr>
            <a:r>
              <a:rPr lang="en-US" sz="1500" dirty="0">
                <a:solidFill>
                  <a:schemeClr val="bg1"/>
                </a:solidFill>
              </a:rPr>
              <a:t>Precisión y recall de las reglas y del modelo</a:t>
            </a:r>
            <a:endParaRPr lang="en-US" sz="1500" dirty="0"/>
          </a:p>
          <a:p>
            <a:pPr marL="342900" indent="-342900">
              <a:spcAft>
                <a:spcPts val="800"/>
              </a:spcAft>
              <a:buSzPct val="100000"/>
              <a:buChar char="•"/>
            </a:pPr>
            <a:r>
              <a:rPr lang="en-US" sz="1500" dirty="0">
                <a:solidFill>
                  <a:schemeClr val="bg1"/>
                </a:solidFill>
              </a:rPr>
              <a:t>Plan de efectivo T+1 por distrito</a:t>
            </a:r>
            <a:endParaRPr lang="en-US" sz="15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lIns="0" tIns="0" rIns="0" bIns="0" rtlCol="0" anchor="ctr"/>
          <a:lstStyle/>
          <a:p>
            <a:pPr indent="0" marL="0">
              <a:buNone/>
            </a:pPr>
            <a:r>
              <a:rPr lang="en-US" sz="3600" b="1" dirty="0">
                <a:solidFill>
                  <a:schemeClr val="bg1"/>
                </a:solidFill>
                <a:latin typeface="Cambria" pitchFamily="34" charset="0"/>
                <a:ea typeface="Cambria" pitchFamily="34" charset="-122"/>
                <a:cs typeface="Cambria" pitchFamily="34" charset="-120"/>
              </a:rPr>
              <a:t>Conclusiones</a:t>
            </a:r>
            <a:endParaRPr lang="en-US" sz="3600" dirty="0"/>
          </a:p>
        </p:txBody>
      </p:sp>
      <p:sp>
        <p:nvSpPr>
          <p:cNvPr id="4" name="circulo-275"/>
          <p:cNvSpPr txBox="1"/>
          <p:nvPr/>
        </p:nvSpPr>
        <p:spPr>
          <a:xfrm>
            <a:off x="548640" y="1600200"/>
            <a:ext cx="685800" cy="685800"/>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tx2"/>
                </a:solidFill>
              </a:rPr>
              <a:t>1</a:t>
            </a:r>
            <a:endParaRPr lang="en-US" sz="2000" dirty="0"/>
          </a:p>
        </p:txBody>
      </p:sp>
      <p:sp>
        <p:nvSpPr>
          <p:cNvPr id="5" name="texto-276"/>
          <p:cNvSpPr txBox="1"/>
          <p:nvPr/>
        </p:nvSpPr>
        <p:spPr>
          <a:xfrm>
            <a:off x="1463040" y="1600200"/>
            <a:ext cx="4480560" cy="457200"/>
          </a:xfrm>
          <a:prstGeom prst="rect">
            <a:avLst/>
          </a:prstGeom>
          <a:noFill/>
          <a:ln/>
        </p:spPr>
        <p:txBody>
          <a:bodyPr wrap="square" lIns="0" tIns="0" rIns="0" bIns="0" rtlCol="0" anchor="t"/>
          <a:lstStyle/>
          <a:p>
            <a:pPr indent="0" marL="0">
              <a:buNone/>
            </a:pPr>
            <a:r>
              <a:rPr lang="en-US" sz="2000" b="1" dirty="0">
                <a:solidFill>
                  <a:schemeClr val="bg1"/>
                </a:solidFill>
                <a:latin typeface="Cambria" pitchFamily="34" charset="0"/>
                <a:ea typeface="Cambria" pitchFamily="34" charset="-122"/>
                <a:cs typeface="Cambria" pitchFamily="34" charset="-120"/>
              </a:rPr>
              <a:t>Una plataforma, 12 entidades</a:t>
            </a:r>
            <a:endParaRPr lang="en-US" sz="2000" dirty="0"/>
          </a:p>
        </p:txBody>
      </p:sp>
      <p:sp>
        <p:nvSpPr>
          <p:cNvPr id="6" name="texto-277"/>
          <p:cNvSpPr txBox="1"/>
          <p:nvPr/>
        </p:nvSpPr>
        <p:spPr>
          <a:xfrm>
            <a:off x="1463040" y="2148840"/>
            <a:ext cx="4480560" cy="914400"/>
          </a:xfrm>
          <a:prstGeom prst="rect">
            <a:avLst/>
          </a:prstGeom>
          <a:noFill/>
          <a:ln/>
        </p:spPr>
        <p:txBody>
          <a:bodyPr wrap="square" lIns="0" tIns="0" rIns="0" bIns="0" rtlCol="0" anchor="t"/>
          <a:lstStyle/>
          <a:p>
            <a:pPr indent="0" marL="0">
              <a:buNone/>
            </a:pPr>
            <a:r>
              <a:rPr lang="en-US" sz="1500" dirty="0">
                <a:solidFill>
                  <a:schemeClr val="accent6"/>
                </a:solidFill>
              </a:rPr>
              <a:t>Datos unificados con privacidad por entidad y fraude compartido</a:t>
            </a:r>
            <a:endParaRPr lang="en-US" sz="1500" dirty="0"/>
          </a:p>
        </p:txBody>
      </p:sp>
      <p:sp>
        <p:nvSpPr>
          <p:cNvPr id="7" name="circulo-278"/>
          <p:cNvSpPr txBox="1"/>
          <p:nvPr/>
        </p:nvSpPr>
        <p:spPr>
          <a:xfrm>
            <a:off x="6172200" y="1600200"/>
            <a:ext cx="685800" cy="685800"/>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tx2"/>
                </a:solidFill>
              </a:rPr>
              <a:t>2</a:t>
            </a:r>
            <a:endParaRPr lang="en-US" sz="2000" dirty="0"/>
          </a:p>
        </p:txBody>
      </p:sp>
      <p:sp>
        <p:nvSpPr>
          <p:cNvPr id="8" name="texto-279"/>
          <p:cNvSpPr txBox="1"/>
          <p:nvPr/>
        </p:nvSpPr>
        <p:spPr>
          <a:xfrm>
            <a:off x="7086600" y="1600200"/>
            <a:ext cx="4480560" cy="457200"/>
          </a:xfrm>
          <a:prstGeom prst="rect">
            <a:avLst/>
          </a:prstGeom>
          <a:noFill/>
          <a:ln/>
        </p:spPr>
        <p:txBody>
          <a:bodyPr wrap="square" lIns="0" tIns="0" rIns="0" bIns="0" rtlCol="0" anchor="t"/>
          <a:lstStyle/>
          <a:p>
            <a:pPr indent="0" marL="0">
              <a:buNone/>
            </a:pPr>
            <a:r>
              <a:rPr lang="en-US" sz="2000" b="1" dirty="0">
                <a:solidFill>
                  <a:schemeClr val="bg1"/>
                </a:solidFill>
                <a:latin typeface="Cambria" pitchFamily="34" charset="0"/>
                <a:ea typeface="Cambria" pitchFamily="34" charset="-122"/>
                <a:cs typeface="Cambria" pitchFamily="34" charset="-120"/>
              </a:rPr>
              <a:t>Tiempo real + batch</a:t>
            </a:r>
            <a:endParaRPr lang="en-US" sz="2000" dirty="0"/>
          </a:p>
        </p:txBody>
      </p:sp>
      <p:sp>
        <p:nvSpPr>
          <p:cNvPr id="9" name="texto-280"/>
          <p:cNvSpPr txBox="1"/>
          <p:nvPr/>
        </p:nvSpPr>
        <p:spPr>
          <a:xfrm>
            <a:off x="7086600" y="2148840"/>
            <a:ext cx="4480560" cy="914400"/>
          </a:xfrm>
          <a:prstGeom prst="rect">
            <a:avLst/>
          </a:prstGeom>
          <a:noFill/>
          <a:ln/>
        </p:spPr>
        <p:txBody>
          <a:bodyPr wrap="square" lIns="0" tIns="0" rIns="0" bIns="0" rtlCol="0" anchor="t"/>
          <a:lstStyle/>
          <a:p>
            <a:pPr indent="0" marL="0">
              <a:buNone/>
            </a:pPr>
            <a:r>
              <a:rPr lang="en-US" sz="1500" dirty="0">
                <a:solidFill>
                  <a:schemeClr val="accent6"/>
                </a:solidFill>
              </a:rPr>
              <a:t>Mismo modelo de datos: decisiones en milisegundos e informes consistentes</a:t>
            </a:r>
            <a:endParaRPr lang="en-US" sz="1500" dirty="0"/>
          </a:p>
        </p:txBody>
      </p:sp>
      <p:sp>
        <p:nvSpPr>
          <p:cNvPr id="10" name="circulo-281"/>
          <p:cNvSpPr txBox="1"/>
          <p:nvPr/>
        </p:nvSpPr>
        <p:spPr>
          <a:xfrm>
            <a:off x="548640" y="3886200"/>
            <a:ext cx="685800" cy="685800"/>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tx2"/>
                </a:solidFill>
              </a:rPr>
              <a:t>3</a:t>
            </a:r>
            <a:endParaRPr lang="en-US" sz="2000" dirty="0"/>
          </a:p>
        </p:txBody>
      </p:sp>
      <p:sp>
        <p:nvSpPr>
          <p:cNvPr id="11" name="texto-282"/>
          <p:cNvSpPr txBox="1"/>
          <p:nvPr/>
        </p:nvSpPr>
        <p:spPr>
          <a:xfrm>
            <a:off x="1463040" y="3886200"/>
            <a:ext cx="4480560" cy="457200"/>
          </a:xfrm>
          <a:prstGeom prst="rect">
            <a:avLst/>
          </a:prstGeom>
          <a:noFill/>
          <a:ln/>
        </p:spPr>
        <p:txBody>
          <a:bodyPr wrap="square" lIns="0" tIns="0" rIns="0" bIns="0" rtlCol="0" anchor="t"/>
          <a:lstStyle/>
          <a:p>
            <a:pPr indent="0" marL="0">
              <a:buNone/>
            </a:pPr>
            <a:r>
              <a:rPr lang="en-US" sz="2000" b="1" dirty="0">
                <a:solidFill>
                  <a:schemeClr val="bg1"/>
                </a:solidFill>
                <a:latin typeface="Cambria" pitchFamily="34" charset="0"/>
                <a:ea typeface="Cambria" pitchFamily="34" charset="-122"/>
                <a:cs typeface="Cambria" pitchFamily="34" charset="-120"/>
              </a:rPr>
              <a:t>Costo conocido</a:t>
            </a:r>
            <a:endParaRPr lang="en-US" sz="2000" dirty="0"/>
          </a:p>
        </p:txBody>
      </p:sp>
      <p:sp>
        <p:nvSpPr>
          <p:cNvPr id="12" name="texto-283"/>
          <p:cNvSpPr txBox="1"/>
          <p:nvPr/>
        </p:nvSpPr>
        <p:spPr>
          <a:xfrm>
            <a:off x="1463040" y="4434840"/>
            <a:ext cx="4480560" cy="914400"/>
          </a:xfrm>
          <a:prstGeom prst="rect">
            <a:avLst/>
          </a:prstGeom>
          <a:noFill/>
          <a:ln/>
        </p:spPr>
        <p:txBody>
          <a:bodyPr wrap="square" lIns="0" tIns="0" rIns="0" bIns="0" rtlCol="0" anchor="t"/>
          <a:lstStyle/>
          <a:p>
            <a:pPr indent="0" marL="0">
              <a:buNone/>
            </a:pPr>
            <a:r>
              <a:rPr lang="en-US" sz="1500" dirty="0">
                <a:solidFill>
                  <a:schemeClr val="accent6"/>
                </a:solidFill>
              </a:rPr>
              <a:t>≈ USD 12 por millón de transacciones, escalando solo cuando se usa</a:t>
            </a:r>
            <a:endParaRPr lang="en-US" sz="1500" dirty="0"/>
          </a:p>
        </p:txBody>
      </p:sp>
      <p:sp>
        <p:nvSpPr>
          <p:cNvPr id="13" name="circulo-284"/>
          <p:cNvSpPr txBox="1"/>
          <p:nvPr/>
        </p:nvSpPr>
        <p:spPr>
          <a:xfrm>
            <a:off x="6172200" y="3886200"/>
            <a:ext cx="685800" cy="685800"/>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tx2"/>
                </a:solidFill>
              </a:rPr>
              <a:t>4</a:t>
            </a:r>
            <a:endParaRPr lang="en-US" sz="2000" dirty="0"/>
          </a:p>
        </p:txBody>
      </p:sp>
      <p:sp>
        <p:nvSpPr>
          <p:cNvPr id="14" name="texto-285"/>
          <p:cNvSpPr txBox="1"/>
          <p:nvPr/>
        </p:nvSpPr>
        <p:spPr>
          <a:xfrm>
            <a:off x="7086600" y="3886200"/>
            <a:ext cx="4480560" cy="457200"/>
          </a:xfrm>
          <a:prstGeom prst="rect">
            <a:avLst/>
          </a:prstGeom>
          <a:noFill/>
          <a:ln/>
        </p:spPr>
        <p:txBody>
          <a:bodyPr wrap="square" lIns="0" tIns="0" rIns="0" bIns="0" rtlCol="0" anchor="t"/>
          <a:lstStyle/>
          <a:p>
            <a:pPr indent="0" marL="0">
              <a:buNone/>
            </a:pPr>
            <a:r>
              <a:rPr lang="en-US" sz="2000" b="1" dirty="0">
                <a:solidFill>
                  <a:schemeClr val="bg1"/>
                </a:solidFill>
                <a:latin typeface="Cambria" pitchFamily="34" charset="0"/>
                <a:ea typeface="Cambria" pitchFamily="34" charset="-122"/>
                <a:cs typeface="Cambria" pitchFamily="34" charset="-120"/>
              </a:rPr>
              <a:t>Resiliencia probada</a:t>
            </a:r>
            <a:endParaRPr lang="en-US" sz="2000" dirty="0"/>
          </a:p>
        </p:txBody>
      </p:sp>
      <p:sp>
        <p:nvSpPr>
          <p:cNvPr id="15" name="texto-286"/>
          <p:cNvSpPr txBox="1"/>
          <p:nvPr/>
        </p:nvSpPr>
        <p:spPr>
          <a:xfrm>
            <a:off x="7086600" y="4434840"/>
            <a:ext cx="4480560" cy="914400"/>
          </a:xfrm>
          <a:prstGeom prst="rect">
            <a:avLst/>
          </a:prstGeom>
          <a:noFill/>
          <a:ln/>
        </p:spPr>
        <p:txBody>
          <a:bodyPr wrap="square" lIns="0" tIns="0" rIns="0" bIns="0" rtlCol="0" anchor="t"/>
          <a:lstStyle/>
          <a:p>
            <a:pPr indent="0" marL="0">
              <a:buNone/>
            </a:pPr>
            <a:r>
              <a:rPr lang="en-US" sz="1500" dirty="0">
                <a:solidFill>
                  <a:schemeClr val="accent6"/>
                </a:solidFill>
              </a:rPr>
              <a:t>Dos regiones, respaldos inmutables y recuperación en menos de 5 min</a:t>
            </a:r>
            <a:endParaRPr lang="en-US" sz="15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Próximos pasos</a:t>
            </a:r>
            <a:endParaRPr lang="en-US" sz="3200" dirty="0"/>
          </a:p>
        </p:txBody>
      </p:sp>
      <p:sp>
        <p:nvSpPr>
          <p:cNvPr id="4" name="linea-tiempo-287"/>
          <p:cNvSpPr/>
          <p:nvPr/>
        </p:nvSpPr>
        <p:spPr>
          <a:xfrm>
            <a:off x="822960" y="2377440"/>
            <a:ext cx="10515600" cy="0"/>
          </a:xfrm>
          <a:prstGeom prst="line">
            <a:avLst/>
          </a:prstGeom>
          <a:noFill/>
          <a:ln w="25400">
            <a:solidFill>
              <a:srgbClr val="8AB0D6"/>
            </a:solidFill>
            <a:prstDash val="solid"/>
          </a:ln>
        </p:spPr>
      </p:sp>
      <p:sp>
        <p:nvSpPr>
          <p:cNvPr id="5" name="circulo-288"/>
          <p:cNvSpPr txBox="1"/>
          <p:nvPr/>
        </p:nvSpPr>
        <p:spPr>
          <a:xfrm>
            <a:off x="1417320" y="2011680"/>
            <a:ext cx="731520" cy="731520"/>
          </a:xfrm>
          <a:prstGeom prst="ellipse">
            <a:avLst/>
          </a:prstGeom>
          <a:solidFill>
            <a:schemeClr val="accent3"/>
          </a:solid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texto-289"/>
          <p:cNvSpPr txBox="1"/>
          <p:nvPr/>
        </p:nvSpPr>
        <p:spPr>
          <a:xfrm>
            <a:off x="548640" y="1371600"/>
            <a:ext cx="2468880" cy="457200"/>
          </a:xfrm>
          <a:prstGeom prst="rect">
            <a:avLst/>
          </a:prstGeom>
          <a:noFill/>
          <a:ln/>
        </p:spPr>
        <p:txBody>
          <a:bodyPr wrap="square" lIns="0" tIns="0" rIns="0" bIns="0" rtlCol="0" anchor="t"/>
          <a:lstStyle/>
          <a:p>
            <a:pPr algn="ctr" indent="0" marL="0">
              <a:buNone/>
            </a:pPr>
            <a:r>
              <a:rPr lang="en-US" sz="1800" b="1" dirty="0">
                <a:solidFill>
                  <a:schemeClr val="tx2"/>
                </a:solidFill>
                <a:latin typeface="Cambria" pitchFamily="34" charset="0"/>
                <a:ea typeface="Cambria" pitchFamily="34" charset="-122"/>
                <a:cs typeface="Cambria" pitchFamily="34" charset="-120"/>
              </a:rPr>
              <a:t>24 oct</a:t>
            </a:r>
            <a:endParaRPr lang="en-US" sz="1800" dirty="0"/>
          </a:p>
        </p:txBody>
      </p:sp>
      <p:sp>
        <p:nvSpPr>
          <p:cNvPr id="7" name="tarjeta-290"/>
          <p:cNvSpPr/>
          <p:nvPr/>
        </p:nvSpPr>
        <p:spPr>
          <a:xfrm>
            <a:off x="548640" y="3063240"/>
            <a:ext cx="2624328" cy="2926080"/>
          </a:xfrm>
          <a:prstGeom prst="roundRect">
            <a:avLst>
              <a:gd name="adj" fmla="val 2787"/>
            </a:avLst>
          </a:prstGeom>
          <a:solidFill>
            <a:schemeClr val="bg2"/>
          </a:solidFill>
          <a:ln/>
        </p:spPr>
      </p:sp>
      <p:sp>
        <p:nvSpPr>
          <p:cNvPr id="8" name="texto-291"/>
          <p:cNvSpPr txBox="1"/>
          <p:nvPr/>
        </p:nvSpPr>
        <p:spPr>
          <a:xfrm>
            <a:off x="777240" y="3246120"/>
            <a:ext cx="2194560" cy="411480"/>
          </a:xfrm>
          <a:prstGeom prst="rect">
            <a:avLst/>
          </a:prstGeom>
          <a:noFill/>
          <a:ln/>
        </p:spPr>
        <p:txBody>
          <a:bodyPr wrap="square" lIns="0" tIns="0" rIns="0" bIns="0" rtlCol="0" anchor="t"/>
          <a:lstStyle/>
          <a:p>
            <a:pPr indent="0" marL="0">
              <a:buNone/>
            </a:pPr>
            <a:r>
              <a:rPr lang="en-US" sz="1800" b="1" dirty="0">
                <a:solidFill>
                  <a:schemeClr val="tx2"/>
                </a:solidFill>
              </a:rPr>
              <a:t>Entrega 1</a:t>
            </a:r>
            <a:endParaRPr lang="en-US" sz="1800" dirty="0"/>
          </a:p>
        </p:txBody>
      </p:sp>
      <p:sp>
        <p:nvSpPr>
          <p:cNvPr id="9" name="texto-292"/>
          <p:cNvSpPr txBox="1"/>
          <p:nvPr/>
        </p:nvSpPr>
        <p:spPr>
          <a:xfrm>
            <a:off x="777240" y="3749040"/>
            <a:ext cx="2194560" cy="2011680"/>
          </a:xfrm>
          <a:prstGeom prst="rect">
            <a:avLst/>
          </a:prstGeom>
          <a:noFill/>
          <a:ln/>
        </p:spPr>
        <p:txBody>
          <a:bodyPr wrap="square" lIns="0" tIns="0" rIns="0" bIns="0" rtlCol="0" anchor="t"/>
          <a:lstStyle/>
          <a:p>
            <a:pPr indent="0" marL="0">
              <a:buNone/>
            </a:pPr>
            <a:r>
              <a:rPr lang="en-US" sz="1500" dirty="0">
                <a:solidFill>
                  <a:schemeClr val="tx1"/>
                </a:solidFill>
              </a:rPr>
              <a:t>Diseño, sustentación técnica, económica y de resiliencia</a:t>
            </a:r>
            <a:endParaRPr lang="en-US" sz="1500" dirty="0"/>
          </a:p>
        </p:txBody>
      </p:sp>
      <p:sp>
        <p:nvSpPr>
          <p:cNvPr id="10" name="circulo-293"/>
          <p:cNvSpPr txBox="1"/>
          <p:nvPr/>
        </p:nvSpPr>
        <p:spPr>
          <a:xfrm>
            <a:off x="4224528" y="2011680"/>
            <a:ext cx="731520" cy="731520"/>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1" name="texto-294"/>
          <p:cNvSpPr txBox="1"/>
          <p:nvPr/>
        </p:nvSpPr>
        <p:spPr>
          <a:xfrm>
            <a:off x="3355848" y="1371600"/>
            <a:ext cx="2468880" cy="457200"/>
          </a:xfrm>
          <a:prstGeom prst="rect">
            <a:avLst/>
          </a:prstGeom>
          <a:noFill/>
          <a:ln/>
        </p:spPr>
        <p:txBody>
          <a:bodyPr wrap="square" lIns="0" tIns="0" rIns="0" bIns="0" rtlCol="0" anchor="t"/>
          <a:lstStyle/>
          <a:p>
            <a:pPr algn="ctr" indent="0" marL="0">
              <a:buNone/>
            </a:pPr>
            <a:r>
              <a:rPr lang="en-US" sz="1800" b="1" dirty="0">
                <a:solidFill>
                  <a:schemeClr val="tx2"/>
                </a:solidFill>
                <a:latin typeface="Cambria" pitchFamily="34" charset="0"/>
                <a:ea typeface="Cambria" pitchFamily="34" charset="-122"/>
                <a:cs typeface="Cambria" pitchFamily="34" charset="-120"/>
              </a:rPr>
              <a:t>07 nov</a:t>
            </a:r>
            <a:endParaRPr lang="en-US" sz="1800" dirty="0"/>
          </a:p>
        </p:txBody>
      </p:sp>
      <p:sp>
        <p:nvSpPr>
          <p:cNvPr id="12" name="tarjeta-295"/>
          <p:cNvSpPr/>
          <p:nvPr/>
        </p:nvSpPr>
        <p:spPr>
          <a:xfrm>
            <a:off x="3355848" y="3063240"/>
            <a:ext cx="2624328" cy="2926080"/>
          </a:xfrm>
          <a:prstGeom prst="roundRect">
            <a:avLst>
              <a:gd name="adj" fmla="val 2787"/>
            </a:avLst>
          </a:prstGeom>
          <a:solidFill>
            <a:schemeClr val="bg2"/>
          </a:solidFill>
          <a:ln/>
        </p:spPr>
      </p:sp>
      <p:sp>
        <p:nvSpPr>
          <p:cNvPr id="13" name="texto-296"/>
          <p:cNvSpPr txBox="1"/>
          <p:nvPr/>
        </p:nvSpPr>
        <p:spPr>
          <a:xfrm>
            <a:off x="3584448" y="3246120"/>
            <a:ext cx="2194560" cy="411480"/>
          </a:xfrm>
          <a:prstGeom prst="rect">
            <a:avLst/>
          </a:prstGeom>
          <a:noFill/>
          <a:ln/>
        </p:spPr>
        <p:txBody>
          <a:bodyPr wrap="square" lIns="0" tIns="0" rIns="0" bIns="0" rtlCol="0" anchor="t"/>
          <a:lstStyle/>
          <a:p>
            <a:pPr indent="0" marL="0">
              <a:buNone/>
            </a:pPr>
            <a:r>
              <a:rPr lang="en-US" sz="1800" b="1" dirty="0">
                <a:solidFill>
                  <a:schemeClr val="tx2"/>
                </a:solidFill>
              </a:rPr>
              <a:t>Entrega 2</a:t>
            </a:r>
            <a:endParaRPr lang="en-US" sz="1800" dirty="0"/>
          </a:p>
        </p:txBody>
      </p:sp>
      <p:sp>
        <p:nvSpPr>
          <p:cNvPr id="14" name="texto-297"/>
          <p:cNvSpPr txBox="1"/>
          <p:nvPr/>
        </p:nvSpPr>
        <p:spPr>
          <a:xfrm>
            <a:off x="3584448" y="3749040"/>
            <a:ext cx="2194560" cy="2011680"/>
          </a:xfrm>
          <a:prstGeom prst="rect">
            <a:avLst/>
          </a:prstGeom>
          <a:noFill/>
          <a:ln/>
        </p:spPr>
        <p:txBody>
          <a:bodyPr wrap="square" lIns="0" tIns="0" rIns="0" bIns="0" rtlCol="0" anchor="t"/>
          <a:lstStyle/>
          <a:p>
            <a:pPr indent="0" marL="0">
              <a:buNone/>
            </a:pPr>
            <a:r>
              <a:rPr lang="en-US" sz="1500" dirty="0">
                <a:solidFill>
                  <a:schemeClr val="tx1"/>
                </a:solidFill>
              </a:rPr>
              <a:t>Pipelines batch y streaming en consola, modelo estrella y BQML</a:t>
            </a:r>
            <a:endParaRPr lang="en-US" sz="1500" dirty="0"/>
          </a:p>
        </p:txBody>
      </p:sp>
      <p:sp>
        <p:nvSpPr>
          <p:cNvPr id="15" name="circulo-298"/>
          <p:cNvSpPr txBox="1"/>
          <p:nvPr/>
        </p:nvSpPr>
        <p:spPr>
          <a:xfrm>
            <a:off x="7031736" y="2011680"/>
            <a:ext cx="731520" cy="73152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tx2"/>
                </a:solidFill>
              </a:rPr>
              <a:t>3</a:t>
            </a:r>
            <a:endParaRPr lang="en-US" sz="1800" dirty="0"/>
          </a:p>
        </p:txBody>
      </p:sp>
      <p:sp>
        <p:nvSpPr>
          <p:cNvPr id="16" name="texto-299"/>
          <p:cNvSpPr txBox="1"/>
          <p:nvPr/>
        </p:nvSpPr>
        <p:spPr>
          <a:xfrm>
            <a:off x="6163056" y="1371600"/>
            <a:ext cx="2468880" cy="457200"/>
          </a:xfrm>
          <a:prstGeom prst="rect">
            <a:avLst/>
          </a:prstGeom>
          <a:noFill/>
          <a:ln/>
        </p:spPr>
        <p:txBody>
          <a:bodyPr wrap="square" lIns="0" tIns="0" rIns="0" bIns="0" rtlCol="0" anchor="t"/>
          <a:lstStyle/>
          <a:p>
            <a:pPr algn="ctr" indent="0" marL="0">
              <a:buNone/>
            </a:pPr>
            <a:r>
              <a:rPr lang="en-US" sz="1800" b="1" dirty="0">
                <a:solidFill>
                  <a:schemeClr val="tx2"/>
                </a:solidFill>
                <a:latin typeface="Cambria" pitchFamily="34" charset="0"/>
                <a:ea typeface="Cambria" pitchFamily="34" charset="-122"/>
                <a:cs typeface="Cambria" pitchFamily="34" charset="-120"/>
              </a:rPr>
              <a:t>20–21 nov</a:t>
            </a:r>
            <a:endParaRPr lang="en-US" sz="1800" dirty="0"/>
          </a:p>
        </p:txBody>
      </p:sp>
      <p:sp>
        <p:nvSpPr>
          <p:cNvPr id="17" name="tarjeta-300"/>
          <p:cNvSpPr/>
          <p:nvPr/>
        </p:nvSpPr>
        <p:spPr>
          <a:xfrm>
            <a:off x="6163056" y="3063240"/>
            <a:ext cx="2624328" cy="2926080"/>
          </a:xfrm>
          <a:prstGeom prst="roundRect">
            <a:avLst>
              <a:gd name="adj" fmla="val 2787"/>
            </a:avLst>
          </a:prstGeom>
          <a:solidFill>
            <a:schemeClr val="bg2"/>
          </a:solidFill>
          <a:ln/>
        </p:spPr>
      </p:sp>
      <p:sp>
        <p:nvSpPr>
          <p:cNvPr id="18" name="texto-301"/>
          <p:cNvSpPr txBox="1"/>
          <p:nvPr/>
        </p:nvSpPr>
        <p:spPr>
          <a:xfrm>
            <a:off x="6391656" y="3246120"/>
            <a:ext cx="2194560" cy="411480"/>
          </a:xfrm>
          <a:prstGeom prst="rect">
            <a:avLst/>
          </a:prstGeom>
          <a:noFill/>
          <a:ln/>
        </p:spPr>
        <p:txBody>
          <a:bodyPr wrap="square" lIns="0" tIns="0" rIns="0" bIns="0" rtlCol="0" anchor="t"/>
          <a:lstStyle/>
          <a:p>
            <a:pPr indent="0" marL="0">
              <a:buNone/>
            </a:pPr>
            <a:r>
              <a:rPr lang="en-US" sz="1800" b="1" dirty="0">
                <a:solidFill>
                  <a:schemeClr val="tx2"/>
                </a:solidFill>
              </a:rPr>
              <a:t>Entrega 3</a:t>
            </a:r>
            <a:endParaRPr lang="en-US" sz="1800" dirty="0"/>
          </a:p>
        </p:txBody>
      </p:sp>
      <p:sp>
        <p:nvSpPr>
          <p:cNvPr id="19" name="texto-302"/>
          <p:cNvSpPr txBox="1"/>
          <p:nvPr/>
        </p:nvSpPr>
        <p:spPr>
          <a:xfrm>
            <a:off x="6391656" y="3749040"/>
            <a:ext cx="2194560" cy="2011680"/>
          </a:xfrm>
          <a:prstGeom prst="rect">
            <a:avLst/>
          </a:prstGeom>
          <a:noFill/>
          <a:ln/>
        </p:spPr>
        <p:txBody>
          <a:bodyPr wrap="square" lIns="0" tIns="0" rIns="0" bIns="0" rtlCol="0" anchor="t"/>
          <a:lstStyle/>
          <a:p>
            <a:pPr indent="0" marL="0">
              <a:buNone/>
            </a:pPr>
            <a:r>
              <a:rPr lang="en-US" sz="1500" dirty="0">
                <a:solidFill>
                  <a:schemeClr val="tx1"/>
                </a:solidFill>
              </a:rPr>
              <a:t>API, tablero, orquestación, repositorio y demo final</a:t>
            </a:r>
            <a:endParaRPr lang="en-US" sz="1500" dirty="0"/>
          </a:p>
        </p:txBody>
      </p:sp>
      <p:sp>
        <p:nvSpPr>
          <p:cNvPr id="20" name="circulo-303"/>
          <p:cNvSpPr txBox="1"/>
          <p:nvPr/>
        </p:nvSpPr>
        <p:spPr>
          <a:xfrm>
            <a:off x="9838944" y="2011680"/>
            <a:ext cx="731520" cy="731520"/>
          </a:xfrm>
          <a:prstGeom prst="ellipse">
            <a:avLst/>
          </a:prstGeom>
          <a:solidFill>
            <a:schemeClr val="accent4"/>
          </a:solid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1" name="texto-304"/>
          <p:cNvSpPr txBox="1"/>
          <p:nvPr/>
        </p:nvSpPr>
        <p:spPr>
          <a:xfrm>
            <a:off x="8970264" y="1371600"/>
            <a:ext cx="2468880" cy="457200"/>
          </a:xfrm>
          <a:prstGeom prst="rect">
            <a:avLst/>
          </a:prstGeom>
          <a:noFill/>
          <a:ln/>
        </p:spPr>
        <p:txBody>
          <a:bodyPr wrap="square" lIns="0" tIns="0" rIns="0" bIns="0" rtlCol="0" anchor="t"/>
          <a:lstStyle/>
          <a:p>
            <a:pPr algn="ctr" indent="0" marL="0">
              <a:buNone/>
            </a:pPr>
            <a:r>
              <a:rPr lang="en-US" sz="1800" b="1" dirty="0">
                <a:solidFill>
                  <a:schemeClr val="tx2"/>
                </a:solidFill>
                <a:latin typeface="Cambria" pitchFamily="34" charset="0"/>
                <a:ea typeface="Cambria" pitchFamily="34" charset="-122"/>
                <a:cs typeface="Cambria" pitchFamily="34" charset="-120"/>
              </a:rPr>
              <a:t>2027</a:t>
            </a:r>
            <a:endParaRPr lang="en-US" sz="1800" dirty="0"/>
          </a:p>
        </p:txBody>
      </p:sp>
      <p:sp>
        <p:nvSpPr>
          <p:cNvPr id="22" name="tarjeta-305"/>
          <p:cNvSpPr/>
          <p:nvPr/>
        </p:nvSpPr>
        <p:spPr>
          <a:xfrm>
            <a:off x="8970264" y="3063240"/>
            <a:ext cx="2624328" cy="2926080"/>
          </a:xfrm>
          <a:prstGeom prst="roundRect">
            <a:avLst>
              <a:gd name="adj" fmla="val 2787"/>
            </a:avLst>
          </a:prstGeom>
          <a:solidFill>
            <a:schemeClr val="bg2"/>
          </a:solidFill>
          <a:ln/>
        </p:spPr>
      </p:sp>
      <p:sp>
        <p:nvSpPr>
          <p:cNvPr id="23" name="texto-306"/>
          <p:cNvSpPr txBox="1"/>
          <p:nvPr/>
        </p:nvSpPr>
        <p:spPr>
          <a:xfrm>
            <a:off x="9198864" y="3246120"/>
            <a:ext cx="2194560" cy="411480"/>
          </a:xfrm>
          <a:prstGeom prst="rect">
            <a:avLst/>
          </a:prstGeom>
          <a:noFill/>
          <a:ln/>
        </p:spPr>
        <p:txBody>
          <a:bodyPr wrap="square" lIns="0" tIns="0" rIns="0" bIns="0" rtlCol="0" anchor="t"/>
          <a:lstStyle/>
          <a:p>
            <a:pPr indent="0" marL="0">
              <a:buNone/>
            </a:pPr>
            <a:r>
              <a:rPr lang="en-US" sz="1800" b="1" dirty="0">
                <a:solidFill>
                  <a:schemeClr val="tx2"/>
                </a:solidFill>
              </a:rPr>
              <a:t>Fase 2</a:t>
            </a:r>
            <a:endParaRPr lang="en-US" sz="1800" dirty="0"/>
          </a:p>
        </p:txBody>
      </p:sp>
      <p:sp>
        <p:nvSpPr>
          <p:cNvPr id="24" name="texto-307"/>
          <p:cNvSpPr txBox="1"/>
          <p:nvPr/>
        </p:nvSpPr>
        <p:spPr>
          <a:xfrm>
            <a:off x="9198864" y="3749040"/>
            <a:ext cx="2194560" cy="2011680"/>
          </a:xfrm>
          <a:prstGeom prst="rect">
            <a:avLst/>
          </a:prstGeom>
          <a:noFill/>
          <a:ln/>
        </p:spPr>
        <p:txBody>
          <a:bodyPr wrap="square" lIns="0" tIns="0" rIns="0" bIns="0" rtlCol="0" anchor="t"/>
          <a:lstStyle/>
          <a:p>
            <a:pPr indent="0" marL="0">
              <a:buNone/>
            </a:pPr>
            <a:r>
              <a:rPr lang="en-US" sz="1500" dirty="0">
                <a:solidFill>
                  <a:schemeClr val="tx1"/>
                </a:solidFill>
              </a:rPr>
              <a:t>Vertex AI Feature Store, modelo en línea, Bigtable y asesor virtual con Gemini</a:t>
            </a:r>
            <a:endParaRPr lang="en-US" sz="15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737360"/>
          </a:xfrm>
          <a:prstGeom prst="rect">
            <a:avLst/>
          </a:prstGeom>
          <a:noFill/>
          <a:ln/>
        </p:spPr>
        <p:txBody>
          <a:bodyPr wrap="square" lIns="0" tIns="0" rIns="0" bIns="0" rtlCol="0" anchor="b"/>
          <a:lstStyle/>
          <a:p>
            <a:pPr indent="0" marL="0">
              <a:buNone/>
            </a:pPr>
            <a:r>
              <a:rPr lang="en-US" sz="4400" b="1" dirty="0">
                <a:solidFill>
                  <a:schemeClr val="bg1"/>
                </a:solidFill>
                <a:latin typeface="Cambria" pitchFamily="34" charset="0"/>
                <a:ea typeface="Cambria" pitchFamily="34" charset="-122"/>
                <a:cs typeface="Cambria" pitchFamily="34" charset="-120"/>
              </a:rPr>
              <a:t>Gracias</a:t>
            </a:r>
            <a:endParaRPr lang="en-US" sz="4400" dirty="0"/>
          </a:p>
        </p:txBody>
      </p:sp>
      <p:sp>
        <p:nvSpPr>
          <p:cNvPr id="3" name="Text 0"/>
          <p:cNvSpPr/>
          <p:nvPr>
            <p:ph idx="101" type="body" hasCustomPrompt="1"/>
          </p:nvPr>
        </p:nvSpPr>
        <p:spPr>
          <a:xfrm>
            <a:off x="731520" y="3794760"/>
            <a:ext cx="10698480" cy="1463040"/>
          </a:xfrm>
          <a:prstGeom prst="rect">
            <a:avLst/>
          </a:prstGeom>
          <a:noFill/>
          <a:ln/>
        </p:spPr>
        <p:txBody>
          <a:bodyPr wrap="square" lIns="0" tIns="0" rIns="0" bIns="0" rtlCol="0" anchor="t"/>
          <a:lstStyle/>
          <a:p>
            <a:pPr indent="0" marL="0">
              <a:buNone/>
            </a:pPr>
            <a:r>
              <a:rPr lang="en-US" sz="2000" dirty="0">
                <a:solidFill>
                  <a:schemeClr val="accent1"/>
                </a:solidFill>
              </a:rPr>
              <a:t>Preguntas y comentarios del comité</a:t>
            </a:r>
            <a:endParaRPr lang="en-US" sz="2000" dirty="0"/>
          </a:p>
        </p:txBody>
      </p:sp>
      <p:sp>
        <p:nvSpPr>
          <p:cNvPr id="4" name="circulo-308"/>
          <p:cNvSpPr txBox="1"/>
          <p:nvPr/>
        </p:nvSpPr>
        <p:spPr>
          <a:xfrm>
            <a:off x="731520" y="731520"/>
            <a:ext cx="640080" cy="64008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tx2"/>
                </a:solidFill>
              </a:rPr>
              <a:t>LB</a:t>
            </a:r>
            <a:endParaRPr lang="en-US" sz="1800" dirty="0"/>
          </a:p>
        </p:txBody>
      </p:sp>
    </p:spTree>
  </p:cSld>
  <p:clrMapOvr>
    <a:masterClrMapping/>
  </p:clrMapOvr>
</p:sld>
</file>

<file path=ppt/theme/theme1.xml><?xml version="1.0" encoding="utf-8"?>
<a:theme xmlns:a="http://schemas.openxmlformats.org/drawingml/2006/main" name="Lumina Bank">
  <a:themeElements>
    <a:clrScheme name="Lumina Bank">
      <a:dk1>
        <a:srgbClr val="1B1F2A"/>
      </a:dk1>
      <a:lt1>
        <a:srgbClr val="FFFFFF"/>
      </a:lt1>
      <a:dk2>
        <a:srgbClr val="14213D"/>
      </a:dk2>
      <a:lt2>
        <a:srgbClr val="EEF2F7"/>
      </a:lt2>
      <a:accent1>
        <a:srgbClr val="F2A541"/>
      </a:accent1>
      <a:accent2>
        <a:srgbClr val="2A9D8F"/>
      </a:accent2>
      <a:accent3>
        <a:srgbClr val="3D5A80"/>
      </a:accent3>
      <a:accent4>
        <a:srgbClr val="E76F51"/>
      </a:accent4>
      <a:accent5>
        <a:srgbClr val="6B7385"/>
      </a:accent5>
      <a:accent6>
        <a:srgbClr val="8AB0D6"/>
      </a:accent6>
      <a:hlink>
        <a:srgbClr val="3D5A80"/>
      </a:hlink>
      <a:folHlink>
        <a:srgbClr val="6B7385"/>
      </a:folHlink>
    </a:clrScheme>
    <a:fontScheme name="Lumina Ban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Lumina Bank — Plataforma de datos en GCP</dc:title>
  <dc:subject>PptxGenJS Presentation</dc:subject>
  <dc:creator>Equipo UTEC</dc:creator>
  <cp:lastModifiedBy>Equipo UTEC</cp:lastModifiedBy>
  <cp:revision>1</cp:revision>
  <dcterms:created xsi:type="dcterms:W3CDTF">2026-10-23T16:56:31Z</dcterms:created>
  <dcterms:modified xsi:type="dcterms:W3CDTF">2026-10-23T16:56:31Z</dcterms:modified>
</cp:coreProperties>
</file>